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8.xml" ContentType="application/vnd.openxmlformats-officedocument.presentationml.tags+xml"/>
  <Override PartName="/ppt/notesSlides/notesSlide1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3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4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5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20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2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3.xml" ContentType="application/vnd.openxmlformats-officedocument.presentationml.notesSlide+xml"/>
  <Override PartName="/ppt/tags/tag73.xml" ContentType="application/vnd.openxmlformats-officedocument.presentationml.tags+xml"/>
  <Override PartName="/ppt/notesSlides/notesSlide2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5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7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28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29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37"/>
  </p:notesMasterIdLst>
  <p:sldIdLst>
    <p:sldId id="256" r:id="rId3"/>
    <p:sldId id="581" r:id="rId4"/>
    <p:sldId id="582" r:id="rId5"/>
    <p:sldId id="583" r:id="rId6"/>
    <p:sldId id="587" r:id="rId7"/>
    <p:sldId id="588" r:id="rId8"/>
    <p:sldId id="589" r:id="rId9"/>
    <p:sldId id="553" r:id="rId10"/>
    <p:sldId id="555" r:id="rId11"/>
    <p:sldId id="554" r:id="rId12"/>
    <p:sldId id="534" r:id="rId13"/>
    <p:sldId id="544" r:id="rId14"/>
    <p:sldId id="535" r:id="rId15"/>
    <p:sldId id="551" r:id="rId16"/>
    <p:sldId id="536" r:id="rId17"/>
    <p:sldId id="575" r:id="rId18"/>
    <p:sldId id="568" r:id="rId19"/>
    <p:sldId id="564" r:id="rId20"/>
    <p:sldId id="576" r:id="rId21"/>
    <p:sldId id="563" r:id="rId22"/>
    <p:sldId id="578" r:id="rId23"/>
    <p:sldId id="558" r:id="rId24"/>
    <p:sldId id="572" r:id="rId25"/>
    <p:sldId id="557" r:id="rId26"/>
    <p:sldId id="567" r:id="rId27"/>
    <p:sldId id="579" r:id="rId28"/>
    <p:sldId id="559" r:id="rId29"/>
    <p:sldId id="592" r:id="rId30"/>
    <p:sldId id="561" r:id="rId31"/>
    <p:sldId id="591" r:id="rId32"/>
    <p:sldId id="529" r:id="rId33"/>
    <p:sldId id="565" r:id="rId34"/>
    <p:sldId id="532" r:id="rId35"/>
    <p:sldId id="552" r:id="rId36"/>
  </p:sldIdLst>
  <p:sldSz cx="9144000" cy="5141913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F2995DA-7F72-4DE5-BDF6-AF8215F26FDC}">
          <p14:sldIdLst>
            <p14:sldId id="256"/>
            <p14:sldId id="581"/>
          </p14:sldIdLst>
        </p14:section>
        <p14:section name="绪论" id="{FBF8E2DA-F3BC-4520-8E47-E344A90FE005}">
          <p14:sldIdLst>
            <p14:sldId id="582"/>
            <p14:sldId id="583"/>
          </p14:sldIdLst>
        </p14:section>
        <p14:section name="研究内容1" id="{E3D7A890-E657-48DA-9FF1-76BB05F01620}">
          <p14:sldIdLst>
            <p14:sldId id="587"/>
            <p14:sldId id="588"/>
            <p14:sldId id="589"/>
            <p14:sldId id="553"/>
            <p14:sldId id="555"/>
          </p14:sldIdLst>
        </p14:section>
        <p14:section name="研究内容2" id="{4D536BB7-9ECD-4523-AE83-886F36854AE4}">
          <p14:sldIdLst>
            <p14:sldId id="554"/>
            <p14:sldId id="534"/>
            <p14:sldId id="544"/>
            <p14:sldId id="535"/>
            <p14:sldId id="551"/>
            <p14:sldId id="536"/>
            <p14:sldId id="575"/>
            <p14:sldId id="568"/>
          </p14:sldIdLst>
        </p14:section>
        <p14:section name="第四章" id="{8AADFA3A-537E-4936-8B25-42675588AE45}">
          <p14:sldIdLst>
            <p14:sldId id="564"/>
            <p14:sldId id="576"/>
            <p14:sldId id="563"/>
            <p14:sldId id="578"/>
            <p14:sldId id="558"/>
            <p14:sldId id="572"/>
            <p14:sldId id="557"/>
            <p14:sldId id="567"/>
            <p14:sldId id="579"/>
            <p14:sldId id="559"/>
            <p14:sldId id="592"/>
            <p14:sldId id="561"/>
            <p14:sldId id="591"/>
          </p14:sldIdLst>
        </p14:section>
        <p14:section name="5" id="{FB3984B8-C800-44FD-90E6-E4F5747C5E81}">
          <p14:sldIdLst>
            <p14:sldId id="529"/>
            <p14:sldId id="565"/>
            <p14:sldId id="532"/>
            <p14:sldId id="5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50" userDrawn="1">
          <p15:clr>
            <a:srgbClr val="A4A3A4"/>
          </p15:clr>
        </p15:guide>
        <p15:guide id="2" pos="28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67">
          <p15:clr>
            <a:srgbClr val="A4A3A4"/>
          </p15:clr>
        </p15:guide>
        <p15:guide id="2" pos="21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EEF4"/>
    <a:srgbClr val="000000"/>
    <a:srgbClr val="FFFFFF"/>
    <a:srgbClr val="0070C0"/>
    <a:srgbClr val="FFFAE8"/>
    <a:srgbClr val="DEEBF6"/>
    <a:srgbClr val="C4C4C4"/>
    <a:srgbClr val="E26053"/>
    <a:srgbClr val="7132A2"/>
    <a:srgbClr val="FC3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 autoAdjust="0"/>
    <p:restoredTop sz="84398" autoAdjust="0"/>
  </p:normalViewPr>
  <p:slideViewPr>
    <p:cSldViewPr showGuides="1">
      <p:cViewPr varScale="1">
        <p:scale>
          <a:sx n="126" d="100"/>
          <a:sy n="126" d="100"/>
        </p:scale>
        <p:origin x="1050" y="114"/>
      </p:cViewPr>
      <p:guideLst>
        <p:guide orient="horz" pos="1050"/>
        <p:guide pos="28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notesViewPr>
    <p:cSldViewPr showGuides="1">
      <p:cViewPr varScale="1">
        <p:scale>
          <a:sx n="86" d="100"/>
          <a:sy n="86" d="100"/>
        </p:scale>
        <p:origin x="-3846" y="-90"/>
      </p:cViewPr>
      <p:guideLst>
        <p:guide orient="horz" pos="2567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9097E-DDD7-483D-B357-48CFAB5DA0B6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5E652-0FE1-4A17-B02D-BB6472ECDD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各位老师上午好，我是闫捷，我的论文题目是含冷热电联产的多能互补分布式能源系统及容量</a:t>
            </a:r>
            <a:r>
              <a:rPr lang="en-US" altLang="zh-CN" sz="1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运行双层容量优化。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5E652-0FE1-4A17-B02D-BB6472ECDD4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论文内容将从以下五部分展开。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b="1" dirty="0"/>
              <a:t>在当前能源发展形势下，实现多种能源的优势互补和协调运行具有理论价值和实际应用意义。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0F1761D-A8E9-4CE0-A3B2-11888C128D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本文主要研究内容框架如图所示。首先介绍本文的研究背景及意义，三章主体部分分别为：基于辐射时间序列法进行建筑冷热电负荷模型求解，对太阳能耦合空气源热泵的</a:t>
            </a:r>
            <a:r>
              <a:rPr lang="en-US" altLang="zh-CN" sz="1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CCHP</a:t>
            </a:r>
            <a:r>
              <a:rPr lang="zh-CN" altLang="en-US" sz="1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系统进行建模，并基于此系统进行优化，最后对本文研究进行总结并给出未来研究方向的展望。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/>
              <a:t>研究内容</a:t>
            </a:r>
            <a:r>
              <a:rPr lang="en-US" altLang="zh-CN" dirty="0"/>
              <a:t>1</a:t>
            </a:r>
            <a:r>
              <a:rPr lang="zh-CN" altLang="en-US" dirty="0"/>
              <a:t>为</a:t>
            </a:r>
            <a:r>
              <a:rPr lang="zh-CN" altLang="en-US" b="1" noProof="0" dirty="0">
                <a:ln>
                  <a:noFill/>
                </a:ln>
                <a:solidFill>
                  <a:srgbClr val="1C488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基于辐射时间序列法的建筑冷热电负荷求解</a:t>
            </a:r>
            <a:endParaRPr lang="zh-CN" altLang="en-US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DA1F5B-B60A-45D6-8939-AEA76B873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</a:t>
            </a:r>
            <a:r>
              <a:rPr lang="zh-CN" altLang="en-US" sz="12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首先，选取辐射时间序列法进行建筑负荷模拟，基于此方法做出假设如图所示。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</a:t>
            </a:r>
            <a:r>
              <a:rPr lang="zh-CN" altLang="en-US" sz="12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运用拉普拉斯变换求解导热微分方程，得到传递函数系数，求解出两个因子。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</a:t>
            </a:r>
            <a:r>
              <a:rPr lang="zh-CN" altLang="en-US" sz="1200" b="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综合外表面综合温度与室内温度，计算传导得热量、室内得热量，将所有辐射得热通过辐射时间因子转换成负荷。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最终求得建筑全年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8760h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冷热电负荷，与夏季、冬季、过渡季节典型日负荷，并对负荷聘书进行了分析，为后续工作提供算例支持。</a:t>
            </a:r>
            <a:endParaRPr lang="en-US" altLang="zh-CN" sz="1200" b="1" kern="1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/>
              <a:t>研究内容</a:t>
            </a:r>
            <a:r>
              <a:rPr lang="en-US" altLang="zh-CN" dirty="0"/>
              <a:t>2</a:t>
            </a:r>
            <a:r>
              <a:rPr lang="zh-CN" altLang="en-US" dirty="0"/>
              <a:t>为</a:t>
            </a:r>
            <a:r>
              <a:rPr lang="zh-CN" altLang="en-US" b="1" noProof="0" dirty="0">
                <a:ln>
                  <a:noFill/>
                </a:ln>
                <a:solidFill>
                  <a:srgbClr val="1C488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太阳能耦合空气源热泵的CCHP系统建模与仿真</a:t>
            </a:r>
            <a:endParaRPr lang="zh-CN" altLang="en-US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DA1F5B-B60A-45D6-8939-AEA76B873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系统的简称为</a:t>
            </a:r>
            <a:r>
              <a:rPr lang="en-US" altLang="zh-CN" dirty="0"/>
              <a:t>SH-CCHP</a:t>
            </a:r>
            <a:r>
              <a:rPr lang="zh-CN" altLang="en-US" dirty="0"/>
              <a:t>系统，主要元件有燃气轮机、溴冷机、太阳能光伏、集热器、空气源热泵、蓄热水泵。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太阳能耦合空气源热泵热水子系统示意图如图所示，根据气象条件不同，设置了三种供能策略，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搭建了系统主要元件数学模型，并对部分元件不同工况进行修正。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b="1" dirty="0"/>
              <a:t>根据各元件的数学模型，在</a:t>
            </a:r>
            <a:r>
              <a:rPr lang="en-US" altLang="zh-CN" b="1" dirty="0"/>
              <a:t>C++</a:t>
            </a:r>
            <a:r>
              <a:rPr lang="zh-CN" altLang="en-US" b="1" dirty="0"/>
              <a:t>中编译了部分主要元件并导入</a:t>
            </a:r>
            <a:r>
              <a:rPr lang="en-US" altLang="zh-CN" b="1" dirty="0"/>
              <a:t>TRNSYS</a:t>
            </a:r>
            <a:r>
              <a:rPr lang="zh-CN" altLang="en-US" b="1" dirty="0"/>
              <a:t>中，最终搭建了</a:t>
            </a:r>
            <a:r>
              <a:rPr lang="en-US" altLang="zh-CN" b="1" dirty="0"/>
              <a:t>SH-CCHP</a:t>
            </a:r>
            <a:r>
              <a:rPr lang="zh-CN" altLang="en-US" b="1" dirty="0"/>
              <a:t>系统的</a:t>
            </a:r>
            <a:r>
              <a:rPr lang="en-US" altLang="zh-CN" b="1" dirty="0"/>
              <a:t>TRNSYS</a:t>
            </a:r>
            <a:r>
              <a:rPr lang="zh-CN" altLang="en-US" b="1" dirty="0"/>
              <a:t>仿真，仿真可划分为四个子系统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dirty="0"/>
              <a:t>15.</a:t>
            </a:r>
            <a:r>
              <a:rPr lang="zh-CN" altLang="en-US" dirty="0"/>
              <a:t>将第二章的负荷作为输入，模拟得出</a:t>
            </a:r>
            <a:r>
              <a:rPr lang="en-US" altLang="zh-CN" dirty="0"/>
              <a:t>SH-CCHP</a:t>
            </a:r>
            <a:r>
              <a:rPr lang="zh-CN" altLang="en-US" dirty="0"/>
              <a:t>系统全年制热制冷量，并得到逐月制冷制热量与各设备总制冷制热量，其中制冷季时空气源热泵为主要冷源，制热季时余热锅炉为主要热源。系统的典型制冷月、制热月元件数据附在了附表中。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对系统的能耗分析得出，系统发电几乎可以满足需求，由于调峰存在与电网交互。系统在制冷季能耗高于制热季，而空气源热泵在各</a:t>
            </a:r>
            <a:r>
              <a:rPr lang="zh-CN" altLang="en-US" dirty="0">
                <a:sym typeface="+mn-ea"/>
              </a:rPr>
              <a:t>设备中能耗最高。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根据仿真结果对本文系统进行分析，得出光伏、集热器效率，空气源热泵与溴化锂机组能效特性与分布规律，为研究内容</a:t>
            </a:r>
            <a:r>
              <a:rPr lang="en-US" altLang="zh-CN" dirty="0"/>
              <a:t>3</a:t>
            </a:r>
            <a:r>
              <a:rPr lang="zh-CN" altLang="en-US" dirty="0"/>
              <a:t>的优化提供算例支持。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/>
              <a:t>研究内容</a:t>
            </a:r>
            <a:r>
              <a:rPr lang="en-US" altLang="zh-CN" dirty="0"/>
              <a:t>3</a:t>
            </a:r>
            <a:r>
              <a:rPr lang="zh-CN" altLang="en-US" dirty="0"/>
              <a:t>为</a:t>
            </a:r>
            <a:r>
              <a:rPr lang="zh-CN" altLang="en-US" b="1" noProof="0" dirty="0">
                <a:ln>
                  <a:noFill/>
                </a:ln>
                <a:solidFill>
                  <a:srgbClr val="1C488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考虑经济-能源-环境的SH-CCHP系统双层优化策略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DA1F5B-B60A-45D6-8939-AEA76B873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配置优化模型的求解流程如图所示，上下层互相迭代，最终得到最优结果。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</a:t>
            </a:r>
            <a:r>
              <a:rPr lang="en-US" altLang="zh-CN" dirty="0"/>
              <a:t>SH-CCHP</a:t>
            </a:r>
            <a:r>
              <a:rPr lang="zh-CN" altLang="en-US" dirty="0"/>
              <a:t>系统中添加了能源管理中心，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用于预测并监管所有设备的运行状态，为了进行对比，引入了传统分离系统。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上层三个目标函数分别为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SH-CCHP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系统相对于传统系统的总成本节约率、一次能源节约率、年总减排率，下层目标函数为系统运行成本最小。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为了更高效、准确地进行求解，本文提出了一种改进的</a:t>
            </a:r>
            <a:r>
              <a:rPr lang="en-US" altLang="zh-CN" dirty="0"/>
              <a:t>NSGA-II</a:t>
            </a:r>
            <a:r>
              <a:rPr lang="zh-CN" altLang="en-US" dirty="0"/>
              <a:t>算法。算法求解得出帕累托前沿后，决策方法选取最优解。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选取了</a:t>
            </a:r>
            <a:r>
              <a:rPr lang="en-US" altLang="zh-CN" dirty="0"/>
              <a:t>ZD1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五个测试函数对算法性能进行测试，并选取指标进行评判。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用两个算法进行</a:t>
            </a:r>
            <a:r>
              <a:rPr lang="en-US" altLang="zh-CN" dirty="0"/>
              <a:t>100</a:t>
            </a:r>
            <a:r>
              <a:rPr lang="zh-CN" altLang="en-US" dirty="0"/>
              <a:t>次测试，在最大迭代次数下得到了两个指标的数值。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改进的</a:t>
            </a:r>
            <a:r>
              <a:rPr lang="en-US" altLang="zh-CN" dirty="0"/>
              <a:t>NSGA-II</a:t>
            </a:r>
            <a:r>
              <a:rPr lang="zh-CN" altLang="en-US" dirty="0"/>
              <a:t>算法求解的前沿更加贴近真实值。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在距离指标上改进算法收敛速度明显远快于经典算法，分布性指标上改进算法收敛稍快，总体趋势相近。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算法参数设置如表所示。改进算法与传统分别求出的帕累托解集如图所示，改进算法在成本节约率上降低了</a:t>
            </a:r>
            <a:r>
              <a:rPr lang="en-US" altLang="zh-CN" dirty="0"/>
              <a:t>0.24%</a:t>
            </a:r>
            <a:r>
              <a:rPr lang="zh-CN" altLang="en-US" dirty="0"/>
              <a:t>，在一次能源节约率与减排率中分别提升了</a:t>
            </a:r>
            <a:r>
              <a:rPr lang="en-US" altLang="zh-CN" dirty="0"/>
              <a:t>0.21%</a:t>
            </a:r>
            <a:r>
              <a:rPr lang="zh-CN" altLang="en-US" dirty="0"/>
              <a:t>与</a:t>
            </a:r>
            <a:r>
              <a:rPr lang="en-US" altLang="zh-CN" dirty="0"/>
              <a:t>0.39%</a:t>
            </a:r>
            <a:r>
              <a:rPr lang="zh-CN" altLang="en-US" dirty="0"/>
              <a:t>，最优容量如表所示。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仿真得到运行成本最小下的夏季典型日供能策略如图所示。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仿真得到</a:t>
            </a:r>
            <a:r>
              <a:rPr lang="zh-CN" altLang="en-US" dirty="0">
                <a:sym typeface="+mn-ea"/>
              </a:rPr>
              <a:t>运行成本最小下的冬季典型日与过渡季节典型日供能策略如图所示。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为了检验优化后系统能否在极端天气下完成供能，选取了</a:t>
            </a:r>
            <a:r>
              <a:rPr lang="en-US" altLang="zh-CN" dirty="0"/>
              <a:t>1.2</a:t>
            </a:r>
            <a:r>
              <a:rPr lang="zh-CN" altLang="en-US" dirty="0"/>
              <a:t>到</a:t>
            </a:r>
            <a:r>
              <a:rPr lang="en-US" altLang="zh-CN" dirty="0"/>
              <a:t>2</a:t>
            </a:r>
            <a:r>
              <a:rPr lang="zh-CN" altLang="en-US" dirty="0"/>
              <a:t>倍夏季典型日负荷进行仿真，最终得到各运行成本，</a:t>
            </a:r>
            <a:r>
              <a:rPr lang="en-US" altLang="zh-CN" dirty="0"/>
              <a:t>1.6</a:t>
            </a:r>
            <a:r>
              <a:rPr lang="zh-CN" altLang="en-US" dirty="0"/>
              <a:t>倍负荷的功能策略如图所示。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最后，对本文所作的工作进行总结。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对后续研究工作进行展望。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我在攻读硕士期间作为主要参与者完成科技项目两项，多次获得校级奖学金和荣誉称号。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85E652-0FE1-4A17-B02D-BB6472ECDD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5E652-0FE1-4A17-B02D-BB6472ECDD49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/>
        </p:nvSpPr>
        <p:spPr>
          <a:xfrm>
            <a:off x="0" y="698748"/>
            <a:ext cx="9144000" cy="4443165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331088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914626" y="0"/>
                </a:moveTo>
                <a:lnTo>
                  <a:pt x="96081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6844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828801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331088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2743427" y="0"/>
                </a:moveTo>
                <a:lnTo>
                  <a:pt x="278961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269724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3653780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331087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4568406" y="0"/>
                </a:moveTo>
                <a:lnTo>
                  <a:pt x="461459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452222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5472113" y="0"/>
            <a:ext cx="1829117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331087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6386739" y="0"/>
                </a:moveTo>
                <a:lnTo>
                  <a:pt x="6432923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6340555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410716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410716"/>
            <a:ext cx="9144000" cy="4731197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1824038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835150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365442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366553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54768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5485606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7292975" y="0"/>
            <a:ext cx="0" cy="4107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304087" y="0"/>
            <a:ext cx="0" cy="410716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7310121" y="0"/>
            <a:ext cx="1833879" cy="410716"/>
          </a:xfrm>
          <a:prstGeom prst="rect">
            <a:avLst/>
          </a:prstGeom>
          <a:solidFill>
            <a:srgbClr val="03CCCE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331087"/>
            <a:ext cx="9144000" cy="367660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8224747" y="0"/>
                </a:moveTo>
                <a:lnTo>
                  <a:pt x="827093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17856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698748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759"/>
            <a:ext cx="7886700" cy="9938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5792"/>
            <a:ext cx="2057400" cy="27375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483D0-95E5-41B7-AE82-1873CCA99350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5792"/>
            <a:ext cx="3086100" cy="27375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5792"/>
            <a:ext cx="2057400" cy="27375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3C6DBD-D533-4B37-B320-9BAECA30079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513"/>
            <a:ext cx="6858000" cy="179014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0695"/>
            <a:ext cx="6858000" cy="124143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0965" indent="0" algn="ctr">
              <a:buNone/>
              <a:defRPr sz="1200"/>
            </a:lvl5pPr>
            <a:lvl6pPr marL="1713865" indent="0" algn="ctr">
              <a:buNone/>
              <a:defRPr sz="1200"/>
            </a:lvl6pPr>
            <a:lvl7pPr marL="2056765" indent="0" algn="ctr">
              <a:buNone/>
              <a:defRPr sz="1200"/>
            </a:lvl7pPr>
            <a:lvl8pPr marL="2399665" indent="0" algn="ctr">
              <a:buNone/>
              <a:defRPr sz="1200"/>
            </a:lvl8pPr>
            <a:lvl9pPr marL="2742565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E47738-2040-474B-93A1-AE0A25DC036A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1152E-CCE9-4993-9F75-165578439BD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094BC-2ABB-46ED-ACA5-611ED5BDEC77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2B5EA-DCCA-4608-B2D3-DE266069114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1908"/>
            <a:ext cx="7886700" cy="213889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036"/>
            <a:ext cx="7886700" cy="112479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0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38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7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6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5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45060-DE49-4796-B987-C221624E5947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9D5C0-F70A-4FB1-B432-40B2427F030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68796"/>
            <a:ext cx="3886200" cy="326249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368796"/>
            <a:ext cx="3886200" cy="326249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21296-C7CA-4C46-8052-329556FFF20E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024E2-4948-475A-A726-4AE9751C1C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759"/>
            <a:ext cx="7886700" cy="9938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260483"/>
            <a:ext cx="3868340" cy="61774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0965" indent="0">
              <a:buNone/>
              <a:defRPr sz="1200" b="1"/>
            </a:lvl5pPr>
            <a:lvl6pPr marL="1713865" indent="0">
              <a:buNone/>
              <a:defRPr sz="1200" b="1"/>
            </a:lvl6pPr>
            <a:lvl7pPr marL="2056765" indent="0">
              <a:buNone/>
              <a:defRPr sz="1200" b="1"/>
            </a:lvl7pPr>
            <a:lvl8pPr marL="2399665" indent="0">
              <a:buNone/>
              <a:defRPr sz="1200" b="1"/>
            </a:lvl8pPr>
            <a:lvl9pPr marL="2742565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1878227"/>
            <a:ext cx="3868340" cy="2762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83"/>
            <a:ext cx="3887391" cy="61774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0965" indent="0">
              <a:buNone/>
              <a:defRPr sz="1200" b="1"/>
            </a:lvl5pPr>
            <a:lvl6pPr marL="1713865" indent="0">
              <a:buNone/>
              <a:defRPr sz="1200" b="1"/>
            </a:lvl6pPr>
            <a:lvl7pPr marL="2056765" indent="0">
              <a:buNone/>
              <a:defRPr sz="1200" b="1"/>
            </a:lvl7pPr>
            <a:lvl8pPr marL="2399665" indent="0">
              <a:buNone/>
              <a:defRPr sz="1200" b="1"/>
            </a:lvl8pPr>
            <a:lvl9pPr marL="2742565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227"/>
            <a:ext cx="3887391" cy="2762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99F93-70A9-41E2-B686-4F98CE30F43F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0117-4C2C-414D-8A5E-0D786772CD8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2EAFD-A9F9-474B-A2C5-3528FF43B55E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5E8F0-D866-4CE1-A00C-969B2BDD497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0" y="891503"/>
            <a:ext cx="1447800" cy="1322376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/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课题背景内容</a:t>
            </a:r>
          </a:p>
        </p:txBody>
      </p:sp>
      <p:sp>
        <p:nvSpPr>
          <p:cNvPr id="5" name="TextBox 144"/>
          <p:cNvSpPr txBox="1">
            <a:spLocks noChangeArrowheads="1"/>
          </p:cNvSpPr>
          <p:nvPr userDrawn="1"/>
        </p:nvSpPr>
        <p:spPr bwMode="auto">
          <a:xfrm>
            <a:off x="66675" y="2213879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/>
          <p:cNvSpPr txBox="1">
            <a:spLocks noChangeArrowheads="1"/>
          </p:cNvSpPr>
          <p:nvPr userDrawn="1"/>
        </p:nvSpPr>
        <p:spPr bwMode="auto">
          <a:xfrm>
            <a:off x="66675" y="27852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/>
          <p:cNvSpPr txBox="1">
            <a:spLocks noChangeArrowheads="1"/>
          </p:cNvSpPr>
          <p:nvPr userDrawn="1"/>
        </p:nvSpPr>
        <p:spPr bwMode="auto">
          <a:xfrm>
            <a:off x="66675" y="3352956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/>
          <p:cNvSpPr txBox="1">
            <a:spLocks noChangeArrowheads="1"/>
          </p:cNvSpPr>
          <p:nvPr userDrawn="1"/>
        </p:nvSpPr>
        <p:spPr bwMode="auto">
          <a:xfrm>
            <a:off x="66675" y="3923089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/>
          <p:cNvSpPr txBox="1">
            <a:spLocks noChangeArrowheads="1"/>
          </p:cNvSpPr>
          <p:nvPr userDrawn="1"/>
        </p:nvSpPr>
        <p:spPr bwMode="auto">
          <a:xfrm>
            <a:off x="66675" y="44884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/>
          <p:cNvSpPr txBox="1">
            <a:spLocks noChangeArrowheads="1"/>
          </p:cNvSpPr>
          <p:nvPr userDrawn="1"/>
        </p:nvSpPr>
        <p:spPr bwMode="auto">
          <a:xfrm>
            <a:off x="66675" y="1178355"/>
            <a:ext cx="1197769" cy="91210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课题背景  </a:t>
            </a:r>
            <a:endParaRPr lang="en-US" altLang="zh-CN" sz="1050">
              <a:solidFill>
                <a:srgbClr val="2298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  </a:t>
            </a:r>
            <a:endParaRPr lang="en-US" altLang="zh-CN" sz="1050">
              <a:solidFill>
                <a:srgbClr val="2298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  </a:t>
            </a:r>
            <a:endParaRPr lang="en-US" altLang="zh-CN" sz="1050">
              <a:solidFill>
                <a:srgbClr val="2298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 typeface="等线 Light" panose="02010600030101010101" pitchFamily="2" charset="-122"/>
              <a:buAutoNum type="arabicPeriod"/>
              <a:defRPr/>
            </a:pPr>
            <a:r>
              <a:rPr lang="zh-CN" altLang="en-US" sz="10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pic>
        <p:nvPicPr>
          <p:cNvPr id="11" name="图片 1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/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C70E7ED9-3356-4A93-BF9B-461A521CB89D}" type="slidenum">
              <a:rPr lang="zh-CN" altLang="en-US" sz="1350" smtClean="0">
                <a:solidFill>
                  <a:srgbClr val="404040"/>
                </a:solidFill>
              </a:r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sp>
        <p:nvSpPr>
          <p:cNvPr id="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9A015-06C7-4D8E-9704-6A67D3654B6C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1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B9108-F3AC-4DCF-AD6D-8FE22022A117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0" y="1359274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/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/>
          <p:cNvSpPr txBox="1">
            <a:spLocks noChangeArrowheads="1"/>
          </p:cNvSpPr>
          <p:nvPr userDrawn="1"/>
        </p:nvSpPr>
        <p:spPr bwMode="auto">
          <a:xfrm>
            <a:off x="66675" y="1400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课题现状及发展</a:t>
            </a:r>
          </a:p>
        </p:txBody>
      </p:sp>
      <p:sp>
        <p:nvSpPr>
          <p:cNvPr id="6" name="TextBox 145"/>
          <p:cNvSpPr txBox="1">
            <a:spLocks noChangeArrowheads="1"/>
          </p:cNvSpPr>
          <p:nvPr userDrawn="1"/>
        </p:nvSpPr>
        <p:spPr bwMode="auto">
          <a:xfrm>
            <a:off x="66675" y="260071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/>
          <p:cNvSpPr txBox="1">
            <a:spLocks noChangeArrowheads="1"/>
          </p:cNvSpPr>
          <p:nvPr userDrawn="1"/>
        </p:nvSpPr>
        <p:spPr bwMode="auto">
          <a:xfrm>
            <a:off x="66675" y="3168466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/>
          <p:cNvSpPr txBox="1">
            <a:spLocks noChangeArrowheads="1"/>
          </p:cNvSpPr>
          <p:nvPr userDrawn="1"/>
        </p:nvSpPr>
        <p:spPr bwMode="auto">
          <a:xfrm>
            <a:off x="66675" y="373979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/>
          <p:cNvSpPr txBox="1">
            <a:spLocks noChangeArrowheads="1"/>
          </p:cNvSpPr>
          <p:nvPr userDrawn="1"/>
        </p:nvSpPr>
        <p:spPr bwMode="auto">
          <a:xfrm>
            <a:off x="66675" y="43051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341" y="1735395"/>
            <a:ext cx="1331119" cy="491994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课题现状  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发展趋势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B1FF9868-9A9D-49CE-B1DC-3EF07B6BE322}" type="slidenum">
              <a:rPr lang="zh-CN" altLang="en-US" sz="1350" smtClean="0">
                <a:solidFill>
                  <a:srgbClr val="404040"/>
                </a:solidFill>
              </a:r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74970-95BE-4525-8BAB-F314722A336B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1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E5345-8A69-479E-8F30-ADF199B8B9D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0" y="1765153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/>
          <p:cNvSpPr txBox="1">
            <a:spLocks noChangeArrowheads="1"/>
          </p:cNvSpPr>
          <p:nvPr userDrawn="1"/>
        </p:nvSpPr>
        <p:spPr bwMode="auto">
          <a:xfrm>
            <a:off x="66675" y="82961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/>
          <p:cNvSpPr txBox="1">
            <a:spLocks noChangeArrowheads="1"/>
          </p:cNvSpPr>
          <p:nvPr userDrawn="1"/>
        </p:nvSpPr>
        <p:spPr bwMode="auto">
          <a:xfrm>
            <a:off x="66675" y="133904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/>
          <p:cNvSpPr txBox="1">
            <a:spLocks noChangeArrowheads="1"/>
          </p:cNvSpPr>
          <p:nvPr userDrawn="1"/>
        </p:nvSpPr>
        <p:spPr bwMode="auto">
          <a:xfrm>
            <a:off x="66675" y="1848471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研究思路及过程</a:t>
            </a:r>
          </a:p>
        </p:txBody>
      </p:sp>
      <p:sp>
        <p:nvSpPr>
          <p:cNvPr id="7" name="TextBox 146"/>
          <p:cNvSpPr txBox="1">
            <a:spLocks noChangeArrowheads="1"/>
          </p:cNvSpPr>
          <p:nvPr userDrawn="1"/>
        </p:nvSpPr>
        <p:spPr bwMode="auto">
          <a:xfrm>
            <a:off x="66675" y="310657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/>
          <p:cNvSpPr txBox="1">
            <a:spLocks noChangeArrowheads="1"/>
          </p:cNvSpPr>
          <p:nvPr userDrawn="1"/>
        </p:nvSpPr>
        <p:spPr bwMode="auto">
          <a:xfrm>
            <a:off x="66675" y="3677896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/>
          <p:cNvSpPr txBox="1">
            <a:spLocks noChangeArrowheads="1"/>
          </p:cNvSpPr>
          <p:nvPr userDrawn="1"/>
        </p:nvSpPr>
        <p:spPr bwMode="auto">
          <a:xfrm>
            <a:off x="66675" y="4243269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/>
          <p:cNvSpPr txBox="1"/>
          <p:nvPr userDrawn="1"/>
        </p:nvSpPr>
        <p:spPr>
          <a:xfrm>
            <a:off x="66675" y="2186503"/>
            <a:ext cx="1046560" cy="912109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lvl="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研究思路  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研究过程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8534222D-9C4C-43A3-8253-40B5973E5B97}" type="slidenum">
              <a:rPr lang="zh-CN" altLang="en-US" sz="1350" smtClean="0">
                <a:solidFill>
                  <a:srgbClr val="404040"/>
                </a:solidFill>
              </a:r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EFE9FA-C31E-42AA-9E8F-F41AD6053D66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1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CA3AB-073D-4AEA-B4D3-1905E8D04DE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0" y="2416223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/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/>
          <p:cNvSpPr txBox="1">
            <a:spLocks noChangeArrowheads="1"/>
          </p:cNvSpPr>
          <p:nvPr userDrawn="1"/>
        </p:nvSpPr>
        <p:spPr bwMode="auto">
          <a:xfrm>
            <a:off x="66675" y="1400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/>
          <p:cNvSpPr txBox="1">
            <a:spLocks noChangeArrowheads="1"/>
          </p:cNvSpPr>
          <p:nvPr userDrawn="1"/>
        </p:nvSpPr>
        <p:spPr bwMode="auto">
          <a:xfrm>
            <a:off x="66675" y="191036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/>
          <p:cNvSpPr txBox="1">
            <a:spLocks noChangeArrowheads="1"/>
          </p:cNvSpPr>
          <p:nvPr userDrawn="1"/>
        </p:nvSpPr>
        <p:spPr bwMode="auto">
          <a:xfrm>
            <a:off x="66675" y="241979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实验数据及结果</a:t>
            </a:r>
          </a:p>
        </p:txBody>
      </p:sp>
      <p:sp>
        <p:nvSpPr>
          <p:cNvPr id="8" name="TextBox 146"/>
          <p:cNvSpPr txBox="1">
            <a:spLocks noChangeArrowheads="1"/>
          </p:cNvSpPr>
          <p:nvPr userDrawn="1"/>
        </p:nvSpPr>
        <p:spPr bwMode="auto">
          <a:xfrm>
            <a:off x="66675" y="3739790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/>
          <p:cNvSpPr txBox="1">
            <a:spLocks noChangeArrowheads="1"/>
          </p:cNvSpPr>
          <p:nvPr userDrawn="1"/>
        </p:nvSpPr>
        <p:spPr bwMode="auto">
          <a:xfrm>
            <a:off x="66675" y="43051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/>
          <p:cNvSpPr txBox="1"/>
          <p:nvPr userDrawn="1"/>
        </p:nvSpPr>
        <p:spPr>
          <a:xfrm>
            <a:off x="66675" y="2650704"/>
            <a:ext cx="960835" cy="1752339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lvl="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数据获取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数据分析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提出问题  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主要结论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0C1071CA-F8C3-4C8F-AA5A-C79A25D105B4}" type="slidenum">
              <a:rPr lang="zh-CN" altLang="en-US" sz="1350" smtClean="0">
                <a:solidFill>
                  <a:srgbClr val="404040"/>
                </a:solidFill>
              </a:r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E9EE08-0CDB-4439-9F06-1528A4FD5E82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1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F54BD-5C48-4BD6-9CB7-581219F6AAD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0" y="2879234"/>
            <a:ext cx="1447800" cy="13235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/>
          <p:cNvSpPr txBox="1">
            <a:spLocks noChangeArrowheads="1"/>
          </p:cNvSpPr>
          <p:nvPr userDrawn="1"/>
        </p:nvSpPr>
        <p:spPr bwMode="auto">
          <a:xfrm>
            <a:off x="66675" y="891503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/>
          <p:cNvSpPr txBox="1">
            <a:spLocks noChangeArrowheads="1"/>
          </p:cNvSpPr>
          <p:nvPr userDrawn="1"/>
        </p:nvSpPr>
        <p:spPr bwMode="auto">
          <a:xfrm>
            <a:off x="66675" y="1400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/>
          <p:cNvSpPr txBox="1">
            <a:spLocks noChangeArrowheads="1"/>
          </p:cNvSpPr>
          <p:nvPr userDrawn="1"/>
        </p:nvSpPr>
        <p:spPr bwMode="auto">
          <a:xfrm>
            <a:off x="66675" y="191036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/>
          <p:cNvSpPr txBox="1">
            <a:spLocks noChangeArrowheads="1"/>
          </p:cNvSpPr>
          <p:nvPr userDrawn="1"/>
        </p:nvSpPr>
        <p:spPr bwMode="auto">
          <a:xfrm>
            <a:off x="66675" y="241979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/>
          <p:cNvSpPr txBox="1">
            <a:spLocks noChangeArrowheads="1"/>
          </p:cNvSpPr>
          <p:nvPr userDrawn="1"/>
        </p:nvSpPr>
        <p:spPr bwMode="auto">
          <a:xfrm>
            <a:off x="66675" y="29280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论文总结部分</a:t>
            </a:r>
          </a:p>
        </p:txBody>
      </p:sp>
      <p:sp>
        <p:nvSpPr>
          <p:cNvPr id="9" name="TextBox 147"/>
          <p:cNvSpPr txBox="1">
            <a:spLocks noChangeArrowheads="1"/>
          </p:cNvSpPr>
          <p:nvPr userDrawn="1"/>
        </p:nvSpPr>
        <p:spPr bwMode="auto">
          <a:xfrm>
            <a:off x="66675" y="4305162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参考文献部分</a:t>
            </a:r>
          </a:p>
        </p:txBody>
      </p:sp>
      <p:sp>
        <p:nvSpPr>
          <p:cNvPr id="10" name="文本框 9"/>
          <p:cNvSpPr txBox="1"/>
          <p:nvPr userDrawn="1"/>
        </p:nvSpPr>
        <p:spPr>
          <a:xfrm>
            <a:off x="66675" y="3305346"/>
            <a:ext cx="1119188" cy="912109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342900" lvl="0" indent="-342900">
              <a:lnSpc>
                <a:spcPct val="130000"/>
              </a:lnSpc>
              <a:buFont typeface="+mj-lt"/>
              <a:buAutoNum type="arabicPeriod"/>
              <a:defRPr sz="1400" b="0">
                <a:solidFill>
                  <a:srgbClr val="427AA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解决方案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优势与不足</a:t>
            </a:r>
            <a:endParaRPr lang="en-US" altLang="zh-CN" sz="1050" dirty="0">
              <a:solidFill>
                <a:srgbClr val="2298B4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rgbClr val="2298B4"/>
                </a:solidFill>
              </a:rPr>
              <a:t>改进措施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DFE313E1-7136-4A49-BBA7-79DAAFA15AAC}" type="slidenum">
              <a:rPr lang="zh-CN" altLang="en-US" sz="1350" smtClean="0">
                <a:solidFill>
                  <a:srgbClr val="404040"/>
                </a:solidFill>
              </a:r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2" name="图片 1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AF6CB-96E9-4C7D-AAB8-47D6B9817179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CDAEC-4B3C-40FB-BA53-29B14501A3A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447800" cy="51419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0" y="3322009"/>
            <a:ext cx="1447800" cy="132237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100000">
                <a:srgbClr val="427AAD">
                  <a:lumMod val="54000"/>
                  <a:lumOff val="46000"/>
                  <a:alpha val="49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TextBox 143"/>
          <p:cNvSpPr txBox="1">
            <a:spLocks noChangeArrowheads="1"/>
          </p:cNvSpPr>
          <p:nvPr userDrawn="1"/>
        </p:nvSpPr>
        <p:spPr bwMode="auto">
          <a:xfrm>
            <a:off x="66675" y="89507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课题背景内容</a:t>
            </a:r>
          </a:p>
        </p:txBody>
      </p:sp>
      <p:sp>
        <p:nvSpPr>
          <p:cNvPr id="5" name="TextBox 144"/>
          <p:cNvSpPr txBox="1">
            <a:spLocks noChangeArrowheads="1"/>
          </p:cNvSpPr>
          <p:nvPr userDrawn="1"/>
        </p:nvSpPr>
        <p:spPr bwMode="auto">
          <a:xfrm>
            <a:off x="66675" y="140450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课题现状及发展</a:t>
            </a:r>
          </a:p>
        </p:txBody>
      </p:sp>
      <p:sp>
        <p:nvSpPr>
          <p:cNvPr id="6" name="TextBox 145"/>
          <p:cNvSpPr txBox="1">
            <a:spLocks noChangeArrowheads="1"/>
          </p:cNvSpPr>
          <p:nvPr userDrawn="1"/>
        </p:nvSpPr>
        <p:spPr bwMode="auto">
          <a:xfrm>
            <a:off x="66675" y="1913934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研究思路及过程</a:t>
            </a:r>
          </a:p>
        </p:txBody>
      </p:sp>
      <p:sp>
        <p:nvSpPr>
          <p:cNvPr id="7" name="TextBox 146"/>
          <p:cNvSpPr txBox="1">
            <a:spLocks noChangeArrowheads="1"/>
          </p:cNvSpPr>
          <p:nvPr userDrawn="1"/>
        </p:nvSpPr>
        <p:spPr bwMode="auto">
          <a:xfrm>
            <a:off x="66675" y="2424555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实验数据及结果</a:t>
            </a:r>
          </a:p>
        </p:txBody>
      </p:sp>
      <p:sp>
        <p:nvSpPr>
          <p:cNvPr id="8" name="TextBox 146"/>
          <p:cNvSpPr txBox="1">
            <a:spLocks noChangeArrowheads="1"/>
          </p:cNvSpPr>
          <p:nvPr userDrawn="1"/>
        </p:nvSpPr>
        <p:spPr bwMode="auto">
          <a:xfrm>
            <a:off x="66675" y="2932795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40404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论文总结部分</a:t>
            </a:r>
          </a:p>
        </p:txBody>
      </p:sp>
      <p:sp>
        <p:nvSpPr>
          <p:cNvPr id="9" name="TextBox 147"/>
          <p:cNvSpPr txBox="1">
            <a:spLocks noChangeArrowheads="1"/>
          </p:cNvSpPr>
          <p:nvPr userDrawn="1"/>
        </p:nvSpPr>
        <p:spPr bwMode="auto">
          <a:xfrm>
            <a:off x="66675" y="3439845"/>
            <a:ext cx="144780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350">
                <a:solidFill>
                  <a:srgbClr val="2298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参考文献部分</a:t>
            </a:r>
          </a:p>
        </p:txBody>
      </p:sp>
      <p:sp>
        <p:nvSpPr>
          <p:cNvPr id="10" name="文本框 9"/>
          <p:cNvSpPr txBox="1">
            <a:spLocks noChangeArrowheads="1"/>
          </p:cNvSpPr>
          <p:nvPr userDrawn="1"/>
        </p:nvSpPr>
        <p:spPr bwMode="auto">
          <a:xfrm>
            <a:off x="8515350" y="4765792"/>
            <a:ext cx="570310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1D95D68B-3B91-4BEA-83F3-D0242F8E78AF}" type="slidenum">
              <a:rPr lang="zh-CN" altLang="en-US" sz="1350" smtClean="0">
                <a:solidFill>
                  <a:srgbClr val="404040"/>
                </a:solidFill>
              </a:rPr>
              <a:t>‹#›</a:t>
            </a:fld>
            <a:endParaRPr lang="zh-CN" altLang="en-US" sz="1350">
              <a:solidFill>
                <a:srgbClr val="404040"/>
              </a:solidFill>
            </a:endParaRPr>
          </a:p>
        </p:txBody>
      </p:sp>
      <p:pic>
        <p:nvPicPr>
          <p:cNvPr id="11" name="图片 1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5" y="116645"/>
            <a:ext cx="669131" cy="65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2A6F9-D82F-4002-995C-EDFA2EB4D55D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FC099-5AE0-4842-88AF-486B1CEFCAE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CCCE"/>
            </a:gs>
            <a:gs pos="100000">
              <a:srgbClr val="3B445B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73759"/>
            <a:ext cx="7886700" cy="9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368796"/>
            <a:ext cx="7886700" cy="326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5792"/>
            <a:ext cx="20574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714F99F-E97F-49F4-914D-5110E8A771BA}" type="datetimeFigureOut">
              <a:rPr lang="zh-CN" altLang="en-US"/>
              <a:t>2025/5/14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5792"/>
            <a:ext cx="30861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5792"/>
            <a:ext cx="20574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5587B6D-EB0F-4353-BF45-0E6D8A39385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 spd="slow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370965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515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2415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3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09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38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7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6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notesSlide" Target="../notesSlides/notesSlide7.xml"/><Relationship Id="rId26" Type="http://schemas.openxmlformats.org/officeDocument/2006/relationships/oleObject" Target="../embeddings/oleObject7.bin"/><Relationship Id="rId39" Type="http://schemas.openxmlformats.org/officeDocument/2006/relationships/image" Target="../media/image18.wmf"/><Relationship Id="rId21" Type="http://schemas.openxmlformats.org/officeDocument/2006/relationships/image" Target="../media/image3.png"/><Relationship Id="rId34" Type="http://schemas.openxmlformats.org/officeDocument/2006/relationships/oleObject" Target="../embeddings/oleObject11.bin"/><Relationship Id="rId42" Type="http://schemas.openxmlformats.org/officeDocument/2006/relationships/oleObject" Target="../embeddings/oleObject15.bin"/><Relationship Id="rId47" Type="http://schemas.openxmlformats.org/officeDocument/2006/relationships/image" Target="../media/image22.wmf"/><Relationship Id="rId50" Type="http://schemas.openxmlformats.org/officeDocument/2006/relationships/oleObject" Target="../embeddings/oleObject19.bin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image" Target="../media/image13.wmf"/><Relationship Id="rId11" Type="http://schemas.openxmlformats.org/officeDocument/2006/relationships/tags" Target="../tags/tag12.xml"/><Relationship Id="rId24" Type="http://schemas.openxmlformats.org/officeDocument/2006/relationships/oleObject" Target="../embeddings/oleObject6.bin"/><Relationship Id="rId32" Type="http://schemas.openxmlformats.org/officeDocument/2006/relationships/oleObject" Target="../embeddings/oleObject10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14.bin"/><Relationship Id="rId45" Type="http://schemas.openxmlformats.org/officeDocument/2006/relationships/image" Target="../media/image21.wmf"/><Relationship Id="rId53" Type="http://schemas.openxmlformats.org/officeDocument/2006/relationships/image" Target="../media/image25.wmf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19" Type="http://schemas.openxmlformats.org/officeDocument/2006/relationships/oleObject" Target="../embeddings/oleObject4.bin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16.bin"/><Relationship Id="rId52" Type="http://schemas.openxmlformats.org/officeDocument/2006/relationships/oleObject" Target="../embeddings/oleObject20.bin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oleObject" Target="../embeddings/oleObject5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9.bin"/><Relationship Id="rId35" Type="http://schemas.openxmlformats.org/officeDocument/2006/relationships/image" Target="../media/image16.wmf"/><Relationship Id="rId43" Type="http://schemas.openxmlformats.org/officeDocument/2006/relationships/image" Target="../media/image20.wmf"/><Relationship Id="rId48" Type="http://schemas.openxmlformats.org/officeDocument/2006/relationships/oleObject" Target="../embeddings/oleObject18.bin"/><Relationship Id="rId8" Type="http://schemas.openxmlformats.org/officeDocument/2006/relationships/tags" Target="../tags/tag9.xml"/><Relationship Id="rId51" Type="http://schemas.openxmlformats.org/officeDocument/2006/relationships/image" Target="../media/image24.wmf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1.xml"/><Relationship Id="rId25" Type="http://schemas.openxmlformats.org/officeDocument/2006/relationships/image" Target="../media/image11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3.bin"/><Relationship Id="rId46" Type="http://schemas.openxmlformats.org/officeDocument/2006/relationships/oleObject" Target="../embeddings/oleObject17.bin"/><Relationship Id="rId20" Type="http://schemas.openxmlformats.org/officeDocument/2006/relationships/image" Target="../media/image9.wmf"/><Relationship Id="rId41" Type="http://schemas.openxmlformats.org/officeDocument/2006/relationships/image" Target="../media/image19.wmf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tags" Target="../tags/tag16.xml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8.bin"/><Relationship Id="rId36" Type="http://schemas.openxmlformats.org/officeDocument/2006/relationships/oleObject" Target="../embeddings/oleObject12.bin"/><Relationship Id="rId49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wmf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32.bin"/><Relationship Id="rId3" Type="http://schemas.openxmlformats.org/officeDocument/2006/relationships/image" Target="../media/image3.png"/><Relationship Id="rId21" Type="http://schemas.openxmlformats.org/officeDocument/2006/relationships/image" Target="../media/image34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32.wmf"/><Relationship Id="rId25" Type="http://schemas.openxmlformats.org/officeDocument/2006/relationships/image" Target="../media/image36.emf"/><Relationship Id="rId33" Type="http://schemas.openxmlformats.org/officeDocument/2006/relationships/image" Target="../media/image40.wmf"/><Relationship Id="rId2" Type="http://schemas.openxmlformats.org/officeDocument/2006/relationships/notesSlide" Target="../notesSlides/notesSlide8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29" Type="http://schemas.openxmlformats.org/officeDocument/2006/relationships/image" Target="../media/image38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9.wmf"/><Relationship Id="rId24" Type="http://schemas.openxmlformats.org/officeDocument/2006/relationships/oleObject" Target="../embeddings/oleObject31.bin"/><Relationship Id="rId32" Type="http://schemas.openxmlformats.org/officeDocument/2006/relationships/oleObject" Target="../embeddings/oleObject35.bin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23" Type="http://schemas.openxmlformats.org/officeDocument/2006/relationships/image" Target="../media/image35.wmf"/><Relationship Id="rId28" Type="http://schemas.openxmlformats.org/officeDocument/2006/relationships/oleObject" Target="../embeddings/oleObject33.bin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33.wmf"/><Relationship Id="rId31" Type="http://schemas.openxmlformats.org/officeDocument/2006/relationships/image" Target="../media/image39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Relationship Id="rId27" Type="http://schemas.openxmlformats.org/officeDocument/2006/relationships/image" Target="../media/image37.emf"/><Relationship Id="rId30" Type="http://schemas.openxmlformats.org/officeDocument/2006/relationships/oleObject" Target="../embeddings/oleObject34.bin"/><Relationship Id="rId8" Type="http://schemas.openxmlformats.org/officeDocument/2006/relationships/oleObject" Target="../embeddings/oleObject2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emf"/><Relationship Id="rId4" Type="http://schemas.openxmlformats.org/officeDocument/2006/relationships/oleObject" Target="../embeddings/oleObject3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41.bin"/><Relationship Id="rId21" Type="http://schemas.openxmlformats.org/officeDocument/2006/relationships/image" Target="../media/image50.wmf"/><Relationship Id="rId42" Type="http://schemas.openxmlformats.org/officeDocument/2006/relationships/oleObject" Target="../embeddings/oleObject49.bin"/><Relationship Id="rId47" Type="http://schemas.openxmlformats.org/officeDocument/2006/relationships/image" Target="../media/image63.wmf"/><Relationship Id="rId63" Type="http://schemas.openxmlformats.org/officeDocument/2006/relationships/image" Target="../media/image72.wmf"/><Relationship Id="rId68" Type="http://schemas.openxmlformats.org/officeDocument/2006/relationships/oleObject" Target="../embeddings/oleObject61.bin"/><Relationship Id="rId16" Type="http://schemas.openxmlformats.org/officeDocument/2006/relationships/tags" Target="../tags/tag34.xml"/><Relationship Id="rId11" Type="http://schemas.openxmlformats.org/officeDocument/2006/relationships/tags" Target="../tags/tag29.xml"/><Relationship Id="rId24" Type="http://schemas.openxmlformats.org/officeDocument/2006/relationships/oleObject" Target="../embeddings/oleObject40.bin"/><Relationship Id="rId32" Type="http://schemas.openxmlformats.org/officeDocument/2006/relationships/oleObject" Target="../embeddings/oleObject44.bin"/><Relationship Id="rId37" Type="http://schemas.openxmlformats.org/officeDocument/2006/relationships/image" Target="../media/image58.wmf"/><Relationship Id="rId40" Type="http://schemas.openxmlformats.org/officeDocument/2006/relationships/oleObject" Target="../embeddings/oleObject48.bin"/><Relationship Id="rId45" Type="http://schemas.openxmlformats.org/officeDocument/2006/relationships/image" Target="../media/image62.wmf"/><Relationship Id="rId53" Type="http://schemas.openxmlformats.org/officeDocument/2006/relationships/image" Target="../media/image67.wmf"/><Relationship Id="rId58" Type="http://schemas.openxmlformats.org/officeDocument/2006/relationships/oleObject" Target="../embeddings/oleObject56.bin"/><Relationship Id="rId66" Type="http://schemas.openxmlformats.org/officeDocument/2006/relationships/oleObject" Target="../embeddings/oleObject60.bin"/><Relationship Id="rId74" Type="http://schemas.openxmlformats.org/officeDocument/2006/relationships/oleObject" Target="../embeddings/oleObject64.bin"/><Relationship Id="rId5" Type="http://schemas.openxmlformats.org/officeDocument/2006/relationships/tags" Target="../tags/tag23.xml"/><Relationship Id="rId61" Type="http://schemas.openxmlformats.org/officeDocument/2006/relationships/image" Target="../media/image71.wmf"/><Relationship Id="rId19" Type="http://schemas.openxmlformats.org/officeDocument/2006/relationships/image" Target="../media/image3.png"/><Relationship Id="rId14" Type="http://schemas.openxmlformats.org/officeDocument/2006/relationships/tags" Target="../tags/tag32.xml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53.wmf"/><Relationship Id="rId30" Type="http://schemas.openxmlformats.org/officeDocument/2006/relationships/oleObject" Target="../embeddings/oleObject43.bin"/><Relationship Id="rId35" Type="http://schemas.openxmlformats.org/officeDocument/2006/relationships/image" Target="../media/image57.wmf"/><Relationship Id="rId43" Type="http://schemas.openxmlformats.org/officeDocument/2006/relationships/image" Target="../media/image61.wmf"/><Relationship Id="rId48" Type="http://schemas.openxmlformats.org/officeDocument/2006/relationships/oleObject" Target="../embeddings/oleObject52.bin"/><Relationship Id="rId56" Type="http://schemas.openxmlformats.org/officeDocument/2006/relationships/oleObject" Target="../embeddings/oleObject55.bin"/><Relationship Id="rId64" Type="http://schemas.openxmlformats.org/officeDocument/2006/relationships/oleObject" Target="../embeddings/oleObject59.bin"/><Relationship Id="rId69" Type="http://schemas.openxmlformats.org/officeDocument/2006/relationships/image" Target="../media/image75.wmf"/><Relationship Id="rId77" Type="http://schemas.openxmlformats.org/officeDocument/2006/relationships/image" Target="../media/image79.wmf"/><Relationship Id="rId8" Type="http://schemas.openxmlformats.org/officeDocument/2006/relationships/tags" Target="../tags/tag26.xml"/><Relationship Id="rId51" Type="http://schemas.openxmlformats.org/officeDocument/2006/relationships/image" Target="../media/image66.png"/><Relationship Id="rId72" Type="http://schemas.openxmlformats.org/officeDocument/2006/relationships/oleObject" Target="../embeddings/oleObject63.bin"/><Relationship Id="rId3" Type="http://schemas.openxmlformats.org/officeDocument/2006/relationships/tags" Target="../tags/tag21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1.xml"/><Relationship Id="rId25" Type="http://schemas.openxmlformats.org/officeDocument/2006/relationships/image" Target="../media/image52.wmf"/><Relationship Id="rId33" Type="http://schemas.openxmlformats.org/officeDocument/2006/relationships/image" Target="../media/image56.wmf"/><Relationship Id="rId38" Type="http://schemas.openxmlformats.org/officeDocument/2006/relationships/oleObject" Target="../embeddings/oleObject47.bin"/><Relationship Id="rId46" Type="http://schemas.openxmlformats.org/officeDocument/2006/relationships/oleObject" Target="../embeddings/oleObject51.bin"/><Relationship Id="rId59" Type="http://schemas.openxmlformats.org/officeDocument/2006/relationships/image" Target="../media/image70.wmf"/><Relationship Id="rId67" Type="http://schemas.openxmlformats.org/officeDocument/2006/relationships/image" Target="../media/image74.wmf"/><Relationship Id="rId20" Type="http://schemas.openxmlformats.org/officeDocument/2006/relationships/oleObject" Target="../embeddings/oleObject38.bin"/><Relationship Id="rId41" Type="http://schemas.openxmlformats.org/officeDocument/2006/relationships/image" Target="../media/image60.wmf"/><Relationship Id="rId54" Type="http://schemas.openxmlformats.org/officeDocument/2006/relationships/oleObject" Target="../embeddings/oleObject54.bin"/><Relationship Id="rId62" Type="http://schemas.openxmlformats.org/officeDocument/2006/relationships/oleObject" Target="../embeddings/oleObject58.bin"/><Relationship Id="rId70" Type="http://schemas.openxmlformats.org/officeDocument/2006/relationships/oleObject" Target="../embeddings/oleObject62.bin"/><Relationship Id="rId75" Type="http://schemas.openxmlformats.org/officeDocument/2006/relationships/image" Target="../media/image78.wmf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5" Type="http://schemas.openxmlformats.org/officeDocument/2006/relationships/tags" Target="../tags/tag33.xml"/><Relationship Id="rId23" Type="http://schemas.openxmlformats.org/officeDocument/2006/relationships/image" Target="../media/image51.wmf"/><Relationship Id="rId28" Type="http://schemas.openxmlformats.org/officeDocument/2006/relationships/oleObject" Target="../embeddings/oleObject42.bin"/><Relationship Id="rId36" Type="http://schemas.openxmlformats.org/officeDocument/2006/relationships/oleObject" Target="../embeddings/oleObject46.bin"/><Relationship Id="rId49" Type="http://schemas.openxmlformats.org/officeDocument/2006/relationships/image" Target="../media/image64.wmf"/><Relationship Id="rId57" Type="http://schemas.openxmlformats.org/officeDocument/2006/relationships/image" Target="../media/image69.wmf"/><Relationship Id="rId10" Type="http://schemas.openxmlformats.org/officeDocument/2006/relationships/tags" Target="../tags/tag28.xml"/><Relationship Id="rId31" Type="http://schemas.openxmlformats.org/officeDocument/2006/relationships/image" Target="../media/image55.wmf"/><Relationship Id="rId44" Type="http://schemas.openxmlformats.org/officeDocument/2006/relationships/oleObject" Target="../embeddings/oleObject50.bin"/><Relationship Id="rId52" Type="http://schemas.openxmlformats.org/officeDocument/2006/relationships/oleObject" Target="../embeddings/oleObject53.bin"/><Relationship Id="rId60" Type="http://schemas.openxmlformats.org/officeDocument/2006/relationships/oleObject" Target="../embeddings/oleObject57.bin"/><Relationship Id="rId65" Type="http://schemas.openxmlformats.org/officeDocument/2006/relationships/image" Target="../media/image73.wmf"/><Relationship Id="rId73" Type="http://schemas.openxmlformats.org/officeDocument/2006/relationships/image" Target="../media/image77.wmf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3" Type="http://schemas.openxmlformats.org/officeDocument/2006/relationships/tags" Target="../tags/tag31.xml"/><Relationship Id="rId18" Type="http://schemas.openxmlformats.org/officeDocument/2006/relationships/notesSlide" Target="../notesSlides/notesSlide13.xml"/><Relationship Id="rId39" Type="http://schemas.openxmlformats.org/officeDocument/2006/relationships/image" Target="../media/image59.wmf"/><Relationship Id="rId34" Type="http://schemas.openxmlformats.org/officeDocument/2006/relationships/oleObject" Target="../embeddings/oleObject45.bin"/><Relationship Id="rId50" Type="http://schemas.openxmlformats.org/officeDocument/2006/relationships/image" Target="../media/image65.png"/><Relationship Id="rId55" Type="http://schemas.openxmlformats.org/officeDocument/2006/relationships/image" Target="../media/image68.wmf"/><Relationship Id="rId76" Type="http://schemas.openxmlformats.org/officeDocument/2006/relationships/oleObject" Target="../embeddings/oleObject65.bin"/><Relationship Id="rId7" Type="http://schemas.openxmlformats.org/officeDocument/2006/relationships/tags" Target="../tags/tag25.xml"/><Relationship Id="rId71" Type="http://schemas.openxmlformats.org/officeDocument/2006/relationships/image" Target="../media/image76.wmf"/><Relationship Id="rId2" Type="http://schemas.openxmlformats.org/officeDocument/2006/relationships/tags" Target="../tags/tag20.xml"/><Relationship Id="rId29" Type="http://schemas.openxmlformats.org/officeDocument/2006/relationships/image" Target="../media/image5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83.emf"/><Relationship Id="rId3" Type="http://schemas.openxmlformats.org/officeDocument/2006/relationships/tags" Target="../tags/tag37.xml"/><Relationship Id="rId7" Type="http://schemas.openxmlformats.org/officeDocument/2006/relationships/image" Target="../media/image80.png"/><Relationship Id="rId12" Type="http://schemas.openxmlformats.org/officeDocument/2006/relationships/oleObject" Target="../embeddings/oleObject68.bin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3.png"/><Relationship Id="rId11" Type="http://schemas.openxmlformats.org/officeDocument/2006/relationships/image" Target="../media/image82.emf"/><Relationship Id="rId5" Type="http://schemas.openxmlformats.org/officeDocument/2006/relationships/notesSlide" Target="../notesSlides/notesSlide14.xml"/><Relationship Id="rId10" Type="http://schemas.openxmlformats.org/officeDocument/2006/relationships/oleObject" Target="../embeddings/oleObject67.bin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81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tags" Target="../tags/tag40.xml"/><Relationship Id="rId7" Type="http://schemas.openxmlformats.org/officeDocument/2006/relationships/image" Target="../media/image3.png"/><Relationship Id="rId12" Type="http://schemas.openxmlformats.org/officeDocument/2006/relationships/image" Target="../media/image86.wmf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notesSlide" Target="../notesSlides/notesSlide15.xml"/><Relationship Id="rId11" Type="http://schemas.openxmlformats.org/officeDocument/2006/relationships/oleObject" Target="../embeddings/oleObject70.bin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85.emf"/><Relationship Id="rId4" Type="http://schemas.openxmlformats.org/officeDocument/2006/relationships/tags" Target="../tags/tag41.xml"/><Relationship Id="rId9" Type="http://schemas.openxmlformats.org/officeDocument/2006/relationships/oleObject" Target="../embeddings/oleObject6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tags" Target="../tags/tag44.xml"/><Relationship Id="rId7" Type="http://schemas.openxmlformats.org/officeDocument/2006/relationships/image" Target="../media/image3.png"/><Relationship Id="rId12" Type="http://schemas.openxmlformats.org/officeDocument/2006/relationships/image" Target="../media/image89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16.xml"/><Relationship Id="rId11" Type="http://schemas.openxmlformats.org/officeDocument/2006/relationships/oleObject" Target="../embeddings/oleObject72.bin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88.wmf"/><Relationship Id="rId4" Type="http://schemas.openxmlformats.org/officeDocument/2006/relationships/tags" Target="../tags/tag45.xml"/><Relationship Id="rId9" Type="http://schemas.openxmlformats.org/officeDocument/2006/relationships/oleObject" Target="../embeddings/oleObject7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notesSlide" Target="../notesSlides/notesSlide17.xml"/><Relationship Id="rId18" Type="http://schemas.openxmlformats.org/officeDocument/2006/relationships/image" Target="../media/image93.png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92.png"/><Relationship Id="rId2" Type="http://schemas.openxmlformats.org/officeDocument/2006/relationships/tags" Target="../tags/tag47.xml"/><Relationship Id="rId16" Type="http://schemas.openxmlformats.org/officeDocument/2006/relationships/image" Target="../media/image91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image" Target="../media/image90.png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4.emf"/><Relationship Id="rId4" Type="http://schemas.openxmlformats.org/officeDocument/2006/relationships/oleObject" Target="../embeddings/oleObject73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6.bin"/><Relationship Id="rId18" Type="http://schemas.openxmlformats.org/officeDocument/2006/relationships/image" Target="../media/image99.wmf"/><Relationship Id="rId26" Type="http://schemas.openxmlformats.org/officeDocument/2006/relationships/image" Target="../media/image103.wmf"/><Relationship Id="rId39" Type="http://schemas.openxmlformats.org/officeDocument/2006/relationships/oleObject" Target="../embeddings/oleObject89.bin"/><Relationship Id="rId21" Type="http://schemas.openxmlformats.org/officeDocument/2006/relationships/oleObject" Target="../embeddings/oleObject80.bin"/><Relationship Id="rId34" Type="http://schemas.openxmlformats.org/officeDocument/2006/relationships/image" Target="../media/image107.wmf"/><Relationship Id="rId7" Type="http://schemas.openxmlformats.org/officeDocument/2006/relationships/notesSlide" Target="../notesSlides/notesSlide20.xml"/><Relationship Id="rId12" Type="http://schemas.openxmlformats.org/officeDocument/2006/relationships/image" Target="../media/image96.e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33" Type="http://schemas.openxmlformats.org/officeDocument/2006/relationships/oleObject" Target="../embeddings/oleObject86.bin"/><Relationship Id="rId38" Type="http://schemas.openxmlformats.org/officeDocument/2006/relationships/image" Target="../media/image109.wmf"/><Relationship Id="rId2" Type="http://schemas.openxmlformats.org/officeDocument/2006/relationships/tags" Target="../tags/tag58.xml"/><Relationship Id="rId16" Type="http://schemas.openxmlformats.org/officeDocument/2006/relationships/image" Target="../media/image98.wmf"/><Relationship Id="rId20" Type="http://schemas.openxmlformats.org/officeDocument/2006/relationships/image" Target="../media/image100.wmf"/><Relationship Id="rId29" Type="http://schemas.openxmlformats.org/officeDocument/2006/relationships/oleObject" Target="../embeddings/oleObject84.bin"/><Relationship Id="rId1" Type="http://schemas.openxmlformats.org/officeDocument/2006/relationships/tags" Target="../tags/tag57.xml"/><Relationship Id="rId6" Type="http://schemas.openxmlformats.org/officeDocument/2006/relationships/slideLayout" Target="../slideLayouts/slideLayout1.xml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102.wmf"/><Relationship Id="rId32" Type="http://schemas.openxmlformats.org/officeDocument/2006/relationships/image" Target="../media/image106.wmf"/><Relationship Id="rId37" Type="http://schemas.openxmlformats.org/officeDocument/2006/relationships/oleObject" Target="../embeddings/oleObject88.bin"/><Relationship Id="rId40" Type="http://schemas.openxmlformats.org/officeDocument/2006/relationships/image" Target="../media/image110.wmf"/><Relationship Id="rId5" Type="http://schemas.openxmlformats.org/officeDocument/2006/relationships/tags" Target="../tags/tag61.xml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104.wmf"/><Relationship Id="rId36" Type="http://schemas.openxmlformats.org/officeDocument/2006/relationships/image" Target="../media/image108.wmf"/><Relationship Id="rId10" Type="http://schemas.openxmlformats.org/officeDocument/2006/relationships/image" Target="../media/image95.emf"/><Relationship Id="rId19" Type="http://schemas.openxmlformats.org/officeDocument/2006/relationships/oleObject" Target="../embeddings/oleObject79.bin"/><Relationship Id="rId31" Type="http://schemas.openxmlformats.org/officeDocument/2006/relationships/oleObject" Target="../embeddings/oleObject85.bin"/><Relationship Id="rId4" Type="http://schemas.openxmlformats.org/officeDocument/2006/relationships/tags" Target="../tags/tag60.xml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97.wmf"/><Relationship Id="rId22" Type="http://schemas.openxmlformats.org/officeDocument/2006/relationships/image" Target="../media/image101.w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105.wmf"/><Relationship Id="rId35" Type="http://schemas.openxmlformats.org/officeDocument/2006/relationships/oleObject" Target="../embeddings/oleObject87.bin"/><Relationship Id="rId8" Type="http://schemas.openxmlformats.org/officeDocument/2006/relationships/image" Target="../media/image3.png"/><Relationship Id="rId3" Type="http://schemas.openxmlformats.org/officeDocument/2006/relationships/tags" Target="../tags/tag59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95.bin"/><Relationship Id="rId26" Type="http://schemas.openxmlformats.org/officeDocument/2006/relationships/oleObject" Target="../embeddings/oleObject99.bin"/><Relationship Id="rId39" Type="http://schemas.openxmlformats.org/officeDocument/2006/relationships/image" Target="../media/image126.wmf"/><Relationship Id="rId21" Type="http://schemas.openxmlformats.org/officeDocument/2006/relationships/image" Target="../media/image117.wmf"/><Relationship Id="rId34" Type="http://schemas.openxmlformats.org/officeDocument/2006/relationships/oleObject" Target="../embeddings/oleObject103.bin"/><Relationship Id="rId42" Type="http://schemas.openxmlformats.org/officeDocument/2006/relationships/oleObject" Target="../embeddings/oleObject107.bin"/><Relationship Id="rId7" Type="http://schemas.openxmlformats.org/officeDocument/2006/relationships/image" Target="../media/image3.png"/><Relationship Id="rId2" Type="http://schemas.openxmlformats.org/officeDocument/2006/relationships/tags" Target="../tags/tag63.xml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6.bin"/><Relationship Id="rId29" Type="http://schemas.openxmlformats.org/officeDocument/2006/relationships/image" Target="../media/image121.wmf"/><Relationship Id="rId41" Type="http://schemas.openxmlformats.org/officeDocument/2006/relationships/image" Target="../media/image127.wmf"/><Relationship Id="rId1" Type="http://schemas.openxmlformats.org/officeDocument/2006/relationships/tags" Target="../tags/tag62.xml"/><Relationship Id="rId6" Type="http://schemas.openxmlformats.org/officeDocument/2006/relationships/notesSlide" Target="../notesSlides/notesSlide21.xml"/><Relationship Id="rId11" Type="http://schemas.openxmlformats.org/officeDocument/2006/relationships/image" Target="../media/image112.wmf"/><Relationship Id="rId24" Type="http://schemas.openxmlformats.org/officeDocument/2006/relationships/oleObject" Target="../embeddings/oleObject98.bin"/><Relationship Id="rId32" Type="http://schemas.openxmlformats.org/officeDocument/2006/relationships/oleObject" Target="../embeddings/oleObject102.bin"/><Relationship Id="rId37" Type="http://schemas.openxmlformats.org/officeDocument/2006/relationships/image" Target="../media/image125.wmf"/><Relationship Id="rId40" Type="http://schemas.openxmlformats.org/officeDocument/2006/relationships/oleObject" Target="../embeddings/oleObject106.bin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114.wmf"/><Relationship Id="rId23" Type="http://schemas.openxmlformats.org/officeDocument/2006/relationships/image" Target="../media/image118.wmf"/><Relationship Id="rId28" Type="http://schemas.openxmlformats.org/officeDocument/2006/relationships/oleObject" Target="../embeddings/oleObject100.bin"/><Relationship Id="rId36" Type="http://schemas.openxmlformats.org/officeDocument/2006/relationships/oleObject" Target="../embeddings/oleObject104.bin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116.wmf"/><Relationship Id="rId31" Type="http://schemas.openxmlformats.org/officeDocument/2006/relationships/image" Target="../media/image122.wmf"/><Relationship Id="rId4" Type="http://schemas.openxmlformats.org/officeDocument/2006/relationships/tags" Target="../tags/tag65.xml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93.bin"/><Relationship Id="rId22" Type="http://schemas.openxmlformats.org/officeDocument/2006/relationships/oleObject" Target="../embeddings/oleObject97.bin"/><Relationship Id="rId27" Type="http://schemas.openxmlformats.org/officeDocument/2006/relationships/image" Target="../media/image120.wmf"/><Relationship Id="rId30" Type="http://schemas.openxmlformats.org/officeDocument/2006/relationships/oleObject" Target="../embeddings/oleObject101.bin"/><Relationship Id="rId35" Type="http://schemas.openxmlformats.org/officeDocument/2006/relationships/image" Target="../media/image124.wmf"/><Relationship Id="rId43" Type="http://schemas.openxmlformats.org/officeDocument/2006/relationships/image" Target="../media/image128.wmf"/><Relationship Id="rId8" Type="http://schemas.openxmlformats.org/officeDocument/2006/relationships/oleObject" Target="../embeddings/oleObject90.bin"/><Relationship Id="rId3" Type="http://schemas.openxmlformats.org/officeDocument/2006/relationships/tags" Target="../tags/tag64.xml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115.wmf"/><Relationship Id="rId25" Type="http://schemas.openxmlformats.org/officeDocument/2006/relationships/image" Target="../media/image119.wmf"/><Relationship Id="rId33" Type="http://schemas.openxmlformats.org/officeDocument/2006/relationships/image" Target="../media/image123.wmf"/><Relationship Id="rId38" Type="http://schemas.openxmlformats.org/officeDocument/2006/relationships/oleObject" Target="../embeddings/oleObject10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image" Target="../media/image132.wmf"/><Relationship Id="rId18" Type="http://schemas.openxmlformats.org/officeDocument/2006/relationships/oleObject" Target="../embeddings/oleObject113.bin"/><Relationship Id="rId26" Type="http://schemas.openxmlformats.org/officeDocument/2006/relationships/oleObject" Target="../embeddings/oleObject117.bin"/><Relationship Id="rId3" Type="http://schemas.openxmlformats.org/officeDocument/2006/relationships/tags" Target="../tags/tag68.xml"/><Relationship Id="rId21" Type="http://schemas.openxmlformats.org/officeDocument/2006/relationships/image" Target="../media/image136.wmf"/><Relationship Id="rId7" Type="http://schemas.openxmlformats.org/officeDocument/2006/relationships/oleObject" Target="../embeddings/oleObject108.bin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34.wmf"/><Relationship Id="rId25" Type="http://schemas.openxmlformats.org/officeDocument/2006/relationships/image" Target="../media/image138.wmf"/><Relationship Id="rId2" Type="http://schemas.openxmlformats.org/officeDocument/2006/relationships/tags" Target="../tags/tag67.xml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29" Type="http://schemas.openxmlformats.org/officeDocument/2006/relationships/image" Target="../media/image140.wmf"/><Relationship Id="rId1" Type="http://schemas.openxmlformats.org/officeDocument/2006/relationships/tags" Target="../tags/tag66.xml"/><Relationship Id="rId6" Type="http://schemas.openxmlformats.org/officeDocument/2006/relationships/image" Target="../media/image3.png"/><Relationship Id="rId11" Type="http://schemas.openxmlformats.org/officeDocument/2006/relationships/image" Target="../media/image131.emf"/><Relationship Id="rId24" Type="http://schemas.openxmlformats.org/officeDocument/2006/relationships/oleObject" Target="../embeddings/oleObject116.bin"/><Relationship Id="rId5" Type="http://schemas.openxmlformats.org/officeDocument/2006/relationships/notesSlide" Target="../notesSlides/notesSlide22.xml"/><Relationship Id="rId15" Type="http://schemas.openxmlformats.org/officeDocument/2006/relationships/image" Target="../media/image133.wmf"/><Relationship Id="rId23" Type="http://schemas.openxmlformats.org/officeDocument/2006/relationships/image" Target="../media/image137.wmf"/><Relationship Id="rId28" Type="http://schemas.openxmlformats.org/officeDocument/2006/relationships/oleObject" Target="../embeddings/oleObject118.bin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35.w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Relationship Id="rId27" Type="http://schemas.openxmlformats.org/officeDocument/2006/relationships/image" Target="../media/image139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wmf"/><Relationship Id="rId18" Type="http://schemas.openxmlformats.org/officeDocument/2006/relationships/oleObject" Target="../embeddings/oleObject124.bin"/><Relationship Id="rId26" Type="http://schemas.openxmlformats.org/officeDocument/2006/relationships/oleObject" Target="../embeddings/oleObject128.bin"/><Relationship Id="rId39" Type="http://schemas.openxmlformats.org/officeDocument/2006/relationships/image" Target="../media/image156.wmf"/><Relationship Id="rId21" Type="http://schemas.openxmlformats.org/officeDocument/2006/relationships/image" Target="../media/image147.wmf"/><Relationship Id="rId34" Type="http://schemas.openxmlformats.org/officeDocument/2006/relationships/oleObject" Target="../embeddings/oleObject132.bin"/><Relationship Id="rId42" Type="http://schemas.openxmlformats.org/officeDocument/2006/relationships/oleObject" Target="../embeddings/oleObject136.bin"/><Relationship Id="rId47" Type="http://schemas.openxmlformats.org/officeDocument/2006/relationships/image" Target="../media/image160.wmf"/><Relationship Id="rId50" Type="http://schemas.openxmlformats.org/officeDocument/2006/relationships/oleObject" Target="../embeddings/oleObject140.bin"/><Relationship Id="rId7" Type="http://schemas.openxmlformats.org/officeDocument/2006/relationships/image" Target="../media/image3.png"/><Relationship Id="rId2" Type="http://schemas.openxmlformats.org/officeDocument/2006/relationships/tags" Target="../tags/tag70.xml"/><Relationship Id="rId16" Type="http://schemas.openxmlformats.org/officeDocument/2006/relationships/oleObject" Target="../embeddings/oleObject123.bin"/><Relationship Id="rId29" Type="http://schemas.openxmlformats.org/officeDocument/2006/relationships/image" Target="../media/image151.wmf"/><Relationship Id="rId11" Type="http://schemas.openxmlformats.org/officeDocument/2006/relationships/image" Target="../media/image142.wmf"/><Relationship Id="rId24" Type="http://schemas.openxmlformats.org/officeDocument/2006/relationships/oleObject" Target="../embeddings/oleObject127.bin"/><Relationship Id="rId32" Type="http://schemas.openxmlformats.org/officeDocument/2006/relationships/oleObject" Target="../embeddings/oleObject131.bin"/><Relationship Id="rId37" Type="http://schemas.openxmlformats.org/officeDocument/2006/relationships/image" Target="../media/image155.wmf"/><Relationship Id="rId40" Type="http://schemas.openxmlformats.org/officeDocument/2006/relationships/oleObject" Target="../embeddings/oleObject135.bin"/><Relationship Id="rId45" Type="http://schemas.openxmlformats.org/officeDocument/2006/relationships/image" Target="../media/image159.wmf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144.wmf"/><Relationship Id="rId23" Type="http://schemas.openxmlformats.org/officeDocument/2006/relationships/image" Target="../media/image148.wmf"/><Relationship Id="rId28" Type="http://schemas.openxmlformats.org/officeDocument/2006/relationships/oleObject" Target="../embeddings/oleObject129.bin"/><Relationship Id="rId36" Type="http://schemas.openxmlformats.org/officeDocument/2006/relationships/oleObject" Target="../embeddings/oleObject133.bin"/><Relationship Id="rId49" Type="http://schemas.openxmlformats.org/officeDocument/2006/relationships/image" Target="../media/image161.wmf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46.wmf"/><Relationship Id="rId31" Type="http://schemas.openxmlformats.org/officeDocument/2006/relationships/image" Target="../media/image152.wmf"/><Relationship Id="rId44" Type="http://schemas.openxmlformats.org/officeDocument/2006/relationships/oleObject" Target="../embeddings/oleObject137.bin"/><Relationship Id="rId4" Type="http://schemas.openxmlformats.org/officeDocument/2006/relationships/tags" Target="../tags/tag72.xml"/><Relationship Id="rId9" Type="http://schemas.openxmlformats.org/officeDocument/2006/relationships/image" Target="../media/image141.wmf"/><Relationship Id="rId14" Type="http://schemas.openxmlformats.org/officeDocument/2006/relationships/oleObject" Target="../embeddings/oleObject122.bin"/><Relationship Id="rId22" Type="http://schemas.openxmlformats.org/officeDocument/2006/relationships/oleObject" Target="../embeddings/oleObject126.bin"/><Relationship Id="rId27" Type="http://schemas.openxmlformats.org/officeDocument/2006/relationships/image" Target="../media/image150.wmf"/><Relationship Id="rId30" Type="http://schemas.openxmlformats.org/officeDocument/2006/relationships/oleObject" Target="../embeddings/oleObject130.bin"/><Relationship Id="rId35" Type="http://schemas.openxmlformats.org/officeDocument/2006/relationships/image" Target="../media/image154.wmf"/><Relationship Id="rId43" Type="http://schemas.openxmlformats.org/officeDocument/2006/relationships/image" Target="../media/image158.wmf"/><Relationship Id="rId48" Type="http://schemas.openxmlformats.org/officeDocument/2006/relationships/oleObject" Target="../embeddings/oleObject139.bin"/><Relationship Id="rId8" Type="http://schemas.openxmlformats.org/officeDocument/2006/relationships/oleObject" Target="../embeddings/oleObject119.bin"/><Relationship Id="rId51" Type="http://schemas.openxmlformats.org/officeDocument/2006/relationships/image" Target="../media/image162.wmf"/><Relationship Id="rId3" Type="http://schemas.openxmlformats.org/officeDocument/2006/relationships/tags" Target="../tags/tag71.xml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45.wmf"/><Relationship Id="rId25" Type="http://schemas.openxmlformats.org/officeDocument/2006/relationships/image" Target="../media/image149.wmf"/><Relationship Id="rId33" Type="http://schemas.openxmlformats.org/officeDocument/2006/relationships/image" Target="../media/image153.wmf"/><Relationship Id="rId38" Type="http://schemas.openxmlformats.org/officeDocument/2006/relationships/oleObject" Target="../embeddings/oleObject134.bin"/><Relationship Id="rId46" Type="http://schemas.openxmlformats.org/officeDocument/2006/relationships/oleObject" Target="../embeddings/oleObject138.bin"/><Relationship Id="rId20" Type="http://schemas.openxmlformats.org/officeDocument/2006/relationships/oleObject" Target="../embeddings/oleObject125.bin"/><Relationship Id="rId41" Type="http://schemas.openxmlformats.org/officeDocument/2006/relationships/image" Target="../media/image157.wmf"/><Relationship Id="rId1" Type="http://schemas.openxmlformats.org/officeDocument/2006/relationships/tags" Target="../tags/tag69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3" Type="http://schemas.openxmlformats.org/officeDocument/2006/relationships/notesSlide" Target="../notesSlides/notesSlide24.xml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64.w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1.bin"/><Relationship Id="rId10" Type="http://schemas.openxmlformats.org/officeDocument/2006/relationships/oleObject" Target="../embeddings/oleObject145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14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emf"/><Relationship Id="rId3" Type="http://schemas.openxmlformats.org/officeDocument/2006/relationships/tags" Target="../tags/tag76.xml"/><Relationship Id="rId7" Type="http://schemas.openxmlformats.org/officeDocument/2006/relationships/image" Target="../media/image165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3.png"/><Relationship Id="rId11" Type="http://schemas.openxmlformats.org/officeDocument/2006/relationships/image" Target="../media/image169.emf"/><Relationship Id="rId5" Type="http://schemas.openxmlformats.org/officeDocument/2006/relationships/notesSlide" Target="../notesSlides/notesSlide25.xml"/><Relationship Id="rId10" Type="http://schemas.openxmlformats.org/officeDocument/2006/relationships/image" Target="../media/image168.emf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67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emf"/><Relationship Id="rId13" Type="http://schemas.openxmlformats.org/officeDocument/2006/relationships/oleObject" Target="../embeddings/oleObject150.bin"/><Relationship Id="rId3" Type="http://schemas.openxmlformats.org/officeDocument/2006/relationships/tags" Target="../tags/tag79.xml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72.emf"/><Relationship Id="rId2" Type="http://schemas.openxmlformats.org/officeDocument/2006/relationships/tags" Target="../tags/tag78.xml"/><Relationship Id="rId16" Type="http://schemas.openxmlformats.org/officeDocument/2006/relationships/image" Target="../media/image174.emf"/><Relationship Id="rId1" Type="http://schemas.openxmlformats.org/officeDocument/2006/relationships/tags" Target="../tags/tag77.xml"/><Relationship Id="rId6" Type="http://schemas.openxmlformats.org/officeDocument/2006/relationships/image" Target="../media/image3.png"/><Relationship Id="rId11" Type="http://schemas.openxmlformats.org/officeDocument/2006/relationships/oleObject" Target="../embeddings/oleObject149.bin"/><Relationship Id="rId5" Type="http://schemas.openxmlformats.org/officeDocument/2006/relationships/notesSlide" Target="../notesSlides/notesSlide26.xml"/><Relationship Id="rId15" Type="http://schemas.openxmlformats.org/officeDocument/2006/relationships/oleObject" Target="../embeddings/oleObject151.bin"/><Relationship Id="rId10" Type="http://schemas.openxmlformats.org/officeDocument/2006/relationships/image" Target="../media/image171.emf"/><Relationship Id="rId4" Type="http://schemas.openxmlformats.org/officeDocument/2006/relationships/slideLayout" Target="../slideLayouts/slideLayout1.xml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7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oleObject" Target="../embeddings/oleObject152.bin"/><Relationship Id="rId18" Type="http://schemas.openxmlformats.org/officeDocument/2006/relationships/oleObject" Target="../embeddings/oleObject156.bin"/><Relationship Id="rId26" Type="http://schemas.openxmlformats.org/officeDocument/2006/relationships/image" Target="../media/image179.wmf"/><Relationship Id="rId3" Type="http://schemas.openxmlformats.org/officeDocument/2006/relationships/tags" Target="../tags/tag82.xml"/><Relationship Id="rId21" Type="http://schemas.openxmlformats.org/officeDocument/2006/relationships/oleObject" Target="../embeddings/oleObject158.bin"/><Relationship Id="rId7" Type="http://schemas.openxmlformats.org/officeDocument/2006/relationships/tags" Target="../tags/tag86.xml"/><Relationship Id="rId12" Type="http://schemas.openxmlformats.org/officeDocument/2006/relationships/image" Target="../media/image3.png"/><Relationship Id="rId17" Type="http://schemas.openxmlformats.org/officeDocument/2006/relationships/oleObject" Target="../embeddings/oleObject155.bin"/><Relationship Id="rId25" Type="http://schemas.openxmlformats.org/officeDocument/2006/relationships/oleObject" Target="../embeddings/oleObject160.bin"/><Relationship Id="rId2" Type="http://schemas.openxmlformats.org/officeDocument/2006/relationships/tags" Target="../tags/tag81.xml"/><Relationship Id="rId16" Type="http://schemas.openxmlformats.org/officeDocument/2006/relationships/oleObject" Target="../embeddings/oleObject154.bin"/><Relationship Id="rId20" Type="http://schemas.openxmlformats.org/officeDocument/2006/relationships/oleObject" Target="../embeddings/oleObject157.bin"/><Relationship Id="rId29" Type="http://schemas.openxmlformats.org/officeDocument/2006/relationships/oleObject" Target="../embeddings/oleObject162.bin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notesSlide" Target="../notesSlides/notesSlide27.xml"/><Relationship Id="rId24" Type="http://schemas.openxmlformats.org/officeDocument/2006/relationships/image" Target="../media/image178.wmf"/><Relationship Id="rId5" Type="http://schemas.openxmlformats.org/officeDocument/2006/relationships/tags" Target="../tags/tag84.xml"/><Relationship Id="rId15" Type="http://schemas.openxmlformats.org/officeDocument/2006/relationships/oleObject" Target="../embeddings/oleObject153.bin"/><Relationship Id="rId23" Type="http://schemas.openxmlformats.org/officeDocument/2006/relationships/oleObject" Target="../embeddings/oleObject159.bin"/><Relationship Id="rId28" Type="http://schemas.openxmlformats.org/officeDocument/2006/relationships/image" Target="../media/image180.wmf"/><Relationship Id="rId10" Type="http://schemas.openxmlformats.org/officeDocument/2006/relationships/slideLayout" Target="../slideLayouts/slideLayout1.xml"/><Relationship Id="rId19" Type="http://schemas.openxmlformats.org/officeDocument/2006/relationships/image" Target="../media/image176.wmf"/><Relationship Id="rId31" Type="http://schemas.openxmlformats.org/officeDocument/2006/relationships/image" Target="../media/image182.emf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image" Target="../media/image175.wmf"/><Relationship Id="rId22" Type="http://schemas.openxmlformats.org/officeDocument/2006/relationships/image" Target="../media/image177.wmf"/><Relationship Id="rId27" Type="http://schemas.openxmlformats.org/officeDocument/2006/relationships/oleObject" Target="../embeddings/oleObject161.bin"/><Relationship Id="rId30" Type="http://schemas.openxmlformats.org/officeDocument/2006/relationships/image" Target="../media/image18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emf"/><Relationship Id="rId3" Type="http://schemas.openxmlformats.org/officeDocument/2006/relationships/tags" Target="../tags/tag91.xml"/><Relationship Id="rId7" Type="http://schemas.openxmlformats.org/officeDocument/2006/relationships/image" Target="../media/image183.emf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85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3" Type="http://schemas.openxmlformats.org/officeDocument/2006/relationships/tags" Target="../tags/tag94.xml"/><Relationship Id="rId7" Type="http://schemas.openxmlformats.org/officeDocument/2006/relationships/image" Target="../media/image3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notesSlide" Target="../notesSlides/notesSlide29.xml"/><Relationship Id="rId11" Type="http://schemas.openxmlformats.org/officeDocument/2006/relationships/image" Target="../media/image189.emf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88.emf"/><Relationship Id="rId4" Type="http://schemas.openxmlformats.org/officeDocument/2006/relationships/tags" Target="../tags/tag95.xml"/><Relationship Id="rId9" Type="http://schemas.openxmlformats.org/officeDocument/2006/relationships/image" Target="../media/image187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emf"/><Relationship Id="rId13" Type="http://schemas.openxmlformats.org/officeDocument/2006/relationships/oleObject" Target="../embeddings/oleObject164.bin"/><Relationship Id="rId3" Type="http://schemas.openxmlformats.org/officeDocument/2006/relationships/tags" Target="../tags/tag98.xml"/><Relationship Id="rId7" Type="http://schemas.openxmlformats.org/officeDocument/2006/relationships/image" Target="../media/image3.png"/><Relationship Id="rId12" Type="http://schemas.openxmlformats.org/officeDocument/2006/relationships/image" Target="../media/image193.wmf"/><Relationship Id="rId17" Type="http://schemas.openxmlformats.org/officeDocument/2006/relationships/oleObject" Target="../embeddings/oleObject168.bin"/><Relationship Id="rId2" Type="http://schemas.openxmlformats.org/officeDocument/2006/relationships/tags" Target="../tags/tag97.xml"/><Relationship Id="rId16" Type="http://schemas.openxmlformats.org/officeDocument/2006/relationships/oleObject" Target="../embeddings/oleObject167.bin"/><Relationship Id="rId1" Type="http://schemas.openxmlformats.org/officeDocument/2006/relationships/tags" Target="../tags/tag96.xml"/><Relationship Id="rId6" Type="http://schemas.openxmlformats.org/officeDocument/2006/relationships/notesSlide" Target="../notesSlides/notesSlide30.xml"/><Relationship Id="rId11" Type="http://schemas.openxmlformats.org/officeDocument/2006/relationships/oleObject" Target="../embeddings/oleObject163.bin"/><Relationship Id="rId5" Type="http://schemas.openxmlformats.org/officeDocument/2006/relationships/slideLayout" Target="../slideLayouts/slideLayout1.xml"/><Relationship Id="rId15" Type="http://schemas.openxmlformats.org/officeDocument/2006/relationships/oleObject" Target="../embeddings/oleObject166.bin"/><Relationship Id="rId10" Type="http://schemas.openxmlformats.org/officeDocument/2006/relationships/image" Target="../media/image192.emf"/><Relationship Id="rId4" Type="http://schemas.openxmlformats.org/officeDocument/2006/relationships/tags" Target="../tags/tag99.xml"/><Relationship Id="rId9" Type="http://schemas.openxmlformats.org/officeDocument/2006/relationships/image" Target="../media/image191.emf"/><Relationship Id="rId14" Type="http://schemas.openxmlformats.org/officeDocument/2006/relationships/oleObject" Target="../embeddings/oleObject16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image" Target="../media/image3.png"/><Relationship Id="rId5" Type="http://schemas.openxmlformats.org/officeDocument/2006/relationships/tags" Target="../tags/tag104.xml"/><Relationship Id="rId10" Type="http://schemas.openxmlformats.org/officeDocument/2006/relationships/notesSlide" Target="../notesSlides/notesSlide33.xml"/><Relationship Id="rId4" Type="http://schemas.openxmlformats.org/officeDocument/2006/relationships/tags" Target="../tags/tag103.xml"/><Relationship Id="rId9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91699" y="908221"/>
            <a:ext cx="7355840" cy="381642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8845" y="1708150"/>
            <a:ext cx="7331075" cy="15684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含冷热电联产的多能互补建筑能源系统及容量</a:t>
            </a:r>
            <a:r>
              <a:rPr lang="en-US" altLang="zh-CN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运行双层优化</a:t>
            </a:r>
            <a:endParaRPr lang="zh-CN" altLang="en-US" sz="3200" b="1" dirty="0">
              <a:ln w="6350">
                <a:noFill/>
              </a:ln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b="1" dirty="0">
              <a:ln w="6350">
                <a:noFill/>
              </a:ln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2" descr="C:\Users\YY\Desktop\1e104821e5dde711554d5b53a7efce1b9c16617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575" y="457588"/>
            <a:ext cx="2448272" cy="90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6"/>
          <p:cNvSpPr txBox="1"/>
          <p:nvPr/>
        </p:nvSpPr>
        <p:spPr>
          <a:xfrm>
            <a:off x="3438445" y="2981871"/>
            <a:ext cx="2291874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姓  名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    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闫捷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学  号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    2271036</a:t>
            </a:r>
          </a:p>
          <a:p>
            <a:pPr>
              <a:spcBef>
                <a:spcPts val="800"/>
              </a:spcBef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专  业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   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电气工程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导  师： 刘鑫蕊 教授</a:t>
            </a:r>
          </a:p>
        </p:txBody>
      </p:sp>
    </p:spTree>
  </p:cSld>
  <p:clrMapOvr>
    <a:masterClrMapping/>
  </p:clrMapOvr>
  <p:transition spd="slow" advTm="4062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对角圆角 4"/>
          <p:cNvSpPr/>
          <p:nvPr/>
        </p:nvSpPr>
        <p:spPr>
          <a:xfrm>
            <a:off x="1125331" y="1171857"/>
            <a:ext cx="6675647" cy="504056"/>
          </a:xfrm>
          <a:prstGeom prst="round2Diag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7497387" y="1146221"/>
            <a:ext cx="576065" cy="589289"/>
            <a:chOff x="7161535" y="1727558"/>
            <a:chExt cx="504056" cy="504056"/>
          </a:xfrm>
        </p:grpSpPr>
        <p:sp>
          <p:nvSpPr>
            <p:cNvPr id="3" name="流程图: 接点 2"/>
            <p:cNvSpPr/>
            <p:nvPr/>
          </p:nvSpPr>
          <p:spPr>
            <a:xfrm>
              <a:off x="7161535" y="1727558"/>
              <a:ext cx="504056" cy="504056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13"/>
            <p:cNvSpPr>
              <a:spLocks noEditPoints="1"/>
            </p:cNvSpPr>
            <p:nvPr/>
          </p:nvSpPr>
          <p:spPr bwMode="auto">
            <a:xfrm>
              <a:off x="7239048" y="1834657"/>
              <a:ext cx="349030" cy="289858"/>
            </a:xfrm>
            <a:custGeom>
              <a:avLst/>
              <a:gdLst>
                <a:gd name="T0" fmla="*/ 111 w 197"/>
                <a:gd name="T1" fmla="*/ 11 h 164"/>
                <a:gd name="T2" fmla="*/ 0 w 197"/>
                <a:gd name="T3" fmla="*/ 15 h 164"/>
                <a:gd name="T4" fmla="*/ 105 w 197"/>
                <a:gd name="T5" fmla="*/ 164 h 164"/>
                <a:gd name="T6" fmla="*/ 136 w 197"/>
                <a:gd name="T7" fmla="*/ 159 h 164"/>
                <a:gd name="T8" fmla="*/ 196 w 197"/>
                <a:gd name="T9" fmla="*/ 142 h 164"/>
                <a:gd name="T10" fmla="*/ 52 w 197"/>
                <a:gd name="T11" fmla="*/ 150 h 164"/>
                <a:gd name="T12" fmla="*/ 52 w 197"/>
                <a:gd name="T13" fmla="*/ 22 h 164"/>
                <a:gd name="T14" fmla="*/ 99 w 197"/>
                <a:gd name="T15" fmla="*/ 150 h 164"/>
                <a:gd name="T16" fmla="*/ 99 w 197"/>
                <a:gd name="T17" fmla="*/ 22 h 164"/>
                <a:gd name="T18" fmla="*/ 147 w 197"/>
                <a:gd name="T19" fmla="*/ 149 h 164"/>
                <a:gd name="T20" fmla="*/ 181 w 197"/>
                <a:gd name="T21" fmla="*/ 139 h 164"/>
                <a:gd name="T22" fmla="*/ 23 w 197"/>
                <a:gd name="T23" fmla="*/ 133 h 164"/>
                <a:gd name="T24" fmla="*/ 42 w 197"/>
                <a:gd name="T25" fmla="*/ 134 h 164"/>
                <a:gd name="T26" fmla="*/ 43 w 197"/>
                <a:gd name="T27" fmla="*/ 114 h 164"/>
                <a:gd name="T28" fmla="*/ 23 w 197"/>
                <a:gd name="T29" fmla="*/ 114 h 164"/>
                <a:gd name="T30" fmla="*/ 29 w 197"/>
                <a:gd name="T31" fmla="*/ 120 h 164"/>
                <a:gd name="T32" fmla="*/ 37 w 197"/>
                <a:gd name="T33" fmla="*/ 120 h 164"/>
                <a:gd name="T34" fmla="*/ 37 w 197"/>
                <a:gd name="T35" fmla="*/ 128 h 164"/>
                <a:gd name="T36" fmla="*/ 29 w 197"/>
                <a:gd name="T37" fmla="*/ 127 h 164"/>
                <a:gd name="T38" fmla="*/ 32 w 197"/>
                <a:gd name="T39" fmla="*/ 91 h 164"/>
                <a:gd name="T40" fmla="*/ 36 w 197"/>
                <a:gd name="T41" fmla="*/ 38 h 164"/>
                <a:gd name="T42" fmla="*/ 28 w 197"/>
                <a:gd name="T43" fmla="*/ 87 h 164"/>
                <a:gd name="T44" fmla="*/ 134 w 197"/>
                <a:gd name="T45" fmla="*/ 31 h 164"/>
                <a:gd name="T46" fmla="*/ 149 w 197"/>
                <a:gd name="T47" fmla="*/ 86 h 164"/>
                <a:gd name="T48" fmla="*/ 134 w 197"/>
                <a:gd name="T49" fmla="*/ 31 h 164"/>
                <a:gd name="T50" fmla="*/ 69 w 197"/>
                <a:gd name="T51" fmla="*/ 133 h 164"/>
                <a:gd name="T52" fmla="*/ 88 w 197"/>
                <a:gd name="T53" fmla="*/ 133 h 164"/>
                <a:gd name="T54" fmla="*/ 79 w 197"/>
                <a:gd name="T55" fmla="*/ 110 h 164"/>
                <a:gd name="T56" fmla="*/ 65 w 197"/>
                <a:gd name="T57" fmla="*/ 124 h 164"/>
                <a:gd name="T58" fmla="*/ 75 w 197"/>
                <a:gd name="T59" fmla="*/ 120 h 164"/>
                <a:gd name="T60" fmla="*/ 82 w 197"/>
                <a:gd name="T61" fmla="*/ 120 h 164"/>
                <a:gd name="T62" fmla="*/ 82 w 197"/>
                <a:gd name="T63" fmla="*/ 128 h 164"/>
                <a:gd name="T64" fmla="*/ 74 w 197"/>
                <a:gd name="T65" fmla="*/ 127 h 164"/>
                <a:gd name="T66" fmla="*/ 81 w 197"/>
                <a:gd name="T67" fmla="*/ 91 h 164"/>
                <a:gd name="T68" fmla="*/ 85 w 197"/>
                <a:gd name="T69" fmla="*/ 38 h 164"/>
                <a:gd name="T70" fmla="*/ 77 w 197"/>
                <a:gd name="T71" fmla="*/ 87 h 164"/>
                <a:gd name="T72" fmla="*/ 148 w 197"/>
                <a:gd name="T73" fmla="*/ 109 h 164"/>
                <a:gd name="T74" fmla="*/ 148 w 197"/>
                <a:gd name="T75" fmla="*/ 128 h 164"/>
                <a:gd name="T76" fmla="*/ 167 w 197"/>
                <a:gd name="T77" fmla="*/ 128 h 164"/>
                <a:gd name="T78" fmla="*/ 168 w 197"/>
                <a:gd name="T79" fmla="*/ 109 h 164"/>
                <a:gd name="T80" fmla="*/ 158 w 197"/>
                <a:gd name="T81" fmla="*/ 105 h 164"/>
                <a:gd name="T82" fmla="*/ 154 w 197"/>
                <a:gd name="T83" fmla="*/ 114 h 164"/>
                <a:gd name="T84" fmla="*/ 163 w 197"/>
                <a:gd name="T85" fmla="*/ 118 h 164"/>
                <a:gd name="T86" fmla="*/ 154 w 197"/>
                <a:gd name="T87" fmla="*/ 122 h 164"/>
                <a:gd name="T88" fmla="*/ 154 w 197"/>
                <a:gd name="T89" fmla="*/ 11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7" h="164">
                  <a:moveTo>
                    <a:pt x="159" y="6"/>
                  </a:moveTo>
                  <a:cubicBezTo>
                    <a:pt x="158" y="2"/>
                    <a:pt x="155" y="0"/>
                    <a:pt x="151" y="1"/>
                  </a:cubicBezTo>
                  <a:cubicBezTo>
                    <a:pt x="111" y="11"/>
                    <a:pt x="111" y="11"/>
                    <a:pt x="111" y="11"/>
                  </a:cubicBezTo>
                  <a:cubicBezTo>
                    <a:pt x="110" y="10"/>
                    <a:pt x="108" y="8"/>
                    <a:pt x="105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3" y="8"/>
                    <a:pt x="0" y="11"/>
                    <a:pt x="0" y="15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161"/>
                    <a:pt x="3" y="164"/>
                    <a:pt x="7" y="164"/>
                  </a:cubicBezTo>
                  <a:cubicBezTo>
                    <a:pt x="105" y="164"/>
                    <a:pt x="105" y="164"/>
                    <a:pt x="105" y="164"/>
                  </a:cubicBezTo>
                  <a:cubicBezTo>
                    <a:pt x="109" y="164"/>
                    <a:pt x="112" y="161"/>
                    <a:pt x="112" y="157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36" y="159"/>
                    <a:pt x="136" y="159"/>
                    <a:pt x="136" y="159"/>
                  </a:cubicBezTo>
                  <a:cubicBezTo>
                    <a:pt x="136" y="162"/>
                    <a:pt x="140" y="164"/>
                    <a:pt x="144" y="163"/>
                  </a:cubicBezTo>
                  <a:cubicBezTo>
                    <a:pt x="191" y="151"/>
                    <a:pt x="191" y="151"/>
                    <a:pt x="191" y="151"/>
                  </a:cubicBezTo>
                  <a:cubicBezTo>
                    <a:pt x="195" y="150"/>
                    <a:pt x="197" y="146"/>
                    <a:pt x="196" y="142"/>
                  </a:cubicBezTo>
                  <a:cubicBezTo>
                    <a:pt x="159" y="6"/>
                    <a:pt x="159" y="6"/>
                    <a:pt x="159" y="6"/>
                  </a:cubicBezTo>
                  <a:close/>
                  <a:moveTo>
                    <a:pt x="52" y="150"/>
                  </a:moveTo>
                  <a:cubicBezTo>
                    <a:pt x="52" y="150"/>
                    <a:pt x="52" y="150"/>
                    <a:pt x="52" y="150"/>
                  </a:cubicBezTo>
                  <a:cubicBezTo>
                    <a:pt x="14" y="150"/>
                    <a:pt x="14" y="150"/>
                    <a:pt x="14" y="150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150"/>
                    <a:pt x="52" y="150"/>
                    <a:pt x="52" y="150"/>
                  </a:cubicBezTo>
                  <a:close/>
                  <a:moveTo>
                    <a:pt x="99" y="150"/>
                  </a:moveTo>
                  <a:cubicBezTo>
                    <a:pt x="99" y="150"/>
                    <a:pt x="99" y="150"/>
                    <a:pt x="99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9" y="150"/>
                    <a:pt x="99" y="150"/>
                    <a:pt x="99" y="150"/>
                  </a:cubicBezTo>
                  <a:close/>
                  <a:moveTo>
                    <a:pt x="147" y="149"/>
                  </a:moveTo>
                  <a:cubicBezTo>
                    <a:pt x="147" y="149"/>
                    <a:pt x="147" y="149"/>
                    <a:pt x="147" y="149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48" y="16"/>
                    <a:pt x="148" y="16"/>
                    <a:pt x="148" y="16"/>
                  </a:cubicBezTo>
                  <a:cubicBezTo>
                    <a:pt x="181" y="139"/>
                    <a:pt x="181" y="139"/>
                    <a:pt x="181" y="139"/>
                  </a:cubicBezTo>
                  <a:cubicBezTo>
                    <a:pt x="147" y="149"/>
                    <a:pt x="147" y="149"/>
                    <a:pt x="147" y="149"/>
                  </a:cubicBezTo>
                  <a:close/>
                  <a:moveTo>
                    <a:pt x="23" y="133"/>
                  </a:moveTo>
                  <a:cubicBezTo>
                    <a:pt x="23" y="133"/>
                    <a:pt x="23" y="133"/>
                    <a:pt x="23" y="133"/>
                  </a:cubicBezTo>
                  <a:cubicBezTo>
                    <a:pt x="23" y="133"/>
                    <a:pt x="23" y="133"/>
                    <a:pt x="23" y="133"/>
                  </a:cubicBezTo>
                  <a:cubicBezTo>
                    <a:pt x="26" y="136"/>
                    <a:pt x="29" y="137"/>
                    <a:pt x="33" y="137"/>
                  </a:cubicBezTo>
                  <a:cubicBezTo>
                    <a:pt x="37" y="137"/>
                    <a:pt x="40" y="136"/>
                    <a:pt x="42" y="134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45" y="131"/>
                    <a:pt x="47" y="127"/>
                    <a:pt x="47" y="124"/>
                  </a:cubicBezTo>
                  <a:cubicBezTo>
                    <a:pt x="47" y="120"/>
                    <a:pt x="45" y="116"/>
                    <a:pt x="43" y="114"/>
                  </a:cubicBezTo>
                  <a:cubicBezTo>
                    <a:pt x="42" y="114"/>
                    <a:pt x="42" y="114"/>
                    <a:pt x="42" y="114"/>
                  </a:cubicBezTo>
                  <a:cubicBezTo>
                    <a:pt x="40" y="112"/>
                    <a:pt x="37" y="110"/>
                    <a:pt x="33" y="110"/>
                  </a:cubicBezTo>
                  <a:cubicBezTo>
                    <a:pt x="29" y="110"/>
                    <a:pt x="26" y="112"/>
                    <a:pt x="23" y="114"/>
                  </a:cubicBezTo>
                  <a:cubicBezTo>
                    <a:pt x="21" y="116"/>
                    <a:pt x="19" y="120"/>
                    <a:pt x="19" y="124"/>
                  </a:cubicBezTo>
                  <a:cubicBezTo>
                    <a:pt x="19" y="127"/>
                    <a:pt x="21" y="131"/>
                    <a:pt x="23" y="133"/>
                  </a:cubicBezTo>
                  <a:close/>
                  <a:moveTo>
                    <a:pt x="29" y="120"/>
                  </a:moveTo>
                  <a:cubicBezTo>
                    <a:pt x="29" y="120"/>
                    <a:pt x="29" y="120"/>
                    <a:pt x="29" y="120"/>
                  </a:cubicBezTo>
                  <a:cubicBezTo>
                    <a:pt x="30" y="119"/>
                    <a:pt x="31" y="118"/>
                    <a:pt x="33" y="118"/>
                  </a:cubicBezTo>
                  <a:cubicBezTo>
                    <a:pt x="34" y="118"/>
                    <a:pt x="36" y="119"/>
                    <a:pt x="37" y="120"/>
                  </a:cubicBezTo>
                  <a:cubicBezTo>
                    <a:pt x="37" y="120"/>
                    <a:pt x="37" y="120"/>
                    <a:pt x="37" y="120"/>
                  </a:cubicBezTo>
                  <a:cubicBezTo>
                    <a:pt x="38" y="121"/>
                    <a:pt x="38" y="122"/>
                    <a:pt x="38" y="124"/>
                  </a:cubicBezTo>
                  <a:cubicBezTo>
                    <a:pt x="38" y="125"/>
                    <a:pt x="38" y="127"/>
                    <a:pt x="37" y="128"/>
                  </a:cubicBezTo>
                  <a:cubicBezTo>
                    <a:pt x="36" y="129"/>
                    <a:pt x="34" y="129"/>
                    <a:pt x="33" y="129"/>
                  </a:cubicBezTo>
                  <a:cubicBezTo>
                    <a:pt x="31" y="129"/>
                    <a:pt x="30" y="129"/>
                    <a:pt x="29" y="128"/>
                  </a:cubicBezTo>
                  <a:cubicBezTo>
                    <a:pt x="29" y="127"/>
                    <a:pt x="29" y="127"/>
                    <a:pt x="29" y="127"/>
                  </a:cubicBezTo>
                  <a:cubicBezTo>
                    <a:pt x="28" y="126"/>
                    <a:pt x="27" y="125"/>
                    <a:pt x="27" y="124"/>
                  </a:cubicBezTo>
                  <a:cubicBezTo>
                    <a:pt x="27" y="122"/>
                    <a:pt x="28" y="121"/>
                    <a:pt x="29" y="120"/>
                  </a:cubicBezTo>
                  <a:close/>
                  <a:moveTo>
                    <a:pt x="32" y="91"/>
                  </a:moveTo>
                  <a:cubicBezTo>
                    <a:pt x="32" y="91"/>
                    <a:pt x="32" y="91"/>
                    <a:pt x="32" y="91"/>
                  </a:cubicBezTo>
                  <a:cubicBezTo>
                    <a:pt x="34" y="91"/>
                    <a:pt x="36" y="89"/>
                    <a:pt x="36" y="87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5"/>
                    <a:pt x="34" y="34"/>
                    <a:pt x="32" y="34"/>
                  </a:cubicBezTo>
                  <a:cubicBezTo>
                    <a:pt x="29" y="34"/>
                    <a:pt x="28" y="35"/>
                    <a:pt x="28" y="38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9"/>
                    <a:pt x="29" y="91"/>
                    <a:pt x="32" y="91"/>
                  </a:cubicBezTo>
                  <a:close/>
                  <a:moveTo>
                    <a:pt x="134" y="31"/>
                  </a:moveTo>
                  <a:cubicBezTo>
                    <a:pt x="134" y="31"/>
                    <a:pt x="134" y="31"/>
                    <a:pt x="134" y="31"/>
                  </a:cubicBezTo>
                  <a:cubicBezTo>
                    <a:pt x="132" y="32"/>
                    <a:pt x="131" y="34"/>
                    <a:pt x="131" y="36"/>
                  </a:cubicBezTo>
                  <a:cubicBezTo>
                    <a:pt x="144" y="84"/>
                    <a:pt x="144" y="84"/>
                    <a:pt x="144" y="84"/>
                  </a:cubicBezTo>
                  <a:cubicBezTo>
                    <a:pt x="144" y="86"/>
                    <a:pt x="146" y="87"/>
                    <a:pt x="149" y="86"/>
                  </a:cubicBezTo>
                  <a:cubicBezTo>
                    <a:pt x="151" y="86"/>
                    <a:pt x="152" y="84"/>
                    <a:pt x="152" y="82"/>
                  </a:cubicBezTo>
                  <a:cubicBezTo>
                    <a:pt x="139" y="34"/>
                    <a:pt x="139" y="34"/>
                    <a:pt x="139" y="34"/>
                  </a:cubicBezTo>
                  <a:cubicBezTo>
                    <a:pt x="138" y="32"/>
                    <a:pt x="136" y="31"/>
                    <a:pt x="134" y="31"/>
                  </a:cubicBezTo>
                  <a:close/>
                  <a:moveTo>
                    <a:pt x="69" y="133"/>
                  </a:moveTo>
                  <a:cubicBezTo>
                    <a:pt x="69" y="133"/>
                    <a:pt x="69" y="133"/>
                    <a:pt x="69" y="133"/>
                  </a:cubicBezTo>
                  <a:cubicBezTo>
                    <a:pt x="69" y="133"/>
                    <a:pt x="69" y="133"/>
                    <a:pt x="69" y="133"/>
                  </a:cubicBezTo>
                  <a:cubicBezTo>
                    <a:pt x="71" y="136"/>
                    <a:pt x="75" y="137"/>
                    <a:pt x="79" y="137"/>
                  </a:cubicBezTo>
                  <a:cubicBezTo>
                    <a:pt x="82" y="137"/>
                    <a:pt x="86" y="136"/>
                    <a:pt x="88" y="134"/>
                  </a:cubicBezTo>
                  <a:cubicBezTo>
                    <a:pt x="88" y="133"/>
                    <a:pt x="88" y="133"/>
                    <a:pt x="88" y="133"/>
                  </a:cubicBezTo>
                  <a:cubicBezTo>
                    <a:pt x="91" y="131"/>
                    <a:pt x="92" y="127"/>
                    <a:pt x="92" y="124"/>
                  </a:cubicBezTo>
                  <a:cubicBezTo>
                    <a:pt x="92" y="120"/>
                    <a:pt x="91" y="116"/>
                    <a:pt x="88" y="114"/>
                  </a:cubicBezTo>
                  <a:cubicBezTo>
                    <a:pt x="86" y="112"/>
                    <a:pt x="82" y="110"/>
                    <a:pt x="79" y="110"/>
                  </a:cubicBezTo>
                  <a:cubicBezTo>
                    <a:pt x="75" y="110"/>
                    <a:pt x="71" y="112"/>
                    <a:pt x="69" y="114"/>
                  </a:cubicBezTo>
                  <a:cubicBezTo>
                    <a:pt x="69" y="114"/>
                    <a:pt x="69" y="114"/>
                    <a:pt x="69" y="114"/>
                  </a:cubicBezTo>
                  <a:cubicBezTo>
                    <a:pt x="66" y="116"/>
                    <a:pt x="65" y="120"/>
                    <a:pt x="65" y="124"/>
                  </a:cubicBezTo>
                  <a:cubicBezTo>
                    <a:pt x="65" y="127"/>
                    <a:pt x="66" y="131"/>
                    <a:pt x="69" y="133"/>
                  </a:cubicBezTo>
                  <a:close/>
                  <a:moveTo>
                    <a:pt x="75" y="120"/>
                  </a:moveTo>
                  <a:cubicBezTo>
                    <a:pt x="75" y="120"/>
                    <a:pt x="75" y="120"/>
                    <a:pt x="75" y="120"/>
                  </a:cubicBezTo>
                  <a:cubicBezTo>
                    <a:pt x="76" y="119"/>
                    <a:pt x="77" y="118"/>
                    <a:pt x="79" y="118"/>
                  </a:cubicBezTo>
                  <a:cubicBezTo>
                    <a:pt x="80" y="118"/>
                    <a:pt x="81" y="119"/>
                    <a:pt x="82" y="120"/>
                  </a:cubicBezTo>
                  <a:cubicBezTo>
                    <a:pt x="82" y="120"/>
                    <a:pt x="82" y="120"/>
                    <a:pt x="82" y="120"/>
                  </a:cubicBezTo>
                  <a:cubicBezTo>
                    <a:pt x="84" y="121"/>
                    <a:pt x="84" y="122"/>
                    <a:pt x="84" y="124"/>
                  </a:cubicBezTo>
                  <a:cubicBezTo>
                    <a:pt x="84" y="125"/>
                    <a:pt x="84" y="127"/>
                    <a:pt x="83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1" y="129"/>
                    <a:pt x="80" y="129"/>
                    <a:pt x="79" y="129"/>
                  </a:cubicBezTo>
                  <a:cubicBezTo>
                    <a:pt x="77" y="129"/>
                    <a:pt x="76" y="129"/>
                    <a:pt x="75" y="128"/>
                  </a:cubicBezTo>
                  <a:cubicBezTo>
                    <a:pt x="74" y="127"/>
                    <a:pt x="74" y="127"/>
                    <a:pt x="74" y="127"/>
                  </a:cubicBezTo>
                  <a:cubicBezTo>
                    <a:pt x="74" y="126"/>
                    <a:pt x="73" y="125"/>
                    <a:pt x="73" y="124"/>
                  </a:cubicBezTo>
                  <a:cubicBezTo>
                    <a:pt x="73" y="122"/>
                    <a:pt x="74" y="121"/>
                    <a:pt x="75" y="120"/>
                  </a:cubicBezTo>
                  <a:close/>
                  <a:moveTo>
                    <a:pt x="81" y="91"/>
                  </a:moveTo>
                  <a:cubicBezTo>
                    <a:pt x="81" y="91"/>
                    <a:pt x="81" y="91"/>
                    <a:pt x="81" y="91"/>
                  </a:cubicBezTo>
                  <a:cubicBezTo>
                    <a:pt x="83" y="91"/>
                    <a:pt x="85" y="89"/>
                    <a:pt x="85" y="87"/>
                  </a:cubicBezTo>
                  <a:cubicBezTo>
                    <a:pt x="85" y="38"/>
                    <a:pt x="85" y="38"/>
                    <a:pt x="85" y="38"/>
                  </a:cubicBezTo>
                  <a:cubicBezTo>
                    <a:pt x="85" y="35"/>
                    <a:pt x="83" y="34"/>
                    <a:pt x="81" y="34"/>
                  </a:cubicBezTo>
                  <a:cubicBezTo>
                    <a:pt x="79" y="34"/>
                    <a:pt x="77" y="35"/>
                    <a:pt x="77" y="3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9"/>
                    <a:pt x="79" y="91"/>
                    <a:pt x="81" y="91"/>
                  </a:cubicBezTo>
                  <a:close/>
                  <a:moveTo>
                    <a:pt x="148" y="109"/>
                  </a:moveTo>
                  <a:cubicBezTo>
                    <a:pt x="148" y="109"/>
                    <a:pt x="148" y="109"/>
                    <a:pt x="148" y="109"/>
                  </a:cubicBezTo>
                  <a:cubicBezTo>
                    <a:pt x="146" y="111"/>
                    <a:pt x="144" y="114"/>
                    <a:pt x="144" y="118"/>
                  </a:cubicBezTo>
                  <a:cubicBezTo>
                    <a:pt x="144" y="122"/>
                    <a:pt x="146" y="125"/>
                    <a:pt x="148" y="128"/>
                  </a:cubicBezTo>
                  <a:cubicBezTo>
                    <a:pt x="148" y="128"/>
                    <a:pt x="148" y="128"/>
                    <a:pt x="148" y="128"/>
                  </a:cubicBezTo>
                  <a:cubicBezTo>
                    <a:pt x="151" y="130"/>
                    <a:pt x="154" y="132"/>
                    <a:pt x="158" y="132"/>
                  </a:cubicBezTo>
                  <a:cubicBezTo>
                    <a:pt x="161" y="132"/>
                    <a:pt x="165" y="131"/>
                    <a:pt x="167" y="128"/>
                  </a:cubicBezTo>
                  <a:cubicBezTo>
                    <a:pt x="167" y="128"/>
                    <a:pt x="167" y="128"/>
                    <a:pt x="167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70" y="126"/>
                    <a:pt x="171" y="122"/>
                    <a:pt x="171" y="118"/>
                  </a:cubicBezTo>
                  <a:cubicBezTo>
                    <a:pt x="171" y="114"/>
                    <a:pt x="170" y="111"/>
                    <a:pt x="168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5" y="106"/>
                    <a:pt x="162" y="105"/>
                    <a:pt x="158" y="105"/>
                  </a:cubicBezTo>
                  <a:cubicBezTo>
                    <a:pt x="154" y="105"/>
                    <a:pt x="151" y="106"/>
                    <a:pt x="148" y="109"/>
                  </a:cubicBezTo>
                  <a:close/>
                  <a:moveTo>
                    <a:pt x="154" y="114"/>
                  </a:moveTo>
                  <a:cubicBezTo>
                    <a:pt x="154" y="114"/>
                    <a:pt x="154" y="114"/>
                    <a:pt x="154" y="114"/>
                  </a:cubicBezTo>
                  <a:cubicBezTo>
                    <a:pt x="155" y="113"/>
                    <a:pt x="156" y="113"/>
                    <a:pt x="158" y="113"/>
                  </a:cubicBezTo>
                  <a:cubicBezTo>
                    <a:pt x="159" y="113"/>
                    <a:pt x="161" y="113"/>
                    <a:pt x="162" y="114"/>
                  </a:cubicBezTo>
                  <a:cubicBezTo>
                    <a:pt x="163" y="115"/>
                    <a:pt x="163" y="117"/>
                    <a:pt x="163" y="118"/>
                  </a:cubicBezTo>
                  <a:cubicBezTo>
                    <a:pt x="163" y="120"/>
                    <a:pt x="163" y="121"/>
                    <a:pt x="162" y="122"/>
                  </a:cubicBezTo>
                  <a:cubicBezTo>
                    <a:pt x="161" y="123"/>
                    <a:pt x="159" y="124"/>
                    <a:pt x="158" y="124"/>
                  </a:cubicBezTo>
                  <a:cubicBezTo>
                    <a:pt x="156" y="124"/>
                    <a:pt x="155" y="123"/>
                    <a:pt x="154" y="122"/>
                  </a:cubicBezTo>
                  <a:cubicBezTo>
                    <a:pt x="154" y="122"/>
                    <a:pt x="154" y="122"/>
                    <a:pt x="154" y="122"/>
                  </a:cubicBezTo>
                  <a:cubicBezTo>
                    <a:pt x="153" y="121"/>
                    <a:pt x="152" y="120"/>
                    <a:pt x="152" y="118"/>
                  </a:cubicBezTo>
                  <a:cubicBezTo>
                    <a:pt x="152" y="117"/>
                    <a:pt x="153" y="115"/>
                    <a:pt x="154" y="1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886154" y="1213384"/>
            <a:ext cx="708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grpSp>
        <p:nvGrpSpPr>
          <p:cNvPr id="70" name="组合 69"/>
          <p:cNvGrpSpPr/>
          <p:nvPr/>
        </p:nvGrpSpPr>
        <p:grpSpPr>
          <a:xfrm>
            <a:off x="1125331" y="1849422"/>
            <a:ext cx="6938405" cy="589289"/>
            <a:chOff x="980146" y="1865185"/>
            <a:chExt cx="6938405" cy="589289"/>
          </a:xfrm>
        </p:grpSpPr>
        <p:sp>
          <p:nvSpPr>
            <p:cNvPr id="12" name="矩形: 对角圆角 11"/>
            <p:cNvSpPr/>
            <p:nvPr/>
          </p:nvSpPr>
          <p:spPr>
            <a:xfrm>
              <a:off x="980146" y="1915232"/>
              <a:ext cx="6685363" cy="504056"/>
            </a:xfrm>
            <a:prstGeom prst="round2Diag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618503" y="1972489"/>
              <a:ext cx="52565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基于辐射时间序列法的建筑冷热电负荷求解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7342486" y="1865185"/>
              <a:ext cx="576065" cy="589289"/>
              <a:chOff x="5076056" y="2775079"/>
              <a:chExt cx="504056" cy="504056"/>
            </a:xfrm>
          </p:grpSpPr>
          <p:sp>
            <p:nvSpPr>
              <p:cNvPr id="27" name="流程图: 接点 26"/>
              <p:cNvSpPr/>
              <p:nvPr/>
            </p:nvSpPr>
            <p:spPr>
              <a:xfrm>
                <a:off x="5076056" y="2775079"/>
                <a:ext cx="504056" cy="504056"/>
              </a:xfrm>
              <a:prstGeom prst="flowChartConnector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Freeform 9"/>
              <p:cNvSpPr>
                <a:spLocks noEditPoints="1"/>
              </p:cNvSpPr>
              <p:nvPr/>
            </p:nvSpPr>
            <p:spPr bwMode="auto">
              <a:xfrm>
                <a:off x="5138860" y="2909810"/>
                <a:ext cx="380484" cy="247914"/>
              </a:xfrm>
              <a:custGeom>
                <a:avLst/>
                <a:gdLst>
                  <a:gd name="T0" fmla="*/ 58 w 215"/>
                  <a:gd name="T1" fmla="*/ 83 h 140"/>
                  <a:gd name="T2" fmla="*/ 58 w 215"/>
                  <a:gd name="T3" fmla="*/ 91 h 140"/>
                  <a:gd name="T4" fmla="*/ 161 w 215"/>
                  <a:gd name="T5" fmla="*/ 87 h 140"/>
                  <a:gd name="T6" fmla="*/ 58 w 215"/>
                  <a:gd name="T7" fmla="*/ 73 h 140"/>
                  <a:gd name="T8" fmla="*/ 98 w 215"/>
                  <a:gd name="T9" fmla="*/ 73 h 140"/>
                  <a:gd name="T10" fmla="*/ 102 w 215"/>
                  <a:gd name="T11" fmla="*/ 34 h 140"/>
                  <a:gd name="T12" fmla="*/ 58 w 215"/>
                  <a:gd name="T13" fmla="*/ 30 h 140"/>
                  <a:gd name="T14" fmla="*/ 54 w 215"/>
                  <a:gd name="T15" fmla="*/ 69 h 140"/>
                  <a:gd name="T16" fmla="*/ 63 w 215"/>
                  <a:gd name="T17" fmla="*/ 38 h 140"/>
                  <a:gd name="T18" fmla="*/ 94 w 215"/>
                  <a:gd name="T19" fmla="*/ 38 h 140"/>
                  <a:gd name="T20" fmla="*/ 63 w 215"/>
                  <a:gd name="T21" fmla="*/ 65 h 140"/>
                  <a:gd name="T22" fmla="*/ 27 w 215"/>
                  <a:gd name="T23" fmla="*/ 121 h 140"/>
                  <a:gd name="T24" fmla="*/ 189 w 215"/>
                  <a:gd name="T25" fmla="*/ 121 h 140"/>
                  <a:gd name="T26" fmla="*/ 196 w 215"/>
                  <a:gd name="T27" fmla="*/ 7 h 140"/>
                  <a:gd name="T28" fmla="*/ 27 w 215"/>
                  <a:gd name="T29" fmla="*/ 0 h 140"/>
                  <a:gd name="T30" fmla="*/ 20 w 215"/>
                  <a:gd name="T31" fmla="*/ 114 h 140"/>
                  <a:gd name="T32" fmla="*/ 33 w 215"/>
                  <a:gd name="T33" fmla="*/ 13 h 140"/>
                  <a:gd name="T34" fmla="*/ 182 w 215"/>
                  <a:gd name="T35" fmla="*/ 13 h 140"/>
                  <a:gd name="T36" fmla="*/ 33 w 215"/>
                  <a:gd name="T37" fmla="*/ 107 h 140"/>
                  <a:gd name="T38" fmla="*/ 157 w 215"/>
                  <a:gd name="T39" fmla="*/ 48 h 140"/>
                  <a:gd name="T40" fmla="*/ 111 w 215"/>
                  <a:gd name="T41" fmla="*/ 48 h 140"/>
                  <a:gd name="T42" fmla="*/ 111 w 215"/>
                  <a:gd name="T43" fmla="*/ 56 h 140"/>
                  <a:gd name="T44" fmla="*/ 161 w 215"/>
                  <a:gd name="T45" fmla="*/ 52 h 140"/>
                  <a:gd name="T46" fmla="*/ 157 w 215"/>
                  <a:gd name="T47" fmla="*/ 65 h 140"/>
                  <a:gd name="T48" fmla="*/ 111 w 215"/>
                  <a:gd name="T49" fmla="*/ 65 h 140"/>
                  <a:gd name="T50" fmla="*/ 111 w 215"/>
                  <a:gd name="T51" fmla="*/ 73 h 140"/>
                  <a:gd name="T52" fmla="*/ 161 w 215"/>
                  <a:gd name="T53" fmla="*/ 69 h 140"/>
                  <a:gd name="T54" fmla="*/ 157 w 215"/>
                  <a:gd name="T55" fmla="*/ 30 h 140"/>
                  <a:gd name="T56" fmla="*/ 111 w 215"/>
                  <a:gd name="T57" fmla="*/ 30 h 140"/>
                  <a:gd name="T58" fmla="*/ 111 w 215"/>
                  <a:gd name="T59" fmla="*/ 38 h 140"/>
                  <a:gd name="T60" fmla="*/ 161 w 215"/>
                  <a:gd name="T61" fmla="*/ 34 h 140"/>
                  <a:gd name="T62" fmla="*/ 209 w 215"/>
                  <a:gd name="T63" fmla="*/ 127 h 140"/>
                  <a:gd name="T64" fmla="*/ 7 w 215"/>
                  <a:gd name="T65" fmla="*/ 127 h 140"/>
                  <a:gd name="T66" fmla="*/ 7 w 215"/>
                  <a:gd name="T67" fmla="*/ 140 h 140"/>
                  <a:gd name="T68" fmla="*/ 215 w 215"/>
                  <a:gd name="T69" fmla="*/ 13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15" h="140">
                    <a:moveTo>
                      <a:pt x="157" y="83"/>
                    </a:moveTo>
                    <a:cubicBezTo>
                      <a:pt x="58" y="83"/>
                      <a:pt x="58" y="83"/>
                      <a:pt x="58" y="83"/>
                    </a:cubicBezTo>
                    <a:cubicBezTo>
                      <a:pt x="56" y="83"/>
                      <a:pt x="54" y="84"/>
                      <a:pt x="54" y="87"/>
                    </a:cubicBezTo>
                    <a:cubicBezTo>
                      <a:pt x="54" y="89"/>
                      <a:pt x="56" y="91"/>
                      <a:pt x="58" y="91"/>
                    </a:cubicBezTo>
                    <a:cubicBezTo>
                      <a:pt x="157" y="91"/>
                      <a:pt x="157" y="91"/>
                      <a:pt x="157" y="91"/>
                    </a:cubicBezTo>
                    <a:cubicBezTo>
                      <a:pt x="159" y="91"/>
                      <a:pt x="161" y="89"/>
                      <a:pt x="161" y="87"/>
                    </a:cubicBezTo>
                    <a:cubicBezTo>
                      <a:pt x="161" y="84"/>
                      <a:pt x="159" y="83"/>
                      <a:pt x="157" y="83"/>
                    </a:cubicBezTo>
                    <a:close/>
                    <a:moveTo>
                      <a:pt x="58" y="73"/>
                    </a:moveTo>
                    <a:cubicBezTo>
                      <a:pt x="58" y="73"/>
                      <a:pt x="58" y="73"/>
                      <a:pt x="58" y="73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73"/>
                      <a:pt x="102" y="71"/>
                      <a:pt x="102" y="69"/>
                    </a:cubicBezTo>
                    <a:cubicBezTo>
                      <a:pt x="102" y="34"/>
                      <a:pt x="102" y="34"/>
                      <a:pt x="102" y="34"/>
                    </a:cubicBezTo>
                    <a:cubicBezTo>
                      <a:pt x="102" y="32"/>
                      <a:pt x="100" y="30"/>
                      <a:pt x="98" y="30"/>
                    </a:cubicBezTo>
                    <a:cubicBezTo>
                      <a:pt x="58" y="30"/>
                      <a:pt x="58" y="30"/>
                      <a:pt x="58" y="30"/>
                    </a:cubicBezTo>
                    <a:cubicBezTo>
                      <a:pt x="56" y="30"/>
                      <a:pt x="54" y="32"/>
                      <a:pt x="54" y="34"/>
                    </a:cubicBezTo>
                    <a:cubicBezTo>
                      <a:pt x="54" y="69"/>
                      <a:pt x="54" y="69"/>
                      <a:pt x="54" y="69"/>
                    </a:cubicBezTo>
                    <a:cubicBezTo>
                      <a:pt x="54" y="71"/>
                      <a:pt x="56" y="73"/>
                      <a:pt x="58" y="73"/>
                    </a:cubicBezTo>
                    <a:close/>
                    <a:moveTo>
                      <a:pt x="63" y="38"/>
                    </a:moveTo>
                    <a:cubicBezTo>
                      <a:pt x="63" y="38"/>
                      <a:pt x="63" y="38"/>
                      <a:pt x="63" y="38"/>
                    </a:cubicBezTo>
                    <a:cubicBezTo>
                      <a:pt x="94" y="38"/>
                      <a:pt x="94" y="38"/>
                      <a:pt x="94" y="38"/>
                    </a:cubicBezTo>
                    <a:cubicBezTo>
                      <a:pt x="94" y="65"/>
                      <a:pt x="94" y="65"/>
                      <a:pt x="94" y="65"/>
                    </a:cubicBezTo>
                    <a:cubicBezTo>
                      <a:pt x="63" y="65"/>
                      <a:pt x="63" y="65"/>
                      <a:pt x="63" y="65"/>
                    </a:cubicBezTo>
                    <a:cubicBezTo>
                      <a:pt x="63" y="38"/>
                      <a:pt x="63" y="38"/>
                      <a:pt x="63" y="38"/>
                    </a:cubicBezTo>
                    <a:close/>
                    <a:moveTo>
                      <a:pt x="27" y="121"/>
                    </a:moveTo>
                    <a:cubicBezTo>
                      <a:pt x="27" y="121"/>
                      <a:pt x="27" y="121"/>
                      <a:pt x="27" y="121"/>
                    </a:cubicBezTo>
                    <a:cubicBezTo>
                      <a:pt x="189" y="121"/>
                      <a:pt x="189" y="121"/>
                      <a:pt x="189" y="121"/>
                    </a:cubicBezTo>
                    <a:cubicBezTo>
                      <a:pt x="193" y="121"/>
                      <a:pt x="196" y="118"/>
                      <a:pt x="196" y="114"/>
                    </a:cubicBezTo>
                    <a:cubicBezTo>
                      <a:pt x="196" y="7"/>
                      <a:pt x="196" y="7"/>
                      <a:pt x="196" y="7"/>
                    </a:cubicBezTo>
                    <a:cubicBezTo>
                      <a:pt x="196" y="3"/>
                      <a:pt x="193" y="0"/>
                      <a:pt x="189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3" y="0"/>
                      <a:pt x="20" y="3"/>
                      <a:pt x="20" y="7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0" y="118"/>
                      <a:pt x="23" y="121"/>
                      <a:pt x="27" y="121"/>
                    </a:cubicBezTo>
                    <a:close/>
                    <a:moveTo>
                      <a:pt x="33" y="13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182" y="13"/>
                      <a:pt x="182" y="13"/>
                      <a:pt x="182" y="13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33" y="107"/>
                      <a:pt x="33" y="107"/>
                      <a:pt x="33" y="107"/>
                    </a:cubicBezTo>
                    <a:cubicBezTo>
                      <a:pt x="33" y="13"/>
                      <a:pt x="33" y="13"/>
                      <a:pt x="33" y="13"/>
                    </a:cubicBezTo>
                    <a:close/>
                    <a:moveTo>
                      <a:pt x="157" y="48"/>
                    </a:moveTo>
                    <a:cubicBezTo>
                      <a:pt x="157" y="48"/>
                      <a:pt x="157" y="48"/>
                      <a:pt x="157" y="48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08" y="48"/>
                      <a:pt x="107" y="49"/>
                      <a:pt x="107" y="52"/>
                    </a:cubicBezTo>
                    <a:cubicBezTo>
                      <a:pt x="107" y="54"/>
                      <a:pt x="108" y="56"/>
                      <a:pt x="111" y="56"/>
                    </a:cubicBezTo>
                    <a:cubicBezTo>
                      <a:pt x="157" y="56"/>
                      <a:pt x="157" y="56"/>
                      <a:pt x="157" y="56"/>
                    </a:cubicBezTo>
                    <a:cubicBezTo>
                      <a:pt x="159" y="56"/>
                      <a:pt x="161" y="54"/>
                      <a:pt x="161" y="52"/>
                    </a:cubicBezTo>
                    <a:cubicBezTo>
                      <a:pt x="161" y="49"/>
                      <a:pt x="159" y="48"/>
                      <a:pt x="157" y="48"/>
                    </a:cubicBezTo>
                    <a:close/>
                    <a:moveTo>
                      <a:pt x="157" y="65"/>
                    </a:moveTo>
                    <a:cubicBezTo>
                      <a:pt x="157" y="65"/>
                      <a:pt x="157" y="65"/>
                      <a:pt x="157" y="65"/>
                    </a:cubicBezTo>
                    <a:cubicBezTo>
                      <a:pt x="111" y="65"/>
                      <a:pt x="111" y="65"/>
                      <a:pt x="111" y="65"/>
                    </a:cubicBezTo>
                    <a:cubicBezTo>
                      <a:pt x="108" y="65"/>
                      <a:pt x="107" y="67"/>
                      <a:pt x="107" y="69"/>
                    </a:cubicBezTo>
                    <a:cubicBezTo>
                      <a:pt x="107" y="71"/>
                      <a:pt x="108" y="73"/>
                      <a:pt x="111" y="73"/>
                    </a:cubicBezTo>
                    <a:cubicBezTo>
                      <a:pt x="157" y="73"/>
                      <a:pt x="157" y="73"/>
                      <a:pt x="157" y="73"/>
                    </a:cubicBezTo>
                    <a:cubicBezTo>
                      <a:pt x="159" y="73"/>
                      <a:pt x="161" y="71"/>
                      <a:pt x="161" y="69"/>
                    </a:cubicBezTo>
                    <a:cubicBezTo>
                      <a:pt x="161" y="67"/>
                      <a:pt x="159" y="65"/>
                      <a:pt x="157" y="65"/>
                    </a:cubicBezTo>
                    <a:close/>
                    <a:moveTo>
                      <a:pt x="157" y="30"/>
                    </a:moveTo>
                    <a:cubicBezTo>
                      <a:pt x="157" y="30"/>
                      <a:pt x="157" y="30"/>
                      <a:pt x="157" y="30"/>
                    </a:cubicBezTo>
                    <a:cubicBezTo>
                      <a:pt x="111" y="30"/>
                      <a:pt x="111" y="30"/>
                      <a:pt x="111" y="30"/>
                    </a:cubicBezTo>
                    <a:cubicBezTo>
                      <a:pt x="108" y="30"/>
                      <a:pt x="107" y="32"/>
                      <a:pt x="107" y="34"/>
                    </a:cubicBezTo>
                    <a:cubicBezTo>
                      <a:pt x="107" y="37"/>
                      <a:pt x="108" y="38"/>
                      <a:pt x="111" y="38"/>
                    </a:cubicBezTo>
                    <a:cubicBezTo>
                      <a:pt x="157" y="38"/>
                      <a:pt x="157" y="38"/>
                      <a:pt x="157" y="38"/>
                    </a:cubicBezTo>
                    <a:cubicBezTo>
                      <a:pt x="159" y="38"/>
                      <a:pt x="161" y="37"/>
                      <a:pt x="161" y="34"/>
                    </a:cubicBezTo>
                    <a:cubicBezTo>
                      <a:pt x="161" y="32"/>
                      <a:pt x="159" y="30"/>
                      <a:pt x="157" y="30"/>
                    </a:cubicBezTo>
                    <a:close/>
                    <a:moveTo>
                      <a:pt x="209" y="127"/>
                    </a:moveTo>
                    <a:cubicBezTo>
                      <a:pt x="209" y="127"/>
                      <a:pt x="209" y="127"/>
                      <a:pt x="209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3" y="127"/>
                      <a:pt x="0" y="130"/>
                      <a:pt x="0" y="134"/>
                    </a:cubicBezTo>
                    <a:cubicBezTo>
                      <a:pt x="0" y="137"/>
                      <a:pt x="3" y="140"/>
                      <a:pt x="7" y="140"/>
                    </a:cubicBezTo>
                    <a:cubicBezTo>
                      <a:pt x="209" y="140"/>
                      <a:pt x="209" y="140"/>
                      <a:pt x="209" y="140"/>
                    </a:cubicBezTo>
                    <a:cubicBezTo>
                      <a:pt x="212" y="140"/>
                      <a:pt x="215" y="137"/>
                      <a:pt x="215" y="134"/>
                    </a:cubicBezTo>
                    <a:cubicBezTo>
                      <a:pt x="215" y="130"/>
                      <a:pt x="212" y="127"/>
                      <a:pt x="209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5" name="TextBox 37"/>
          <p:cNvSpPr txBox="1"/>
          <p:nvPr/>
        </p:nvSpPr>
        <p:spPr>
          <a:xfrm>
            <a:off x="3351604" y="148605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n w="6350">
                  <a:noFill/>
                </a:ln>
                <a:solidFill>
                  <a:srgbClr val="0070C0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目   录</a:t>
            </a:r>
            <a:endParaRPr lang="en-US" altLang="zh-CN" sz="4000" b="1" dirty="0">
              <a:ln w="6350">
                <a:noFill/>
              </a:ln>
              <a:solidFill>
                <a:srgbClr val="0070C0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1721"/>
            <a:ext cx="3026962" cy="607205"/>
          </a:xfrm>
          <a:prstGeom prst="rect">
            <a:avLst/>
          </a:prstGeom>
        </p:spPr>
      </p:pic>
      <p:grpSp>
        <p:nvGrpSpPr>
          <p:cNvPr id="71" name="组合 70"/>
          <p:cNvGrpSpPr/>
          <p:nvPr/>
        </p:nvGrpSpPr>
        <p:grpSpPr>
          <a:xfrm>
            <a:off x="1101011" y="2609697"/>
            <a:ext cx="6972441" cy="589289"/>
            <a:chOff x="947206" y="2635489"/>
            <a:chExt cx="6972441" cy="589289"/>
          </a:xfrm>
        </p:grpSpPr>
        <p:sp>
          <p:nvSpPr>
            <p:cNvPr id="16" name="矩形: 对角圆角 15"/>
            <p:cNvSpPr/>
            <p:nvPr/>
          </p:nvSpPr>
          <p:spPr>
            <a:xfrm>
              <a:off x="961811" y="2673835"/>
              <a:ext cx="6703698" cy="504056"/>
            </a:xfrm>
            <a:prstGeom prst="round2Diag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47206" y="2740899"/>
              <a:ext cx="665353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太阳能耦合空气源热泵的多能互补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CCHP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系统建模与仿真</a:t>
              </a: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7343582" y="2635489"/>
              <a:ext cx="576065" cy="589289"/>
              <a:chOff x="5076056" y="2775079"/>
              <a:chExt cx="504056" cy="504056"/>
            </a:xfrm>
          </p:grpSpPr>
          <p:sp>
            <p:nvSpPr>
              <p:cNvPr id="64" name="流程图: 接点 63"/>
              <p:cNvSpPr/>
              <p:nvPr/>
            </p:nvSpPr>
            <p:spPr>
              <a:xfrm>
                <a:off x="5076056" y="2775079"/>
                <a:ext cx="504056" cy="504056"/>
              </a:xfrm>
              <a:prstGeom prst="flowChartConnector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Freeform 9"/>
              <p:cNvSpPr>
                <a:spLocks noEditPoints="1"/>
              </p:cNvSpPr>
              <p:nvPr/>
            </p:nvSpPr>
            <p:spPr bwMode="auto">
              <a:xfrm>
                <a:off x="5138860" y="2909810"/>
                <a:ext cx="380484" cy="247914"/>
              </a:xfrm>
              <a:custGeom>
                <a:avLst/>
                <a:gdLst>
                  <a:gd name="T0" fmla="*/ 58 w 215"/>
                  <a:gd name="T1" fmla="*/ 83 h 140"/>
                  <a:gd name="T2" fmla="*/ 58 w 215"/>
                  <a:gd name="T3" fmla="*/ 91 h 140"/>
                  <a:gd name="T4" fmla="*/ 161 w 215"/>
                  <a:gd name="T5" fmla="*/ 87 h 140"/>
                  <a:gd name="T6" fmla="*/ 58 w 215"/>
                  <a:gd name="T7" fmla="*/ 73 h 140"/>
                  <a:gd name="T8" fmla="*/ 98 w 215"/>
                  <a:gd name="T9" fmla="*/ 73 h 140"/>
                  <a:gd name="T10" fmla="*/ 102 w 215"/>
                  <a:gd name="T11" fmla="*/ 34 h 140"/>
                  <a:gd name="T12" fmla="*/ 58 w 215"/>
                  <a:gd name="T13" fmla="*/ 30 h 140"/>
                  <a:gd name="T14" fmla="*/ 54 w 215"/>
                  <a:gd name="T15" fmla="*/ 69 h 140"/>
                  <a:gd name="T16" fmla="*/ 63 w 215"/>
                  <a:gd name="T17" fmla="*/ 38 h 140"/>
                  <a:gd name="T18" fmla="*/ 94 w 215"/>
                  <a:gd name="T19" fmla="*/ 38 h 140"/>
                  <a:gd name="T20" fmla="*/ 63 w 215"/>
                  <a:gd name="T21" fmla="*/ 65 h 140"/>
                  <a:gd name="T22" fmla="*/ 27 w 215"/>
                  <a:gd name="T23" fmla="*/ 121 h 140"/>
                  <a:gd name="T24" fmla="*/ 189 w 215"/>
                  <a:gd name="T25" fmla="*/ 121 h 140"/>
                  <a:gd name="T26" fmla="*/ 196 w 215"/>
                  <a:gd name="T27" fmla="*/ 7 h 140"/>
                  <a:gd name="T28" fmla="*/ 27 w 215"/>
                  <a:gd name="T29" fmla="*/ 0 h 140"/>
                  <a:gd name="T30" fmla="*/ 20 w 215"/>
                  <a:gd name="T31" fmla="*/ 114 h 140"/>
                  <a:gd name="T32" fmla="*/ 33 w 215"/>
                  <a:gd name="T33" fmla="*/ 13 h 140"/>
                  <a:gd name="T34" fmla="*/ 182 w 215"/>
                  <a:gd name="T35" fmla="*/ 13 h 140"/>
                  <a:gd name="T36" fmla="*/ 33 w 215"/>
                  <a:gd name="T37" fmla="*/ 107 h 140"/>
                  <a:gd name="T38" fmla="*/ 157 w 215"/>
                  <a:gd name="T39" fmla="*/ 48 h 140"/>
                  <a:gd name="T40" fmla="*/ 111 w 215"/>
                  <a:gd name="T41" fmla="*/ 48 h 140"/>
                  <a:gd name="T42" fmla="*/ 111 w 215"/>
                  <a:gd name="T43" fmla="*/ 56 h 140"/>
                  <a:gd name="T44" fmla="*/ 161 w 215"/>
                  <a:gd name="T45" fmla="*/ 52 h 140"/>
                  <a:gd name="T46" fmla="*/ 157 w 215"/>
                  <a:gd name="T47" fmla="*/ 65 h 140"/>
                  <a:gd name="T48" fmla="*/ 111 w 215"/>
                  <a:gd name="T49" fmla="*/ 65 h 140"/>
                  <a:gd name="T50" fmla="*/ 111 w 215"/>
                  <a:gd name="T51" fmla="*/ 73 h 140"/>
                  <a:gd name="T52" fmla="*/ 161 w 215"/>
                  <a:gd name="T53" fmla="*/ 69 h 140"/>
                  <a:gd name="T54" fmla="*/ 157 w 215"/>
                  <a:gd name="T55" fmla="*/ 30 h 140"/>
                  <a:gd name="T56" fmla="*/ 111 w 215"/>
                  <a:gd name="T57" fmla="*/ 30 h 140"/>
                  <a:gd name="T58" fmla="*/ 111 w 215"/>
                  <a:gd name="T59" fmla="*/ 38 h 140"/>
                  <a:gd name="T60" fmla="*/ 161 w 215"/>
                  <a:gd name="T61" fmla="*/ 34 h 140"/>
                  <a:gd name="T62" fmla="*/ 209 w 215"/>
                  <a:gd name="T63" fmla="*/ 127 h 140"/>
                  <a:gd name="T64" fmla="*/ 7 w 215"/>
                  <a:gd name="T65" fmla="*/ 127 h 140"/>
                  <a:gd name="T66" fmla="*/ 7 w 215"/>
                  <a:gd name="T67" fmla="*/ 140 h 140"/>
                  <a:gd name="T68" fmla="*/ 215 w 215"/>
                  <a:gd name="T69" fmla="*/ 13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15" h="140">
                    <a:moveTo>
                      <a:pt x="157" y="83"/>
                    </a:moveTo>
                    <a:cubicBezTo>
                      <a:pt x="58" y="83"/>
                      <a:pt x="58" y="83"/>
                      <a:pt x="58" y="83"/>
                    </a:cubicBezTo>
                    <a:cubicBezTo>
                      <a:pt x="56" y="83"/>
                      <a:pt x="54" y="84"/>
                      <a:pt x="54" y="87"/>
                    </a:cubicBezTo>
                    <a:cubicBezTo>
                      <a:pt x="54" y="89"/>
                      <a:pt x="56" y="91"/>
                      <a:pt x="58" y="91"/>
                    </a:cubicBezTo>
                    <a:cubicBezTo>
                      <a:pt x="157" y="91"/>
                      <a:pt x="157" y="91"/>
                      <a:pt x="157" y="91"/>
                    </a:cubicBezTo>
                    <a:cubicBezTo>
                      <a:pt x="159" y="91"/>
                      <a:pt x="161" y="89"/>
                      <a:pt x="161" y="87"/>
                    </a:cubicBezTo>
                    <a:cubicBezTo>
                      <a:pt x="161" y="84"/>
                      <a:pt x="159" y="83"/>
                      <a:pt x="157" y="83"/>
                    </a:cubicBezTo>
                    <a:close/>
                    <a:moveTo>
                      <a:pt x="58" y="73"/>
                    </a:moveTo>
                    <a:cubicBezTo>
                      <a:pt x="58" y="73"/>
                      <a:pt x="58" y="73"/>
                      <a:pt x="58" y="73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73"/>
                      <a:pt x="102" y="71"/>
                      <a:pt x="102" y="69"/>
                    </a:cubicBezTo>
                    <a:cubicBezTo>
                      <a:pt x="102" y="34"/>
                      <a:pt x="102" y="34"/>
                      <a:pt x="102" y="34"/>
                    </a:cubicBezTo>
                    <a:cubicBezTo>
                      <a:pt x="102" y="32"/>
                      <a:pt x="100" y="30"/>
                      <a:pt x="98" y="30"/>
                    </a:cubicBezTo>
                    <a:cubicBezTo>
                      <a:pt x="58" y="30"/>
                      <a:pt x="58" y="30"/>
                      <a:pt x="58" y="30"/>
                    </a:cubicBezTo>
                    <a:cubicBezTo>
                      <a:pt x="56" y="30"/>
                      <a:pt x="54" y="32"/>
                      <a:pt x="54" y="34"/>
                    </a:cubicBezTo>
                    <a:cubicBezTo>
                      <a:pt x="54" y="69"/>
                      <a:pt x="54" y="69"/>
                      <a:pt x="54" y="69"/>
                    </a:cubicBezTo>
                    <a:cubicBezTo>
                      <a:pt x="54" y="71"/>
                      <a:pt x="56" y="73"/>
                      <a:pt x="58" y="73"/>
                    </a:cubicBezTo>
                    <a:close/>
                    <a:moveTo>
                      <a:pt x="63" y="38"/>
                    </a:moveTo>
                    <a:cubicBezTo>
                      <a:pt x="63" y="38"/>
                      <a:pt x="63" y="38"/>
                      <a:pt x="63" y="38"/>
                    </a:cubicBezTo>
                    <a:cubicBezTo>
                      <a:pt x="94" y="38"/>
                      <a:pt x="94" y="38"/>
                      <a:pt x="94" y="38"/>
                    </a:cubicBezTo>
                    <a:cubicBezTo>
                      <a:pt x="94" y="65"/>
                      <a:pt x="94" y="65"/>
                      <a:pt x="94" y="65"/>
                    </a:cubicBezTo>
                    <a:cubicBezTo>
                      <a:pt x="63" y="65"/>
                      <a:pt x="63" y="65"/>
                      <a:pt x="63" y="65"/>
                    </a:cubicBezTo>
                    <a:cubicBezTo>
                      <a:pt x="63" y="38"/>
                      <a:pt x="63" y="38"/>
                      <a:pt x="63" y="38"/>
                    </a:cubicBezTo>
                    <a:close/>
                    <a:moveTo>
                      <a:pt x="27" y="121"/>
                    </a:moveTo>
                    <a:cubicBezTo>
                      <a:pt x="27" y="121"/>
                      <a:pt x="27" y="121"/>
                      <a:pt x="27" y="121"/>
                    </a:cubicBezTo>
                    <a:cubicBezTo>
                      <a:pt x="189" y="121"/>
                      <a:pt x="189" y="121"/>
                      <a:pt x="189" y="121"/>
                    </a:cubicBezTo>
                    <a:cubicBezTo>
                      <a:pt x="193" y="121"/>
                      <a:pt x="196" y="118"/>
                      <a:pt x="196" y="114"/>
                    </a:cubicBezTo>
                    <a:cubicBezTo>
                      <a:pt x="196" y="7"/>
                      <a:pt x="196" y="7"/>
                      <a:pt x="196" y="7"/>
                    </a:cubicBezTo>
                    <a:cubicBezTo>
                      <a:pt x="196" y="3"/>
                      <a:pt x="193" y="0"/>
                      <a:pt x="189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3" y="0"/>
                      <a:pt x="20" y="3"/>
                      <a:pt x="20" y="7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0" y="118"/>
                      <a:pt x="23" y="121"/>
                      <a:pt x="27" y="121"/>
                    </a:cubicBezTo>
                    <a:close/>
                    <a:moveTo>
                      <a:pt x="33" y="13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182" y="13"/>
                      <a:pt x="182" y="13"/>
                      <a:pt x="182" y="13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33" y="107"/>
                      <a:pt x="33" y="107"/>
                      <a:pt x="33" y="107"/>
                    </a:cubicBezTo>
                    <a:cubicBezTo>
                      <a:pt x="33" y="13"/>
                      <a:pt x="33" y="13"/>
                      <a:pt x="33" y="13"/>
                    </a:cubicBezTo>
                    <a:close/>
                    <a:moveTo>
                      <a:pt x="157" y="48"/>
                    </a:moveTo>
                    <a:cubicBezTo>
                      <a:pt x="157" y="48"/>
                      <a:pt x="157" y="48"/>
                      <a:pt x="157" y="48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08" y="48"/>
                      <a:pt x="107" y="49"/>
                      <a:pt x="107" y="52"/>
                    </a:cubicBezTo>
                    <a:cubicBezTo>
                      <a:pt x="107" y="54"/>
                      <a:pt x="108" y="56"/>
                      <a:pt x="111" y="56"/>
                    </a:cubicBezTo>
                    <a:cubicBezTo>
                      <a:pt x="157" y="56"/>
                      <a:pt x="157" y="56"/>
                      <a:pt x="157" y="56"/>
                    </a:cubicBezTo>
                    <a:cubicBezTo>
                      <a:pt x="159" y="56"/>
                      <a:pt x="161" y="54"/>
                      <a:pt x="161" y="52"/>
                    </a:cubicBezTo>
                    <a:cubicBezTo>
                      <a:pt x="161" y="49"/>
                      <a:pt x="159" y="48"/>
                      <a:pt x="157" y="48"/>
                    </a:cubicBezTo>
                    <a:close/>
                    <a:moveTo>
                      <a:pt x="157" y="65"/>
                    </a:moveTo>
                    <a:cubicBezTo>
                      <a:pt x="157" y="65"/>
                      <a:pt x="157" y="65"/>
                      <a:pt x="157" y="65"/>
                    </a:cubicBezTo>
                    <a:cubicBezTo>
                      <a:pt x="111" y="65"/>
                      <a:pt x="111" y="65"/>
                      <a:pt x="111" y="65"/>
                    </a:cubicBezTo>
                    <a:cubicBezTo>
                      <a:pt x="108" y="65"/>
                      <a:pt x="107" y="67"/>
                      <a:pt x="107" y="69"/>
                    </a:cubicBezTo>
                    <a:cubicBezTo>
                      <a:pt x="107" y="71"/>
                      <a:pt x="108" y="73"/>
                      <a:pt x="111" y="73"/>
                    </a:cubicBezTo>
                    <a:cubicBezTo>
                      <a:pt x="157" y="73"/>
                      <a:pt x="157" y="73"/>
                      <a:pt x="157" y="73"/>
                    </a:cubicBezTo>
                    <a:cubicBezTo>
                      <a:pt x="159" y="73"/>
                      <a:pt x="161" y="71"/>
                      <a:pt x="161" y="69"/>
                    </a:cubicBezTo>
                    <a:cubicBezTo>
                      <a:pt x="161" y="67"/>
                      <a:pt x="159" y="65"/>
                      <a:pt x="157" y="65"/>
                    </a:cubicBezTo>
                    <a:close/>
                    <a:moveTo>
                      <a:pt x="157" y="30"/>
                    </a:moveTo>
                    <a:cubicBezTo>
                      <a:pt x="157" y="30"/>
                      <a:pt x="157" y="30"/>
                      <a:pt x="157" y="30"/>
                    </a:cubicBezTo>
                    <a:cubicBezTo>
                      <a:pt x="111" y="30"/>
                      <a:pt x="111" y="30"/>
                      <a:pt x="111" y="30"/>
                    </a:cubicBezTo>
                    <a:cubicBezTo>
                      <a:pt x="108" y="30"/>
                      <a:pt x="107" y="32"/>
                      <a:pt x="107" y="34"/>
                    </a:cubicBezTo>
                    <a:cubicBezTo>
                      <a:pt x="107" y="37"/>
                      <a:pt x="108" y="38"/>
                      <a:pt x="111" y="38"/>
                    </a:cubicBezTo>
                    <a:cubicBezTo>
                      <a:pt x="157" y="38"/>
                      <a:pt x="157" y="38"/>
                      <a:pt x="157" y="38"/>
                    </a:cubicBezTo>
                    <a:cubicBezTo>
                      <a:pt x="159" y="38"/>
                      <a:pt x="161" y="37"/>
                      <a:pt x="161" y="34"/>
                    </a:cubicBezTo>
                    <a:cubicBezTo>
                      <a:pt x="161" y="32"/>
                      <a:pt x="159" y="30"/>
                      <a:pt x="157" y="30"/>
                    </a:cubicBezTo>
                    <a:close/>
                    <a:moveTo>
                      <a:pt x="209" y="127"/>
                    </a:moveTo>
                    <a:cubicBezTo>
                      <a:pt x="209" y="127"/>
                      <a:pt x="209" y="127"/>
                      <a:pt x="209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3" y="127"/>
                      <a:pt x="0" y="130"/>
                      <a:pt x="0" y="134"/>
                    </a:cubicBezTo>
                    <a:cubicBezTo>
                      <a:pt x="0" y="137"/>
                      <a:pt x="3" y="140"/>
                      <a:pt x="7" y="140"/>
                    </a:cubicBezTo>
                    <a:cubicBezTo>
                      <a:pt x="209" y="140"/>
                      <a:pt x="209" y="140"/>
                      <a:pt x="209" y="140"/>
                    </a:cubicBezTo>
                    <a:cubicBezTo>
                      <a:pt x="212" y="140"/>
                      <a:pt x="215" y="137"/>
                      <a:pt x="215" y="134"/>
                    </a:cubicBezTo>
                    <a:cubicBezTo>
                      <a:pt x="215" y="130"/>
                      <a:pt x="212" y="127"/>
                      <a:pt x="209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61" name="矩形: 对角圆角 60"/>
          <p:cNvSpPr/>
          <p:nvPr/>
        </p:nvSpPr>
        <p:spPr>
          <a:xfrm>
            <a:off x="1115616" y="4155132"/>
            <a:ext cx="6685361" cy="504056"/>
          </a:xfrm>
          <a:prstGeom prst="round2Diag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3461480" y="4201748"/>
            <a:ext cx="1562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结论与展望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477956" y="4098028"/>
            <a:ext cx="576064" cy="593665"/>
            <a:chOff x="3608149" y="3664302"/>
            <a:chExt cx="504056" cy="504056"/>
          </a:xfrm>
        </p:grpSpPr>
        <p:sp>
          <p:nvSpPr>
            <p:cNvPr id="17" name="流程图: 接点 16"/>
            <p:cNvSpPr/>
            <p:nvPr/>
          </p:nvSpPr>
          <p:spPr>
            <a:xfrm>
              <a:off x="3608149" y="3664302"/>
              <a:ext cx="504056" cy="504056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Freeform 12"/>
            <p:cNvSpPr>
              <a:spLocks noEditPoints="1"/>
            </p:cNvSpPr>
            <p:nvPr/>
          </p:nvSpPr>
          <p:spPr bwMode="auto">
            <a:xfrm>
              <a:off x="3753333" y="3757322"/>
              <a:ext cx="214210" cy="307834"/>
            </a:xfrm>
            <a:custGeom>
              <a:avLst/>
              <a:gdLst>
                <a:gd name="T0" fmla="*/ 3 w 121"/>
                <a:gd name="T1" fmla="*/ 119 h 174"/>
                <a:gd name="T2" fmla="*/ 23 w 121"/>
                <a:gd name="T3" fmla="*/ 115 h 174"/>
                <a:gd name="T4" fmla="*/ 38 w 121"/>
                <a:gd name="T5" fmla="*/ 74 h 174"/>
                <a:gd name="T6" fmla="*/ 38 w 121"/>
                <a:gd name="T7" fmla="*/ 74 h 174"/>
                <a:gd name="T8" fmla="*/ 38 w 121"/>
                <a:gd name="T9" fmla="*/ 29 h 174"/>
                <a:gd name="T10" fmla="*/ 54 w 121"/>
                <a:gd name="T11" fmla="*/ 21 h 174"/>
                <a:gd name="T12" fmla="*/ 60 w 121"/>
                <a:gd name="T13" fmla="*/ 0 h 174"/>
                <a:gd name="T14" fmla="*/ 67 w 121"/>
                <a:gd name="T15" fmla="*/ 21 h 174"/>
                <a:gd name="T16" fmla="*/ 92 w 121"/>
                <a:gd name="T17" fmla="*/ 51 h 174"/>
                <a:gd name="T18" fmla="*/ 82 w 121"/>
                <a:gd name="T19" fmla="*/ 74 h 174"/>
                <a:gd name="T20" fmla="*/ 98 w 121"/>
                <a:gd name="T21" fmla="*/ 115 h 174"/>
                <a:gd name="T22" fmla="*/ 117 w 121"/>
                <a:gd name="T23" fmla="*/ 119 h 174"/>
                <a:gd name="T24" fmla="*/ 102 w 121"/>
                <a:gd name="T25" fmla="*/ 124 h 174"/>
                <a:gd name="T26" fmla="*/ 116 w 121"/>
                <a:gd name="T27" fmla="*/ 159 h 174"/>
                <a:gd name="T28" fmla="*/ 120 w 121"/>
                <a:gd name="T29" fmla="*/ 168 h 174"/>
                <a:gd name="T30" fmla="*/ 113 w 121"/>
                <a:gd name="T31" fmla="*/ 171 h 174"/>
                <a:gd name="T32" fmla="*/ 108 w 121"/>
                <a:gd name="T33" fmla="*/ 162 h 174"/>
                <a:gd name="T34" fmla="*/ 87 w 121"/>
                <a:gd name="T35" fmla="*/ 124 h 174"/>
                <a:gd name="T36" fmla="*/ 67 w 121"/>
                <a:gd name="T37" fmla="*/ 129 h 174"/>
                <a:gd name="T38" fmla="*/ 54 w 121"/>
                <a:gd name="T39" fmla="*/ 129 h 174"/>
                <a:gd name="T40" fmla="*/ 34 w 121"/>
                <a:gd name="T41" fmla="*/ 124 h 174"/>
                <a:gd name="T42" fmla="*/ 13 w 121"/>
                <a:gd name="T43" fmla="*/ 162 h 174"/>
                <a:gd name="T44" fmla="*/ 8 w 121"/>
                <a:gd name="T45" fmla="*/ 171 h 174"/>
                <a:gd name="T46" fmla="*/ 1 w 121"/>
                <a:gd name="T47" fmla="*/ 168 h 174"/>
                <a:gd name="T48" fmla="*/ 5 w 121"/>
                <a:gd name="T49" fmla="*/ 159 h 174"/>
                <a:gd name="T50" fmla="*/ 19 w 121"/>
                <a:gd name="T51" fmla="*/ 124 h 174"/>
                <a:gd name="T52" fmla="*/ 54 w 121"/>
                <a:gd name="T53" fmla="*/ 115 h 174"/>
                <a:gd name="T54" fmla="*/ 54 w 121"/>
                <a:gd name="T55" fmla="*/ 110 h 174"/>
                <a:gd name="T56" fmla="*/ 67 w 121"/>
                <a:gd name="T57" fmla="*/ 110 h 174"/>
                <a:gd name="T58" fmla="*/ 83 w 121"/>
                <a:gd name="T59" fmla="*/ 115 h 174"/>
                <a:gd name="T60" fmla="*/ 54 w 121"/>
                <a:gd name="T61" fmla="*/ 82 h 174"/>
                <a:gd name="T62" fmla="*/ 54 w 121"/>
                <a:gd name="T63" fmla="*/ 115 h 174"/>
                <a:gd name="T64" fmla="*/ 73 w 121"/>
                <a:gd name="T65" fmla="*/ 39 h 174"/>
                <a:gd name="T66" fmla="*/ 48 w 121"/>
                <a:gd name="T67" fmla="*/ 39 h 174"/>
                <a:gd name="T68" fmla="*/ 48 w 121"/>
                <a:gd name="T69" fmla="*/ 64 h 174"/>
                <a:gd name="T70" fmla="*/ 68 w 121"/>
                <a:gd name="T71" fmla="*/ 68 h 174"/>
                <a:gd name="T72" fmla="*/ 73 w 121"/>
                <a:gd name="T73" fmla="*/ 64 h 174"/>
                <a:gd name="T74" fmla="*/ 73 w 121"/>
                <a:gd name="T75" fmla="*/ 3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1" h="174">
                  <a:moveTo>
                    <a:pt x="8" y="124"/>
                  </a:moveTo>
                  <a:cubicBezTo>
                    <a:pt x="5" y="124"/>
                    <a:pt x="3" y="122"/>
                    <a:pt x="3" y="119"/>
                  </a:cubicBezTo>
                  <a:cubicBezTo>
                    <a:pt x="3" y="117"/>
                    <a:pt x="5" y="115"/>
                    <a:pt x="8" y="115"/>
                  </a:cubicBezTo>
                  <a:cubicBezTo>
                    <a:pt x="23" y="115"/>
                    <a:pt x="23" y="115"/>
                    <a:pt x="23" y="115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1" y="76"/>
                    <a:pt x="40" y="75"/>
                    <a:pt x="38" y="74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33" y="68"/>
                    <a:pt x="29" y="60"/>
                    <a:pt x="29" y="51"/>
                  </a:cubicBezTo>
                  <a:cubicBezTo>
                    <a:pt x="29" y="43"/>
                    <a:pt x="33" y="35"/>
                    <a:pt x="38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3" y="25"/>
                    <a:pt x="48" y="22"/>
                    <a:pt x="54" y="21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3"/>
                    <a:pt x="57" y="0"/>
                    <a:pt x="60" y="0"/>
                  </a:cubicBezTo>
                  <a:cubicBezTo>
                    <a:pt x="64" y="0"/>
                    <a:pt x="67" y="3"/>
                    <a:pt x="67" y="7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73" y="22"/>
                    <a:pt x="78" y="25"/>
                    <a:pt x="82" y="29"/>
                  </a:cubicBezTo>
                  <a:cubicBezTo>
                    <a:pt x="88" y="35"/>
                    <a:pt x="92" y="43"/>
                    <a:pt x="92" y="51"/>
                  </a:cubicBezTo>
                  <a:cubicBezTo>
                    <a:pt x="92" y="60"/>
                    <a:pt x="88" y="68"/>
                    <a:pt x="82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81" y="75"/>
                    <a:pt x="80" y="76"/>
                    <a:pt x="79" y="77"/>
                  </a:cubicBezTo>
                  <a:cubicBezTo>
                    <a:pt x="98" y="115"/>
                    <a:pt x="98" y="115"/>
                    <a:pt x="98" y="115"/>
                  </a:cubicBezTo>
                  <a:cubicBezTo>
                    <a:pt x="113" y="115"/>
                    <a:pt x="113" y="115"/>
                    <a:pt x="113" y="115"/>
                  </a:cubicBezTo>
                  <a:cubicBezTo>
                    <a:pt x="116" y="115"/>
                    <a:pt x="117" y="117"/>
                    <a:pt x="117" y="119"/>
                  </a:cubicBezTo>
                  <a:cubicBezTo>
                    <a:pt x="117" y="122"/>
                    <a:pt x="116" y="124"/>
                    <a:pt x="113" y="124"/>
                  </a:cubicBezTo>
                  <a:cubicBezTo>
                    <a:pt x="102" y="124"/>
                    <a:pt x="102" y="124"/>
                    <a:pt x="102" y="124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7" y="155"/>
                    <a:pt x="117" y="157"/>
                    <a:pt x="116" y="159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21" y="170"/>
                    <a:pt x="120" y="172"/>
                    <a:pt x="118" y="173"/>
                  </a:cubicBezTo>
                  <a:cubicBezTo>
                    <a:pt x="116" y="174"/>
                    <a:pt x="114" y="173"/>
                    <a:pt x="113" y="171"/>
                  </a:cubicBezTo>
                  <a:cubicBezTo>
                    <a:pt x="110" y="165"/>
                    <a:pt x="110" y="165"/>
                    <a:pt x="110" y="165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6" y="162"/>
                    <a:pt x="104" y="160"/>
                    <a:pt x="103" y="158"/>
                  </a:cubicBezTo>
                  <a:cubicBezTo>
                    <a:pt x="87" y="124"/>
                    <a:pt x="87" y="124"/>
                    <a:pt x="87" y="124"/>
                  </a:cubicBezTo>
                  <a:cubicBezTo>
                    <a:pt x="67" y="124"/>
                    <a:pt x="67" y="124"/>
                    <a:pt x="67" y="124"/>
                  </a:cubicBezTo>
                  <a:cubicBezTo>
                    <a:pt x="67" y="129"/>
                    <a:pt x="67" y="129"/>
                    <a:pt x="67" y="129"/>
                  </a:cubicBezTo>
                  <a:cubicBezTo>
                    <a:pt x="67" y="132"/>
                    <a:pt x="64" y="136"/>
                    <a:pt x="60" y="136"/>
                  </a:cubicBezTo>
                  <a:cubicBezTo>
                    <a:pt x="57" y="136"/>
                    <a:pt x="54" y="132"/>
                    <a:pt x="54" y="129"/>
                  </a:cubicBezTo>
                  <a:cubicBezTo>
                    <a:pt x="54" y="124"/>
                    <a:pt x="54" y="124"/>
                    <a:pt x="54" y="124"/>
                  </a:cubicBezTo>
                  <a:cubicBezTo>
                    <a:pt x="34" y="124"/>
                    <a:pt x="34" y="124"/>
                    <a:pt x="34" y="124"/>
                  </a:cubicBezTo>
                  <a:cubicBezTo>
                    <a:pt x="17" y="158"/>
                    <a:pt x="17" y="158"/>
                    <a:pt x="17" y="158"/>
                  </a:cubicBezTo>
                  <a:cubicBezTo>
                    <a:pt x="16" y="160"/>
                    <a:pt x="15" y="162"/>
                    <a:pt x="13" y="162"/>
                  </a:cubicBezTo>
                  <a:cubicBezTo>
                    <a:pt x="11" y="165"/>
                    <a:pt x="11" y="165"/>
                    <a:pt x="11" y="165"/>
                  </a:cubicBezTo>
                  <a:cubicBezTo>
                    <a:pt x="8" y="171"/>
                    <a:pt x="8" y="171"/>
                    <a:pt x="8" y="171"/>
                  </a:cubicBezTo>
                  <a:cubicBezTo>
                    <a:pt x="7" y="173"/>
                    <a:pt x="5" y="174"/>
                    <a:pt x="3" y="173"/>
                  </a:cubicBezTo>
                  <a:cubicBezTo>
                    <a:pt x="1" y="172"/>
                    <a:pt x="0" y="170"/>
                    <a:pt x="1" y="168"/>
                  </a:cubicBezTo>
                  <a:cubicBezTo>
                    <a:pt x="4" y="162"/>
                    <a:pt x="4" y="162"/>
                    <a:pt x="4" y="162"/>
                  </a:cubicBezTo>
                  <a:cubicBezTo>
                    <a:pt x="5" y="159"/>
                    <a:pt x="5" y="159"/>
                    <a:pt x="5" y="159"/>
                  </a:cubicBezTo>
                  <a:cubicBezTo>
                    <a:pt x="4" y="157"/>
                    <a:pt x="4" y="155"/>
                    <a:pt x="5" y="153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8" y="124"/>
                    <a:pt x="8" y="124"/>
                    <a:pt x="8" y="124"/>
                  </a:cubicBezTo>
                  <a:close/>
                  <a:moveTo>
                    <a:pt x="54" y="115"/>
                  </a:moveTo>
                  <a:cubicBezTo>
                    <a:pt x="54" y="115"/>
                    <a:pt x="54" y="115"/>
                    <a:pt x="54" y="115"/>
                  </a:cubicBezTo>
                  <a:cubicBezTo>
                    <a:pt x="54" y="110"/>
                    <a:pt x="54" y="110"/>
                    <a:pt x="54" y="110"/>
                  </a:cubicBezTo>
                  <a:cubicBezTo>
                    <a:pt x="54" y="107"/>
                    <a:pt x="57" y="103"/>
                    <a:pt x="60" y="103"/>
                  </a:cubicBezTo>
                  <a:cubicBezTo>
                    <a:pt x="64" y="103"/>
                    <a:pt x="67" y="107"/>
                    <a:pt x="67" y="110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83" y="115"/>
                    <a:pt x="83" y="115"/>
                    <a:pt x="83" y="115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3" y="83"/>
                    <a:pt x="58" y="83"/>
                    <a:pt x="54" y="82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54" y="115"/>
                    <a:pt x="54" y="115"/>
                    <a:pt x="54" y="115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66" y="32"/>
                    <a:pt x="55" y="32"/>
                    <a:pt x="48" y="39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5" y="42"/>
                    <a:pt x="43" y="47"/>
                    <a:pt x="43" y="51"/>
                  </a:cubicBezTo>
                  <a:cubicBezTo>
                    <a:pt x="43" y="56"/>
                    <a:pt x="45" y="61"/>
                    <a:pt x="48" y="64"/>
                  </a:cubicBezTo>
                  <a:cubicBezTo>
                    <a:pt x="53" y="69"/>
                    <a:pt x="61" y="71"/>
                    <a:pt x="67" y="68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69" y="67"/>
                    <a:pt x="71" y="6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76" y="61"/>
                    <a:pt x="78" y="56"/>
                    <a:pt x="78" y="51"/>
                  </a:cubicBezTo>
                  <a:cubicBezTo>
                    <a:pt x="78" y="47"/>
                    <a:pt x="76" y="42"/>
                    <a:pt x="73" y="39"/>
                  </a:cubicBezTo>
                  <a:cubicBezTo>
                    <a:pt x="73" y="39"/>
                    <a:pt x="73" y="39"/>
                    <a:pt x="73" y="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1115616" y="3368555"/>
            <a:ext cx="6938404" cy="589289"/>
            <a:chOff x="980147" y="3341620"/>
            <a:chExt cx="6938404" cy="589289"/>
          </a:xfrm>
        </p:grpSpPr>
        <p:sp>
          <p:nvSpPr>
            <p:cNvPr id="56" name="矩形: 对角圆角 55"/>
            <p:cNvSpPr/>
            <p:nvPr/>
          </p:nvSpPr>
          <p:spPr>
            <a:xfrm>
              <a:off x="980147" y="3409524"/>
              <a:ext cx="6685362" cy="504056"/>
            </a:xfrm>
            <a:prstGeom prst="round2Diag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215174" y="3460436"/>
              <a:ext cx="61370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考虑经济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能源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环境的</a:t>
              </a:r>
              <a:r>
                <a:rPr lang="en-US" altLang="zh-CN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SH-CCHP</a:t>
              </a: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系统双层优化策略</a:t>
              </a: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7342486" y="3341620"/>
              <a:ext cx="576065" cy="589289"/>
              <a:chOff x="5076056" y="2775079"/>
              <a:chExt cx="504056" cy="504056"/>
            </a:xfrm>
          </p:grpSpPr>
          <p:sp>
            <p:nvSpPr>
              <p:cNvPr id="67" name="流程图: 接点 66"/>
              <p:cNvSpPr/>
              <p:nvPr/>
            </p:nvSpPr>
            <p:spPr>
              <a:xfrm>
                <a:off x="5076056" y="2775079"/>
                <a:ext cx="504056" cy="504056"/>
              </a:xfrm>
              <a:prstGeom prst="flowChartConnector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Freeform 9"/>
              <p:cNvSpPr>
                <a:spLocks noEditPoints="1"/>
              </p:cNvSpPr>
              <p:nvPr/>
            </p:nvSpPr>
            <p:spPr bwMode="auto">
              <a:xfrm>
                <a:off x="5138860" y="2909810"/>
                <a:ext cx="380484" cy="247914"/>
              </a:xfrm>
              <a:custGeom>
                <a:avLst/>
                <a:gdLst>
                  <a:gd name="T0" fmla="*/ 58 w 215"/>
                  <a:gd name="T1" fmla="*/ 83 h 140"/>
                  <a:gd name="T2" fmla="*/ 58 w 215"/>
                  <a:gd name="T3" fmla="*/ 91 h 140"/>
                  <a:gd name="T4" fmla="*/ 161 w 215"/>
                  <a:gd name="T5" fmla="*/ 87 h 140"/>
                  <a:gd name="T6" fmla="*/ 58 w 215"/>
                  <a:gd name="T7" fmla="*/ 73 h 140"/>
                  <a:gd name="T8" fmla="*/ 98 w 215"/>
                  <a:gd name="T9" fmla="*/ 73 h 140"/>
                  <a:gd name="T10" fmla="*/ 102 w 215"/>
                  <a:gd name="T11" fmla="*/ 34 h 140"/>
                  <a:gd name="T12" fmla="*/ 58 w 215"/>
                  <a:gd name="T13" fmla="*/ 30 h 140"/>
                  <a:gd name="T14" fmla="*/ 54 w 215"/>
                  <a:gd name="T15" fmla="*/ 69 h 140"/>
                  <a:gd name="T16" fmla="*/ 63 w 215"/>
                  <a:gd name="T17" fmla="*/ 38 h 140"/>
                  <a:gd name="T18" fmla="*/ 94 w 215"/>
                  <a:gd name="T19" fmla="*/ 38 h 140"/>
                  <a:gd name="T20" fmla="*/ 63 w 215"/>
                  <a:gd name="T21" fmla="*/ 65 h 140"/>
                  <a:gd name="T22" fmla="*/ 27 w 215"/>
                  <a:gd name="T23" fmla="*/ 121 h 140"/>
                  <a:gd name="T24" fmla="*/ 189 w 215"/>
                  <a:gd name="T25" fmla="*/ 121 h 140"/>
                  <a:gd name="T26" fmla="*/ 196 w 215"/>
                  <a:gd name="T27" fmla="*/ 7 h 140"/>
                  <a:gd name="T28" fmla="*/ 27 w 215"/>
                  <a:gd name="T29" fmla="*/ 0 h 140"/>
                  <a:gd name="T30" fmla="*/ 20 w 215"/>
                  <a:gd name="T31" fmla="*/ 114 h 140"/>
                  <a:gd name="T32" fmla="*/ 33 w 215"/>
                  <a:gd name="T33" fmla="*/ 13 h 140"/>
                  <a:gd name="T34" fmla="*/ 182 w 215"/>
                  <a:gd name="T35" fmla="*/ 13 h 140"/>
                  <a:gd name="T36" fmla="*/ 33 w 215"/>
                  <a:gd name="T37" fmla="*/ 107 h 140"/>
                  <a:gd name="T38" fmla="*/ 157 w 215"/>
                  <a:gd name="T39" fmla="*/ 48 h 140"/>
                  <a:gd name="T40" fmla="*/ 111 w 215"/>
                  <a:gd name="T41" fmla="*/ 48 h 140"/>
                  <a:gd name="T42" fmla="*/ 111 w 215"/>
                  <a:gd name="T43" fmla="*/ 56 h 140"/>
                  <a:gd name="T44" fmla="*/ 161 w 215"/>
                  <a:gd name="T45" fmla="*/ 52 h 140"/>
                  <a:gd name="T46" fmla="*/ 157 w 215"/>
                  <a:gd name="T47" fmla="*/ 65 h 140"/>
                  <a:gd name="T48" fmla="*/ 111 w 215"/>
                  <a:gd name="T49" fmla="*/ 65 h 140"/>
                  <a:gd name="T50" fmla="*/ 111 w 215"/>
                  <a:gd name="T51" fmla="*/ 73 h 140"/>
                  <a:gd name="T52" fmla="*/ 161 w 215"/>
                  <a:gd name="T53" fmla="*/ 69 h 140"/>
                  <a:gd name="T54" fmla="*/ 157 w 215"/>
                  <a:gd name="T55" fmla="*/ 30 h 140"/>
                  <a:gd name="T56" fmla="*/ 111 w 215"/>
                  <a:gd name="T57" fmla="*/ 30 h 140"/>
                  <a:gd name="T58" fmla="*/ 111 w 215"/>
                  <a:gd name="T59" fmla="*/ 38 h 140"/>
                  <a:gd name="T60" fmla="*/ 161 w 215"/>
                  <a:gd name="T61" fmla="*/ 34 h 140"/>
                  <a:gd name="T62" fmla="*/ 209 w 215"/>
                  <a:gd name="T63" fmla="*/ 127 h 140"/>
                  <a:gd name="T64" fmla="*/ 7 w 215"/>
                  <a:gd name="T65" fmla="*/ 127 h 140"/>
                  <a:gd name="T66" fmla="*/ 7 w 215"/>
                  <a:gd name="T67" fmla="*/ 140 h 140"/>
                  <a:gd name="T68" fmla="*/ 215 w 215"/>
                  <a:gd name="T69" fmla="*/ 13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15" h="140">
                    <a:moveTo>
                      <a:pt x="157" y="83"/>
                    </a:moveTo>
                    <a:cubicBezTo>
                      <a:pt x="58" y="83"/>
                      <a:pt x="58" y="83"/>
                      <a:pt x="58" y="83"/>
                    </a:cubicBezTo>
                    <a:cubicBezTo>
                      <a:pt x="56" y="83"/>
                      <a:pt x="54" y="84"/>
                      <a:pt x="54" y="87"/>
                    </a:cubicBezTo>
                    <a:cubicBezTo>
                      <a:pt x="54" y="89"/>
                      <a:pt x="56" y="91"/>
                      <a:pt x="58" y="91"/>
                    </a:cubicBezTo>
                    <a:cubicBezTo>
                      <a:pt x="157" y="91"/>
                      <a:pt x="157" y="91"/>
                      <a:pt x="157" y="91"/>
                    </a:cubicBezTo>
                    <a:cubicBezTo>
                      <a:pt x="159" y="91"/>
                      <a:pt x="161" y="89"/>
                      <a:pt x="161" y="87"/>
                    </a:cubicBezTo>
                    <a:cubicBezTo>
                      <a:pt x="161" y="84"/>
                      <a:pt x="159" y="83"/>
                      <a:pt x="157" y="83"/>
                    </a:cubicBezTo>
                    <a:close/>
                    <a:moveTo>
                      <a:pt x="58" y="73"/>
                    </a:moveTo>
                    <a:cubicBezTo>
                      <a:pt x="58" y="73"/>
                      <a:pt x="58" y="73"/>
                      <a:pt x="58" y="73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73"/>
                      <a:pt x="102" y="71"/>
                      <a:pt x="102" y="69"/>
                    </a:cubicBezTo>
                    <a:cubicBezTo>
                      <a:pt x="102" y="34"/>
                      <a:pt x="102" y="34"/>
                      <a:pt x="102" y="34"/>
                    </a:cubicBezTo>
                    <a:cubicBezTo>
                      <a:pt x="102" y="32"/>
                      <a:pt x="100" y="30"/>
                      <a:pt x="98" y="30"/>
                    </a:cubicBezTo>
                    <a:cubicBezTo>
                      <a:pt x="58" y="30"/>
                      <a:pt x="58" y="30"/>
                      <a:pt x="58" y="30"/>
                    </a:cubicBezTo>
                    <a:cubicBezTo>
                      <a:pt x="56" y="30"/>
                      <a:pt x="54" y="32"/>
                      <a:pt x="54" y="34"/>
                    </a:cubicBezTo>
                    <a:cubicBezTo>
                      <a:pt x="54" y="69"/>
                      <a:pt x="54" y="69"/>
                      <a:pt x="54" y="69"/>
                    </a:cubicBezTo>
                    <a:cubicBezTo>
                      <a:pt x="54" y="71"/>
                      <a:pt x="56" y="73"/>
                      <a:pt x="58" y="73"/>
                    </a:cubicBezTo>
                    <a:close/>
                    <a:moveTo>
                      <a:pt x="63" y="38"/>
                    </a:moveTo>
                    <a:cubicBezTo>
                      <a:pt x="63" y="38"/>
                      <a:pt x="63" y="38"/>
                      <a:pt x="63" y="38"/>
                    </a:cubicBezTo>
                    <a:cubicBezTo>
                      <a:pt x="94" y="38"/>
                      <a:pt x="94" y="38"/>
                      <a:pt x="94" y="38"/>
                    </a:cubicBezTo>
                    <a:cubicBezTo>
                      <a:pt x="94" y="65"/>
                      <a:pt x="94" y="65"/>
                      <a:pt x="94" y="65"/>
                    </a:cubicBezTo>
                    <a:cubicBezTo>
                      <a:pt x="63" y="65"/>
                      <a:pt x="63" y="65"/>
                      <a:pt x="63" y="65"/>
                    </a:cubicBezTo>
                    <a:cubicBezTo>
                      <a:pt x="63" y="38"/>
                      <a:pt x="63" y="38"/>
                      <a:pt x="63" y="38"/>
                    </a:cubicBezTo>
                    <a:close/>
                    <a:moveTo>
                      <a:pt x="27" y="121"/>
                    </a:moveTo>
                    <a:cubicBezTo>
                      <a:pt x="27" y="121"/>
                      <a:pt x="27" y="121"/>
                      <a:pt x="27" y="121"/>
                    </a:cubicBezTo>
                    <a:cubicBezTo>
                      <a:pt x="189" y="121"/>
                      <a:pt x="189" y="121"/>
                      <a:pt x="189" y="121"/>
                    </a:cubicBezTo>
                    <a:cubicBezTo>
                      <a:pt x="193" y="121"/>
                      <a:pt x="196" y="118"/>
                      <a:pt x="196" y="114"/>
                    </a:cubicBezTo>
                    <a:cubicBezTo>
                      <a:pt x="196" y="7"/>
                      <a:pt x="196" y="7"/>
                      <a:pt x="196" y="7"/>
                    </a:cubicBezTo>
                    <a:cubicBezTo>
                      <a:pt x="196" y="3"/>
                      <a:pt x="193" y="0"/>
                      <a:pt x="189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3" y="0"/>
                      <a:pt x="20" y="3"/>
                      <a:pt x="20" y="7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0" y="118"/>
                      <a:pt x="23" y="121"/>
                      <a:pt x="27" y="121"/>
                    </a:cubicBezTo>
                    <a:close/>
                    <a:moveTo>
                      <a:pt x="33" y="13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182" y="13"/>
                      <a:pt x="182" y="13"/>
                      <a:pt x="182" y="13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33" y="107"/>
                      <a:pt x="33" y="107"/>
                      <a:pt x="33" y="107"/>
                    </a:cubicBezTo>
                    <a:cubicBezTo>
                      <a:pt x="33" y="13"/>
                      <a:pt x="33" y="13"/>
                      <a:pt x="33" y="13"/>
                    </a:cubicBezTo>
                    <a:close/>
                    <a:moveTo>
                      <a:pt x="157" y="48"/>
                    </a:moveTo>
                    <a:cubicBezTo>
                      <a:pt x="157" y="48"/>
                      <a:pt x="157" y="48"/>
                      <a:pt x="157" y="48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08" y="48"/>
                      <a:pt x="107" y="49"/>
                      <a:pt x="107" y="52"/>
                    </a:cubicBezTo>
                    <a:cubicBezTo>
                      <a:pt x="107" y="54"/>
                      <a:pt x="108" y="56"/>
                      <a:pt x="111" y="56"/>
                    </a:cubicBezTo>
                    <a:cubicBezTo>
                      <a:pt x="157" y="56"/>
                      <a:pt x="157" y="56"/>
                      <a:pt x="157" y="56"/>
                    </a:cubicBezTo>
                    <a:cubicBezTo>
                      <a:pt x="159" y="56"/>
                      <a:pt x="161" y="54"/>
                      <a:pt x="161" y="52"/>
                    </a:cubicBezTo>
                    <a:cubicBezTo>
                      <a:pt x="161" y="49"/>
                      <a:pt x="159" y="48"/>
                      <a:pt x="157" y="48"/>
                    </a:cubicBezTo>
                    <a:close/>
                    <a:moveTo>
                      <a:pt x="157" y="65"/>
                    </a:moveTo>
                    <a:cubicBezTo>
                      <a:pt x="157" y="65"/>
                      <a:pt x="157" y="65"/>
                      <a:pt x="157" y="65"/>
                    </a:cubicBezTo>
                    <a:cubicBezTo>
                      <a:pt x="111" y="65"/>
                      <a:pt x="111" y="65"/>
                      <a:pt x="111" y="65"/>
                    </a:cubicBezTo>
                    <a:cubicBezTo>
                      <a:pt x="108" y="65"/>
                      <a:pt x="107" y="67"/>
                      <a:pt x="107" y="69"/>
                    </a:cubicBezTo>
                    <a:cubicBezTo>
                      <a:pt x="107" y="71"/>
                      <a:pt x="108" y="73"/>
                      <a:pt x="111" y="73"/>
                    </a:cubicBezTo>
                    <a:cubicBezTo>
                      <a:pt x="157" y="73"/>
                      <a:pt x="157" y="73"/>
                      <a:pt x="157" y="73"/>
                    </a:cubicBezTo>
                    <a:cubicBezTo>
                      <a:pt x="159" y="73"/>
                      <a:pt x="161" y="71"/>
                      <a:pt x="161" y="69"/>
                    </a:cubicBezTo>
                    <a:cubicBezTo>
                      <a:pt x="161" y="67"/>
                      <a:pt x="159" y="65"/>
                      <a:pt x="157" y="65"/>
                    </a:cubicBezTo>
                    <a:close/>
                    <a:moveTo>
                      <a:pt x="157" y="30"/>
                    </a:moveTo>
                    <a:cubicBezTo>
                      <a:pt x="157" y="30"/>
                      <a:pt x="157" y="30"/>
                      <a:pt x="157" y="30"/>
                    </a:cubicBezTo>
                    <a:cubicBezTo>
                      <a:pt x="111" y="30"/>
                      <a:pt x="111" y="30"/>
                      <a:pt x="111" y="30"/>
                    </a:cubicBezTo>
                    <a:cubicBezTo>
                      <a:pt x="108" y="30"/>
                      <a:pt x="107" y="32"/>
                      <a:pt x="107" y="34"/>
                    </a:cubicBezTo>
                    <a:cubicBezTo>
                      <a:pt x="107" y="37"/>
                      <a:pt x="108" y="38"/>
                      <a:pt x="111" y="38"/>
                    </a:cubicBezTo>
                    <a:cubicBezTo>
                      <a:pt x="157" y="38"/>
                      <a:pt x="157" y="38"/>
                      <a:pt x="157" y="38"/>
                    </a:cubicBezTo>
                    <a:cubicBezTo>
                      <a:pt x="159" y="38"/>
                      <a:pt x="161" y="37"/>
                      <a:pt x="161" y="34"/>
                    </a:cubicBezTo>
                    <a:cubicBezTo>
                      <a:pt x="161" y="32"/>
                      <a:pt x="159" y="30"/>
                      <a:pt x="157" y="30"/>
                    </a:cubicBezTo>
                    <a:close/>
                    <a:moveTo>
                      <a:pt x="209" y="127"/>
                    </a:moveTo>
                    <a:cubicBezTo>
                      <a:pt x="209" y="127"/>
                      <a:pt x="209" y="127"/>
                      <a:pt x="209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3" y="127"/>
                      <a:pt x="0" y="130"/>
                      <a:pt x="0" y="134"/>
                    </a:cubicBezTo>
                    <a:cubicBezTo>
                      <a:pt x="0" y="137"/>
                      <a:pt x="3" y="140"/>
                      <a:pt x="7" y="140"/>
                    </a:cubicBezTo>
                    <a:cubicBezTo>
                      <a:pt x="209" y="140"/>
                      <a:pt x="209" y="140"/>
                      <a:pt x="209" y="140"/>
                    </a:cubicBezTo>
                    <a:cubicBezTo>
                      <a:pt x="212" y="140"/>
                      <a:pt x="215" y="137"/>
                      <a:pt x="215" y="134"/>
                    </a:cubicBezTo>
                    <a:cubicBezTo>
                      <a:pt x="215" y="130"/>
                      <a:pt x="212" y="127"/>
                      <a:pt x="209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 txBox="1">
            <a:spLocks noChangeArrowheads="1"/>
          </p:cNvSpPr>
          <p:nvPr/>
        </p:nvSpPr>
        <p:spPr bwMode="auto">
          <a:xfrm>
            <a:off x="2713413" y="554732"/>
            <a:ext cx="3717174" cy="60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3300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pic>
        <p:nvPicPr>
          <p:cNvPr id="19459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9" y="295184"/>
            <a:ext cx="2162698" cy="80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图片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9" y="4211131"/>
            <a:ext cx="3316057" cy="79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043639" y="1100066"/>
            <a:ext cx="6948772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多能互补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分布式能源系统作为传统供能体系的创新替代方案，构建了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新型的能源转换模式，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通过整合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可再生能源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储能技术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传统能源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，实现能源的高效利用与低碳排放。其核心在于多能协同优化，提升系统灵活性与经济性，为能源转型与可持续发展提供重要支撑。因此实现多种能源的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优势互补和协调运行，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对分布式能源系统进行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容量优化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并提出调度策略已成为当前研究热点。上述研究工作对于保证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分布式能源系统经济、低碳、稳定运行</a:t>
            </a:r>
            <a:r>
              <a:rPr lang="zh-CN" altLang="en-US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具有显著的理论价值和实际应用意义。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-897"/>
            <a:ext cx="3026962" cy="607205"/>
          </a:xfrm>
          <a:prstGeom prst="rect">
            <a:avLst/>
          </a:prstGeom>
        </p:spPr>
      </p:pic>
      <p:sp>
        <p:nvSpPr>
          <p:cNvPr id="46" name="流程图: 接点 45"/>
          <p:cNvSpPr/>
          <p:nvPr/>
        </p:nvSpPr>
        <p:spPr>
          <a:xfrm>
            <a:off x="135408" y="1558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Freeform 13"/>
          <p:cNvSpPr>
            <a:spLocks noEditPoints="1"/>
          </p:cNvSpPr>
          <p:nvPr/>
        </p:nvSpPr>
        <p:spPr bwMode="auto">
          <a:xfrm>
            <a:off x="212921" y="122685"/>
            <a:ext cx="349030" cy="289858"/>
          </a:xfrm>
          <a:custGeom>
            <a:avLst/>
            <a:gdLst>
              <a:gd name="T0" fmla="*/ 111 w 197"/>
              <a:gd name="T1" fmla="*/ 11 h 164"/>
              <a:gd name="T2" fmla="*/ 0 w 197"/>
              <a:gd name="T3" fmla="*/ 15 h 164"/>
              <a:gd name="T4" fmla="*/ 105 w 197"/>
              <a:gd name="T5" fmla="*/ 164 h 164"/>
              <a:gd name="T6" fmla="*/ 136 w 197"/>
              <a:gd name="T7" fmla="*/ 159 h 164"/>
              <a:gd name="T8" fmla="*/ 196 w 197"/>
              <a:gd name="T9" fmla="*/ 142 h 164"/>
              <a:gd name="T10" fmla="*/ 52 w 197"/>
              <a:gd name="T11" fmla="*/ 150 h 164"/>
              <a:gd name="T12" fmla="*/ 52 w 197"/>
              <a:gd name="T13" fmla="*/ 22 h 164"/>
              <a:gd name="T14" fmla="*/ 99 w 197"/>
              <a:gd name="T15" fmla="*/ 150 h 164"/>
              <a:gd name="T16" fmla="*/ 99 w 197"/>
              <a:gd name="T17" fmla="*/ 22 h 164"/>
              <a:gd name="T18" fmla="*/ 147 w 197"/>
              <a:gd name="T19" fmla="*/ 149 h 164"/>
              <a:gd name="T20" fmla="*/ 181 w 197"/>
              <a:gd name="T21" fmla="*/ 139 h 164"/>
              <a:gd name="T22" fmla="*/ 23 w 197"/>
              <a:gd name="T23" fmla="*/ 133 h 164"/>
              <a:gd name="T24" fmla="*/ 42 w 197"/>
              <a:gd name="T25" fmla="*/ 134 h 164"/>
              <a:gd name="T26" fmla="*/ 43 w 197"/>
              <a:gd name="T27" fmla="*/ 114 h 164"/>
              <a:gd name="T28" fmla="*/ 23 w 197"/>
              <a:gd name="T29" fmla="*/ 114 h 164"/>
              <a:gd name="T30" fmla="*/ 29 w 197"/>
              <a:gd name="T31" fmla="*/ 120 h 164"/>
              <a:gd name="T32" fmla="*/ 37 w 197"/>
              <a:gd name="T33" fmla="*/ 120 h 164"/>
              <a:gd name="T34" fmla="*/ 37 w 197"/>
              <a:gd name="T35" fmla="*/ 128 h 164"/>
              <a:gd name="T36" fmla="*/ 29 w 197"/>
              <a:gd name="T37" fmla="*/ 127 h 164"/>
              <a:gd name="T38" fmla="*/ 32 w 197"/>
              <a:gd name="T39" fmla="*/ 91 h 164"/>
              <a:gd name="T40" fmla="*/ 36 w 197"/>
              <a:gd name="T41" fmla="*/ 38 h 164"/>
              <a:gd name="T42" fmla="*/ 28 w 197"/>
              <a:gd name="T43" fmla="*/ 87 h 164"/>
              <a:gd name="T44" fmla="*/ 134 w 197"/>
              <a:gd name="T45" fmla="*/ 31 h 164"/>
              <a:gd name="T46" fmla="*/ 149 w 197"/>
              <a:gd name="T47" fmla="*/ 86 h 164"/>
              <a:gd name="T48" fmla="*/ 134 w 197"/>
              <a:gd name="T49" fmla="*/ 31 h 164"/>
              <a:gd name="T50" fmla="*/ 69 w 197"/>
              <a:gd name="T51" fmla="*/ 133 h 164"/>
              <a:gd name="T52" fmla="*/ 88 w 197"/>
              <a:gd name="T53" fmla="*/ 133 h 164"/>
              <a:gd name="T54" fmla="*/ 79 w 197"/>
              <a:gd name="T55" fmla="*/ 110 h 164"/>
              <a:gd name="T56" fmla="*/ 65 w 197"/>
              <a:gd name="T57" fmla="*/ 124 h 164"/>
              <a:gd name="T58" fmla="*/ 75 w 197"/>
              <a:gd name="T59" fmla="*/ 120 h 164"/>
              <a:gd name="T60" fmla="*/ 82 w 197"/>
              <a:gd name="T61" fmla="*/ 120 h 164"/>
              <a:gd name="T62" fmla="*/ 82 w 197"/>
              <a:gd name="T63" fmla="*/ 128 h 164"/>
              <a:gd name="T64" fmla="*/ 74 w 197"/>
              <a:gd name="T65" fmla="*/ 127 h 164"/>
              <a:gd name="T66" fmla="*/ 81 w 197"/>
              <a:gd name="T67" fmla="*/ 91 h 164"/>
              <a:gd name="T68" fmla="*/ 85 w 197"/>
              <a:gd name="T69" fmla="*/ 38 h 164"/>
              <a:gd name="T70" fmla="*/ 77 w 197"/>
              <a:gd name="T71" fmla="*/ 87 h 164"/>
              <a:gd name="T72" fmla="*/ 148 w 197"/>
              <a:gd name="T73" fmla="*/ 109 h 164"/>
              <a:gd name="T74" fmla="*/ 148 w 197"/>
              <a:gd name="T75" fmla="*/ 128 h 164"/>
              <a:gd name="T76" fmla="*/ 167 w 197"/>
              <a:gd name="T77" fmla="*/ 128 h 164"/>
              <a:gd name="T78" fmla="*/ 168 w 197"/>
              <a:gd name="T79" fmla="*/ 109 h 164"/>
              <a:gd name="T80" fmla="*/ 158 w 197"/>
              <a:gd name="T81" fmla="*/ 105 h 164"/>
              <a:gd name="T82" fmla="*/ 154 w 197"/>
              <a:gd name="T83" fmla="*/ 114 h 164"/>
              <a:gd name="T84" fmla="*/ 163 w 197"/>
              <a:gd name="T85" fmla="*/ 118 h 164"/>
              <a:gd name="T86" fmla="*/ 154 w 197"/>
              <a:gd name="T87" fmla="*/ 122 h 164"/>
              <a:gd name="T88" fmla="*/ 154 w 197"/>
              <a:gd name="T89" fmla="*/ 11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7" h="164">
                <a:moveTo>
                  <a:pt x="159" y="6"/>
                </a:moveTo>
                <a:cubicBezTo>
                  <a:pt x="158" y="2"/>
                  <a:pt x="155" y="0"/>
                  <a:pt x="151" y="1"/>
                </a:cubicBezTo>
                <a:cubicBezTo>
                  <a:pt x="111" y="11"/>
                  <a:pt x="111" y="11"/>
                  <a:pt x="111" y="11"/>
                </a:cubicBezTo>
                <a:cubicBezTo>
                  <a:pt x="110" y="10"/>
                  <a:pt x="108" y="8"/>
                  <a:pt x="105" y="8"/>
                </a:cubicBezTo>
                <a:cubicBezTo>
                  <a:pt x="7" y="8"/>
                  <a:pt x="7" y="8"/>
                  <a:pt x="7" y="8"/>
                </a:cubicBezTo>
                <a:cubicBezTo>
                  <a:pt x="3" y="8"/>
                  <a:pt x="0" y="11"/>
                  <a:pt x="0" y="15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61"/>
                  <a:pt x="3" y="164"/>
                  <a:pt x="7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9" y="164"/>
                  <a:pt x="112" y="161"/>
                  <a:pt x="112" y="157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36" y="159"/>
                  <a:pt x="136" y="159"/>
                  <a:pt x="136" y="159"/>
                </a:cubicBezTo>
                <a:cubicBezTo>
                  <a:pt x="136" y="162"/>
                  <a:pt x="140" y="164"/>
                  <a:pt x="144" y="163"/>
                </a:cubicBezTo>
                <a:cubicBezTo>
                  <a:pt x="191" y="151"/>
                  <a:pt x="191" y="151"/>
                  <a:pt x="191" y="151"/>
                </a:cubicBezTo>
                <a:cubicBezTo>
                  <a:pt x="195" y="150"/>
                  <a:pt x="197" y="146"/>
                  <a:pt x="196" y="142"/>
                </a:cubicBezTo>
                <a:cubicBezTo>
                  <a:pt x="159" y="6"/>
                  <a:pt x="159" y="6"/>
                  <a:pt x="159" y="6"/>
                </a:cubicBezTo>
                <a:close/>
                <a:moveTo>
                  <a:pt x="52" y="150"/>
                </a:moveTo>
                <a:cubicBezTo>
                  <a:pt x="52" y="150"/>
                  <a:pt x="52" y="150"/>
                  <a:pt x="52" y="150"/>
                </a:cubicBezTo>
                <a:cubicBezTo>
                  <a:pt x="14" y="150"/>
                  <a:pt x="14" y="150"/>
                  <a:pt x="14" y="150"/>
                </a:cubicBezTo>
                <a:cubicBezTo>
                  <a:pt x="14" y="22"/>
                  <a:pt x="14" y="22"/>
                  <a:pt x="14" y="22"/>
                </a:cubicBezTo>
                <a:cubicBezTo>
                  <a:pt x="52" y="22"/>
                  <a:pt x="52" y="22"/>
                  <a:pt x="52" y="22"/>
                </a:cubicBezTo>
                <a:cubicBezTo>
                  <a:pt x="52" y="150"/>
                  <a:pt x="52" y="150"/>
                  <a:pt x="52" y="150"/>
                </a:cubicBezTo>
                <a:close/>
                <a:moveTo>
                  <a:pt x="99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22"/>
                  <a:pt x="60" y="22"/>
                  <a:pt x="60" y="22"/>
                </a:cubicBezTo>
                <a:cubicBezTo>
                  <a:pt x="99" y="22"/>
                  <a:pt x="99" y="22"/>
                  <a:pt x="99" y="22"/>
                </a:cubicBezTo>
                <a:cubicBezTo>
                  <a:pt x="99" y="150"/>
                  <a:pt x="99" y="150"/>
                  <a:pt x="99" y="150"/>
                </a:cubicBezTo>
                <a:close/>
                <a:moveTo>
                  <a:pt x="147" y="149"/>
                </a:moveTo>
                <a:cubicBezTo>
                  <a:pt x="147" y="149"/>
                  <a:pt x="147" y="149"/>
                  <a:pt x="147" y="149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181" y="139"/>
                  <a:pt x="181" y="139"/>
                  <a:pt x="181" y="139"/>
                </a:cubicBezTo>
                <a:cubicBezTo>
                  <a:pt x="147" y="149"/>
                  <a:pt x="147" y="149"/>
                  <a:pt x="147" y="149"/>
                </a:cubicBezTo>
                <a:close/>
                <a:moveTo>
                  <a:pt x="23" y="133"/>
                </a:moveTo>
                <a:cubicBezTo>
                  <a:pt x="23" y="133"/>
                  <a:pt x="23" y="133"/>
                  <a:pt x="23" y="133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6" y="136"/>
                  <a:pt x="29" y="137"/>
                  <a:pt x="33" y="137"/>
                </a:cubicBezTo>
                <a:cubicBezTo>
                  <a:pt x="37" y="137"/>
                  <a:pt x="40" y="136"/>
                  <a:pt x="42" y="134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5" y="131"/>
                  <a:pt x="47" y="127"/>
                  <a:pt x="47" y="124"/>
                </a:cubicBezTo>
                <a:cubicBezTo>
                  <a:pt x="47" y="120"/>
                  <a:pt x="45" y="116"/>
                  <a:pt x="43" y="114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0" y="112"/>
                  <a:pt x="37" y="110"/>
                  <a:pt x="33" y="110"/>
                </a:cubicBezTo>
                <a:cubicBezTo>
                  <a:pt x="29" y="110"/>
                  <a:pt x="26" y="112"/>
                  <a:pt x="23" y="114"/>
                </a:cubicBezTo>
                <a:cubicBezTo>
                  <a:pt x="21" y="116"/>
                  <a:pt x="19" y="120"/>
                  <a:pt x="19" y="124"/>
                </a:cubicBezTo>
                <a:cubicBezTo>
                  <a:pt x="19" y="127"/>
                  <a:pt x="21" y="131"/>
                  <a:pt x="23" y="133"/>
                </a:cubicBezTo>
                <a:close/>
                <a:moveTo>
                  <a:pt x="29" y="120"/>
                </a:moveTo>
                <a:cubicBezTo>
                  <a:pt x="29" y="120"/>
                  <a:pt x="29" y="120"/>
                  <a:pt x="29" y="120"/>
                </a:cubicBezTo>
                <a:cubicBezTo>
                  <a:pt x="30" y="119"/>
                  <a:pt x="31" y="118"/>
                  <a:pt x="33" y="118"/>
                </a:cubicBezTo>
                <a:cubicBezTo>
                  <a:pt x="34" y="118"/>
                  <a:pt x="36" y="119"/>
                  <a:pt x="37" y="120"/>
                </a:cubicBezTo>
                <a:cubicBezTo>
                  <a:pt x="37" y="120"/>
                  <a:pt x="37" y="120"/>
                  <a:pt x="37" y="120"/>
                </a:cubicBezTo>
                <a:cubicBezTo>
                  <a:pt x="38" y="121"/>
                  <a:pt x="38" y="122"/>
                  <a:pt x="38" y="124"/>
                </a:cubicBezTo>
                <a:cubicBezTo>
                  <a:pt x="38" y="125"/>
                  <a:pt x="38" y="127"/>
                  <a:pt x="37" y="128"/>
                </a:cubicBezTo>
                <a:cubicBezTo>
                  <a:pt x="36" y="129"/>
                  <a:pt x="34" y="129"/>
                  <a:pt x="33" y="129"/>
                </a:cubicBezTo>
                <a:cubicBezTo>
                  <a:pt x="31" y="129"/>
                  <a:pt x="30" y="129"/>
                  <a:pt x="29" y="128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8" y="126"/>
                  <a:pt x="27" y="125"/>
                  <a:pt x="27" y="124"/>
                </a:cubicBezTo>
                <a:cubicBezTo>
                  <a:pt x="27" y="122"/>
                  <a:pt x="28" y="121"/>
                  <a:pt x="29" y="120"/>
                </a:cubicBezTo>
                <a:close/>
                <a:moveTo>
                  <a:pt x="32" y="91"/>
                </a:moveTo>
                <a:cubicBezTo>
                  <a:pt x="32" y="91"/>
                  <a:pt x="32" y="91"/>
                  <a:pt x="32" y="91"/>
                </a:cubicBezTo>
                <a:cubicBezTo>
                  <a:pt x="34" y="91"/>
                  <a:pt x="36" y="89"/>
                  <a:pt x="36" y="8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5"/>
                  <a:pt x="34" y="34"/>
                  <a:pt x="32" y="34"/>
                </a:cubicBezTo>
                <a:cubicBezTo>
                  <a:pt x="29" y="34"/>
                  <a:pt x="28" y="35"/>
                  <a:pt x="28" y="38"/>
                </a:cubicBezTo>
                <a:cubicBezTo>
                  <a:pt x="28" y="87"/>
                  <a:pt x="28" y="87"/>
                  <a:pt x="28" y="87"/>
                </a:cubicBezTo>
                <a:cubicBezTo>
                  <a:pt x="28" y="89"/>
                  <a:pt x="29" y="91"/>
                  <a:pt x="32" y="91"/>
                </a:cubicBezTo>
                <a:close/>
                <a:moveTo>
                  <a:pt x="134" y="31"/>
                </a:moveTo>
                <a:cubicBezTo>
                  <a:pt x="134" y="31"/>
                  <a:pt x="134" y="31"/>
                  <a:pt x="134" y="31"/>
                </a:cubicBezTo>
                <a:cubicBezTo>
                  <a:pt x="132" y="32"/>
                  <a:pt x="131" y="34"/>
                  <a:pt x="131" y="36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86"/>
                  <a:pt x="146" y="87"/>
                  <a:pt x="149" y="86"/>
                </a:cubicBezTo>
                <a:cubicBezTo>
                  <a:pt x="151" y="86"/>
                  <a:pt x="152" y="84"/>
                  <a:pt x="152" y="82"/>
                </a:cubicBezTo>
                <a:cubicBezTo>
                  <a:pt x="139" y="34"/>
                  <a:pt x="139" y="34"/>
                  <a:pt x="139" y="34"/>
                </a:cubicBezTo>
                <a:cubicBezTo>
                  <a:pt x="138" y="32"/>
                  <a:pt x="136" y="31"/>
                  <a:pt x="134" y="31"/>
                </a:cubicBezTo>
                <a:close/>
                <a:moveTo>
                  <a:pt x="69" y="133"/>
                </a:moveTo>
                <a:cubicBezTo>
                  <a:pt x="69" y="133"/>
                  <a:pt x="69" y="133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71" y="136"/>
                  <a:pt x="75" y="137"/>
                  <a:pt x="79" y="137"/>
                </a:cubicBezTo>
                <a:cubicBezTo>
                  <a:pt x="82" y="137"/>
                  <a:pt x="86" y="136"/>
                  <a:pt x="88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1"/>
                  <a:pt x="92" y="127"/>
                  <a:pt x="92" y="124"/>
                </a:cubicBezTo>
                <a:cubicBezTo>
                  <a:pt x="92" y="120"/>
                  <a:pt x="91" y="116"/>
                  <a:pt x="88" y="114"/>
                </a:cubicBezTo>
                <a:cubicBezTo>
                  <a:pt x="86" y="112"/>
                  <a:pt x="82" y="110"/>
                  <a:pt x="79" y="110"/>
                </a:cubicBezTo>
                <a:cubicBezTo>
                  <a:pt x="75" y="110"/>
                  <a:pt x="71" y="112"/>
                  <a:pt x="69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6" y="116"/>
                  <a:pt x="65" y="120"/>
                  <a:pt x="65" y="124"/>
                </a:cubicBezTo>
                <a:cubicBezTo>
                  <a:pt x="65" y="127"/>
                  <a:pt x="66" y="131"/>
                  <a:pt x="69" y="133"/>
                </a:cubicBezTo>
                <a:close/>
                <a:moveTo>
                  <a:pt x="75" y="120"/>
                </a:moveTo>
                <a:cubicBezTo>
                  <a:pt x="75" y="120"/>
                  <a:pt x="75" y="120"/>
                  <a:pt x="75" y="120"/>
                </a:cubicBezTo>
                <a:cubicBezTo>
                  <a:pt x="76" y="119"/>
                  <a:pt x="77" y="118"/>
                  <a:pt x="79" y="118"/>
                </a:cubicBezTo>
                <a:cubicBezTo>
                  <a:pt x="80" y="118"/>
                  <a:pt x="81" y="119"/>
                  <a:pt x="82" y="120"/>
                </a:cubicBezTo>
                <a:cubicBezTo>
                  <a:pt x="82" y="120"/>
                  <a:pt x="82" y="120"/>
                  <a:pt x="82" y="120"/>
                </a:cubicBezTo>
                <a:cubicBezTo>
                  <a:pt x="84" y="121"/>
                  <a:pt x="84" y="122"/>
                  <a:pt x="84" y="124"/>
                </a:cubicBezTo>
                <a:cubicBezTo>
                  <a:pt x="84" y="125"/>
                  <a:pt x="84" y="127"/>
                  <a:pt x="83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1" y="129"/>
                  <a:pt x="80" y="129"/>
                  <a:pt x="79" y="129"/>
                </a:cubicBezTo>
                <a:cubicBezTo>
                  <a:pt x="77" y="129"/>
                  <a:pt x="76" y="129"/>
                  <a:pt x="75" y="128"/>
                </a:cubicBezTo>
                <a:cubicBezTo>
                  <a:pt x="74" y="127"/>
                  <a:pt x="74" y="127"/>
                  <a:pt x="74" y="127"/>
                </a:cubicBezTo>
                <a:cubicBezTo>
                  <a:pt x="74" y="126"/>
                  <a:pt x="73" y="125"/>
                  <a:pt x="73" y="124"/>
                </a:cubicBezTo>
                <a:cubicBezTo>
                  <a:pt x="73" y="122"/>
                  <a:pt x="74" y="121"/>
                  <a:pt x="75" y="120"/>
                </a:cubicBezTo>
                <a:close/>
                <a:moveTo>
                  <a:pt x="81" y="91"/>
                </a:moveTo>
                <a:cubicBezTo>
                  <a:pt x="81" y="91"/>
                  <a:pt x="81" y="91"/>
                  <a:pt x="81" y="91"/>
                </a:cubicBezTo>
                <a:cubicBezTo>
                  <a:pt x="83" y="91"/>
                  <a:pt x="85" y="89"/>
                  <a:pt x="85" y="87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5"/>
                  <a:pt x="83" y="34"/>
                  <a:pt x="81" y="34"/>
                </a:cubicBezTo>
                <a:cubicBezTo>
                  <a:pt x="79" y="34"/>
                  <a:pt x="77" y="35"/>
                  <a:pt x="77" y="38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9"/>
                  <a:pt x="79" y="91"/>
                  <a:pt x="81" y="91"/>
                </a:cubicBezTo>
                <a:close/>
                <a:moveTo>
                  <a:pt x="14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6" y="111"/>
                  <a:pt x="144" y="114"/>
                  <a:pt x="144" y="118"/>
                </a:cubicBezTo>
                <a:cubicBezTo>
                  <a:pt x="144" y="122"/>
                  <a:pt x="146" y="125"/>
                  <a:pt x="148" y="128"/>
                </a:cubicBezTo>
                <a:cubicBezTo>
                  <a:pt x="148" y="128"/>
                  <a:pt x="148" y="128"/>
                  <a:pt x="148" y="128"/>
                </a:cubicBezTo>
                <a:cubicBezTo>
                  <a:pt x="151" y="130"/>
                  <a:pt x="154" y="132"/>
                  <a:pt x="158" y="132"/>
                </a:cubicBezTo>
                <a:cubicBezTo>
                  <a:pt x="161" y="132"/>
                  <a:pt x="165" y="131"/>
                  <a:pt x="167" y="128"/>
                </a:cubicBezTo>
                <a:cubicBezTo>
                  <a:pt x="167" y="128"/>
                  <a:pt x="167" y="128"/>
                  <a:pt x="167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0" y="126"/>
                  <a:pt x="171" y="122"/>
                  <a:pt x="171" y="118"/>
                </a:cubicBezTo>
                <a:cubicBezTo>
                  <a:pt x="171" y="114"/>
                  <a:pt x="170" y="111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5" y="106"/>
                  <a:pt x="162" y="105"/>
                  <a:pt x="158" y="105"/>
                </a:cubicBezTo>
                <a:cubicBezTo>
                  <a:pt x="154" y="105"/>
                  <a:pt x="151" y="106"/>
                  <a:pt x="148" y="109"/>
                </a:cubicBezTo>
                <a:close/>
                <a:moveTo>
                  <a:pt x="154" y="114"/>
                </a:moveTo>
                <a:cubicBezTo>
                  <a:pt x="154" y="114"/>
                  <a:pt x="154" y="114"/>
                  <a:pt x="154" y="114"/>
                </a:cubicBezTo>
                <a:cubicBezTo>
                  <a:pt x="155" y="113"/>
                  <a:pt x="156" y="113"/>
                  <a:pt x="158" y="113"/>
                </a:cubicBezTo>
                <a:cubicBezTo>
                  <a:pt x="159" y="113"/>
                  <a:pt x="161" y="113"/>
                  <a:pt x="162" y="114"/>
                </a:cubicBezTo>
                <a:cubicBezTo>
                  <a:pt x="163" y="115"/>
                  <a:pt x="163" y="117"/>
                  <a:pt x="163" y="118"/>
                </a:cubicBezTo>
                <a:cubicBezTo>
                  <a:pt x="163" y="120"/>
                  <a:pt x="163" y="121"/>
                  <a:pt x="162" y="122"/>
                </a:cubicBezTo>
                <a:cubicBezTo>
                  <a:pt x="161" y="123"/>
                  <a:pt x="159" y="124"/>
                  <a:pt x="158" y="124"/>
                </a:cubicBezTo>
                <a:cubicBezTo>
                  <a:pt x="156" y="124"/>
                  <a:pt x="155" y="123"/>
                  <a:pt x="154" y="122"/>
                </a:cubicBezTo>
                <a:cubicBezTo>
                  <a:pt x="154" y="122"/>
                  <a:pt x="154" y="122"/>
                  <a:pt x="154" y="122"/>
                </a:cubicBezTo>
                <a:cubicBezTo>
                  <a:pt x="153" y="121"/>
                  <a:pt x="152" y="120"/>
                  <a:pt x="152" y="118"/>
                </a:cubicBezTo>
                <a:cubicBezTo>
                  <a:pt x="152" y="117"/>
                  <a:pt x="153" y="115"/>
                  <a:pt x="154" y="1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63792" y="93067"/>
            <a:ext cx="3279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本文主要研究内容框架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63688" y="1226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/>
          <p:nvPr/>
        </p:nvGraphicFramePr>
        <p:xfrm>
          <a:off x="611505" y="626745"/>
          <a:ext cx="7769225" cy="447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037820" imgH="8278495" progId="Visio.Drawing.15">
                  <p:embed/>
                </p:oleObj>
              </mc:Choice>
              <mc:Fallback>
                <p:oleObj r:id="rId4" imgW="13037820" imgH="8278495" progId="Visio.Drawing.15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1505" y="626745"/>
                        <a:ext cx="7769225" cy="4474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9" y="295184"/>
            <a:ext cx="2162698" cy="80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图片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9" y="4211131"/>
            <a:ext cx="3316057" cy="79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3021991" y="1634852"/>
            <a:ext cx="3100017" cy="609412"/>
            <a:chOff x="1688006" y="1565980"/>
            <a:chExt cx="3100017" cy="609412"/>
          </a:xfrm>
        </p:grpSpPr>
        <p:sp>
          <p:nvSpPr>
            <p:cNvPr id="25602" name="标题 1"/>
            <p:cNvSpPr txBox="1">
              <a:spLocks noChangeArrowheads="1"/>
            </p:cNvSpPr>
            <p:nvPr/>
          </p:nvSpPr>
          <p:spPr bwMode="auto">
            <a:xfrm>
              <a:off x="2478336" y="1616565"/>
              <a:ext cx="2309687" cy="505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3300" b="1" dirty="0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研究内容一</a:t>
              </a:r>
            </a:p>
          </p:txBody>
        </p:sp>
        <p:grpSp>
          <p:nvGrpSpPr>
            <p:cNvPr id="25605" name="组合 4"/>
            <p:cNvGrpSpPr/>
            <p:nvPr/>
          </p:nvGrpSpPr>
          <p:grpSpPr bwMode="auto">
            <a:xfrm>
              <a:off x="1688006" y="1565980"/>
              <a:ext cx="689159" cy="609412"/>
              <a:chOff x="5091113" y="3690938"/>
              <a:chExt cx="827087" cy="768350"/>
            </a:xfrm>
          </p:grpSpPr>
          <p:sp>
            <p:nvSpPr>
              <p:cNvPr id="9" name="椭圆 8"/>
              <p:cNvSpPr/>
              <p:nvPr/>
            </p:nvSpPr>
            <p:spPr bwMode="auto">
              <a:xfrm flipH="1">
                <a:off x="5091113" y="3690938"/>
                <a:ext cx="827087" cy="768350"/>
              </a:xfrm>
              <a:prstGeom prst="ellipse">
                <a:avLst/>
              </a:prstGeom>
              <a:solidFill>
                <a:srgbClr val="ED4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" name="Freeform 30"/>
              <p:cNvSpPr>
                <a:spLocks noEditPoints="1"/>
              </p:cNvSpPr>
              <p:nvPr/>
            </p:nvSpPr>
            <p:spPr bwMode="auto">
              <a:xfrm flipH="1">
                <a:off x="5319669" y="3819997"/>
                <a:ext cx="414258" cy="507231"/>
              </a:xfrm>
              <a:custGeom>
                <a:avLst/>
                <a:gdLst>
                  <a:gd name="T0" fmla="*/ 60 w 74"/>
                  <a:gd name="T1" fmla="*/ 0 h 97"/>
                  <a:gd name="T2" fmla="*/ 72 w 74"/>
                  <a:gd name="T3" fmla="*/ 11 h 97"/>
                  <a:gd name="T4" fmla="*/ 70 w 74"/>
                  <a:gd name="T5" fmla="*/ 52 h 97"/>
                  <a:gd name="T6" fmla="*/ 63 w 74"/>
                  <a:gd name="T7" fmla="*/ 11 h 97"/>
                  <a:gd name="T8" fmla="*/ 60 w 74"/>
                  <a:gd name="T9" fmla="*/ 8 h 97"/>
                  <a:gd name="T10" fmla="*/ 26 w 74"/>
                  <a:gd name="T11" fmla="*/ 11 h 97"/>
                  <a:gd name="T12" fmla="*/ 26 w 74"/>
                  <a:gd name="T13" fmla="*/ 18 h 97"/>
                  <a:gd name="T14" fmla="*/ 19 w 74"/>
                  <a:gd name="T15" fmla="*/ 24 h 97"/>
                  <a:gd name="T16" fmla="*/ 12 w 74"/>
                  <a:gd name="T17" fmla="*/ 24 h 97"/>
                  <a:gd name="T18" fmla="*/ 8 w 74"/>
                  <a:gd name="T19" fmla="*/ 79 h 97"/>
                  <a:gd name="T20" fmla="*/ 9 w 74"/>
                  <a:gd name="T21" fmla="*/ 81 h 97"/>
                  <a:gd name="T22" fmla="*/ 28 w 74"/>
                  <a:gd name="T23" fmla="*/ 82 h 97"/>
                  <a:gd name="T24" fmla="*/ 37 w 74"/>
                  <a:gd name="T25" fmla="*/ 90 h 97"/>
                  <a:gd name="T26" fmla="*/ 3 w 74"/>
                  <a:gd name="T27" fmla="*/ 87 h 97"/>
                  <a:gd name="T28" fmla="*/ 3 w 74"/>
                  <a:gd name="T29" fmla="*/ 87 h 97"/>
                  <a:gd name="T30" fmla="*/ 0 w 74"/>
                  <a:gd name="T31" fmla="*/ 20 h 97"/>
                  <a:gd name="T32" fmla="*/ 1 w 74"/>
                  <a:gd name="T33" fmla="*/ 17 h 97"/>
                  <a:gd name="T34" fmla="*/ 19 w 74"/>
                  <a:gd name="T35" fmla="*/ 0 h 97"/>
                  <a:gd name="T36" fmla="*/ 17 w 74"/>
                  <a:gd name="T37" fmla="*/ 52 h 97"/>
                  <a:gd name="T38" fmla="*/ 27 w 74"/>
                  <a:gd name="T39" fmla="*/ 56 h 97"/>
                  <a:gd name="T40" fmla="*/ 17 w 74"/>
                  <a:gd name="T41" fmla="*/ 52 h 97"/>
                  <a:gd name="T42" fmla="*/ 17 w 74"/>
                  <a:gd name="T43" fmla="*/ 44 h 97"/>
                  <a:gd name="T44" fmla="*/ 56 w 74"/>
                  <a:gd name="T45" fmla="*/ 40 h 97"/>
                  <a:gd name="T46" fmla="*/ 17 w 74"/>
                  <a:gd name="T47" fmla="*/ 28 h 97"/>
                  <a:gd name="T48" fmla="*/ 56 w 74"/>
                  <a:gd name="T49" fmla="*/ 33 h 97"/>
                  <a:gd name="T50" fmla="*/ 17 w 74"/>
                  <a:gd name="T51" fmla="*/ 28 h 97"/>
                  <a:gd name="T52" fmla="*/ 34 w 74"/>
                  <a:gd name="T53" fmla="*/ 22 h 97"/>
                  <a:gd name="T54" fmla="*/ 56 w 74"/>
                  <a:gd name="T55" fmla="*/ 17 h 97"/>
                  <a:gd name="T56" fmla="*/ 41 w 74"/>
                  <a:gd name="T57" fmla="*/ 69 h 97"/>
                  <a:gd name="T58" fmla="*/ 41 w 74"/>
                  <a:gd name="T59" fmla="*/ 69 h 97"/>
                  <a:gd name="T60" fmla="*/ 31 w 74"/>
                  <a:gd name="T61" fmla="*/ 66 h 97"/>
                  <a:gd name="T62" fmla="*/ 47 w 74"/>
                  <a:gd name="T63" fmla="*/ 86 h 97"/>
                  <a:gd name="T64" fmla="*/ 59 w 74"/>
                  <a:gd name="T65" fmla="*/ 87 h 97"/>
                  <a:gd name="T66" fmla="*/ 71 w 74"/>
                  <a:gd name="T67" fmla="*/ 96 h 97"/>
                  <a:gd name="T68" fmla="*/ 72 w 74"/>
                  <a:gd name="T69" fmla="*/ 90 h 97"/>
                  <a:gd name="T70" fmla="*/ 63 w 74"/>
                  <a:gd name="T71" fmla="*/ 80 h 97"/>
                  <a:gd name="T72" fmla="*/ 64 w 74"/>
                  <a:gd name="T73" fmla="*/ 57 h 97"/>
                  <a:gd name="T74" fmla="*/ 38 w 74"/>
                  <a:gd name="T75" fmla="*/ 54 h 97"/>
                  <a:gd name="T76" fmla="*/ 42 w 74"/>
                  <a:gd name="T77" fmla="*/ 58 h 97"/>
                  <a:gd name="T78" fmla="*/ 40 w 74"/>
                  <a:gd name="T79" fmla="*/ 76 h 97"/>
                  <a:gd name="T80" fmla="*/ 57 w 74"/>
                  <a:gd name="T81" fmla="*/ 78 h 97"/>
                  <a:gd name="T82" fmla="*/ 59 w 74"/>
                  <a:gd name="T83" fmla="*/ 61 h 97"/>
                  <a:gd name="T84" fmla="*/ 21 w 74"/>
                  <a:gd name="T85" fmla="*/ 9 h 97"/>
                  <a:gd name="T86" fmla="*/ 13 w 74"/>
                  <a:gd name="T87" fmla="*/ 19 h 97"/>
                  <a:gd name="T88" fmla="*/ 17 w 74"/>
                  <a:gd name="T89" fmla="*/ 20 h 97"/>
                  <a:gd name="T90" fmla="*/ 18 w 74"/>
                  <a:gd name="T91" fmla="*/ 20 h 97"/>
                  <a:gd name="T92" fmla="*/ 22 w 74"/>
                  <a:gd name="T93" fmla="*/ 17 h 97"/>
                  <a:gd name="T94" fmla="*/ 22 w 74"/>
                  <a:gd name="T95" fmla="*/ 15 h 97"/>
                  <a:gd name="T96" fmla="*/ 21 w 74"/>
                  <a:gd name="T97" fmla="*/ 1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97">
                    <a:moveTo>
                      <a:pt x="21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6" y="1"/>
                      <a:pt x="68" y="3"/>
                    </a:cubicBezTo>
                    <a:cubicBezTo>
                      <a:pt x="70" y="5"/>
                      <a:pt x="72" y="8"/>
                      <a:pt x="72" y="11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5"/>
                      <a:pt x="70" y="53"/>
                      <a:pt x="70" y="52"/>
                    </a:cubicBezTo>
                    <a:cubicBezTo>
                      <a:pt x="68" y="50"/>
                      <a:pt x="66" y="48"/>
                      <a:pt x="63" y="47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0"/>
                      <a:pt x="63" y="9"/>
                      <a:pt x="62" y="9"/>
                    </a:cubicBezTo>
                    <a:cubicBezTo>
                      <a:pt x="62" y="8"/>
                      <a:pt x="61" y="8"/>
                      <a:pt x="60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5" y="21"/>
                      <a:pt x="23" y="22"/>
                    </a:cubicBezTo>
                    <a:cubicBezTo>
                      <a:pt x="22" y="23"/>
                      <a:pt x="21" y="24"/>
                      <a:pt x="19" y="24"/>
                    </a:cubicBezTo>
                    <a:cubicBezTo>
                      <a:pt x="18" y="24"/>
                      <a:pt x="17" y="24"/>
                      <a:pt x="16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80"/>
                      <a:pt x="9" y="80"/>
                      <a:pt x="9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10" y="81"/>
                      <a:pt x="10" y="82"/>
                      <a:pt x="11" y="82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8" y="82"/>
                      <a:pt x="29" y="83"/>
                      <a:pt x="29" y="84"/>
                    </a:cubicBezTo>
                    <a:cubicBezTo>
                      <a:pt x="31" y="86"/>
                      <a:pt x="34" y="88"/>
                      <a:pt x="37" y="90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8" y="90"/>
                      <a:pt x="5" y="89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1" y="85"/>
                      <a:pt x="0" y="82"/>
                      <a:pt x="0" y="7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  <a:moveTo>
                      <a:pt x="17" y="52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7" y="52"/>
                      <a:pt x="17" y="52"/>
                      <a:pt x="17" y="52"/>
                    </a:cubicBezTo>
                    <a:close/>
                    <a:moveTo>
                      <a:pt x="17" y="40"/>
                    </a:moveTo>
                    <a:cubicBezTo>
                      <a:pt x="17" y="44"/>
                      <a:pt x="17" y="44"/>
                      <a:pt x="17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17" y="40"/>
                      <a:pt x="17" y="40"/>
                      <a:pt x="17" y="40"/>
                    </a:cubicBezTo>
                    <a:close/>
                    <a:moveTo>
                      <a:pt x="17" y="28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34" y="17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34" y="17"/>
                      <a:pt x="34" y="17"/>
                      <a:pt x="34" y="17"/>
                    </a:cubicBezTo>
                    <a:close/>
                    <a:moveTo>
                      <a:pt x="41" y="69"/>
                    </a:moveTo>
                    <a:cubicBezTo>
                      <a:pt x="43" y="64"/>
                      <a:pt x="48" y="61"/>
                      <a:pt x="55" y="60"/>
                    </a:cubicBezTo>
                    <a:cubicBezTo>
                      <a:pt x="48" y="56"/>
                      <a:pt x="39" y="62"/>
                      <a:pt x="41" y="69"/>
                    </a:cubicBezTo>
                    <a:close/>
                    <a:moveTo>
                      <a:pt x="38" y="54"/>
                    </a:moveTo>
                    <a:cubicBezTo>
                      <a:pt x="34" y="57"/>
                      <a:pt x="32" y="61"/>
                      <a:pt x="31" y="66"/>
                    </a:cubicBezTo>
                    <a:cubicBezTo>
                      <a:pt x="31" y="70"/>
                      <a:pt x="32" y="75"/>
                      <a:pt x="35" y="79"/>
                    </a:cubicBezTo>
                    <a:cubicBezTo>
                      <a:pt x="38" y="83"/>
                      <a:pt x="43" y="86"/>
                      <a:pt x="47" y="86"/>
                    </a:cubicBezTo>
                    <a:cubicBezTo>
                      <a:pt x="51" y="87"/>
                      <a:pt x="55" y="86"/>
                      <a:pt x="58" y="84"/>
                    </a:cubicBezTo>
                    <a:cubicBezTo>
                      <a:pt x="58" y="85"/>
                      <a:pt x="58" y="86"/>
                      <a:pt x="59" y="87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7" y="97"/>
                      <a:pt x="69" y="97"/>
                      <a:pt x="71" y="96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73" y="94"/>
                      <a:pt x="74" y="91"/>
                      <a:pt x="72" y="90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5" y="81"/>
                      <a:pt x="64" y="80"/>
                      <a:pt x="63" y="80"/>
                    </a:cubicBezTo>
                    <a:cubicBezTo>
                      <a:pt x="66" y="77"/>
                      <a:pt x="67" y="74"/>
                      <a:pt x="68" y="70"/>
                    </a:cubicBezTo>
                    <a:cubicBezTo>
                      <a:pt x="68" y="66"/>
                      <a:pt x="67" y="61"/>
                      <a:pt x="64" y="57"/>
                    </a:cubicBezTo>
                    <a:cubicBezTo>
                      <a:pt x="61" y="53"/>
                      <a:pt x="56" y="50"/>
                      <a:pt x="52" y="50"/>
                    </a:cubicBezTo>
                    <a:cubicBezTo>
                      <a:pt x="47" y="49"/>
                      <a:pt x="42" y="50"/>
                      <a:pt x="38" y="54"/>
                    </a:cubicBezTo>
                    <a:close/>
                    <a:moveTo>
                      <a:pt x="51" y="56"/>
                    </a:moveTo>
                    <a:cubicBezTo>
                      <a:pt x="48" y="56"/>
                      <a:pt x="45" y="56"/>
                      <a:pt x="42" y="58"/>
                    </a:cubicBezTo>
                    <a:cubicBezTo>
                      <a:pt x="39" y="61"/>
                      <a:pt x="38" y="63"/>
                      <a:pt x="37" y="67"/>
                    </a:cubicBezTo>
                    <a:cubicBezTo>
                      <a:pt x="37" y="70"/>
                      <a:pt x="38" y="73"/>
                      <a:pt x="40" y="76"/>
                    </a:cubicBezTo>
                    <a:cubicBezTo>
                      <a:pt x="42" y="78"/>
                      <a:pt x="45" y="80"/>
                      <a:pt x="48" y="80"/>
                    </a:cubicBezTo>
                    <a:cubicBezTo>
                      <a:pt x="51" y="80"/>
                      <a:pt x="54" y="80"/>
                      <a:pt x="57" y="78"/>
                    </a:cubicBezTo>
                    <a:cubicBezTo>
                      <a:pt x="60" y="76"/>
                      <a:pt x="61" y="73"/>
                      <a:pt x="61" y="69"/>
                    </a:cubicBezTo>
                    <a:cubicBezTo>
                      <a:pt x="62" y="66"/>
                      <a:pt x="61" y="63"/>
                      <a:pt x="59" y="61"/>
                    </a:cubicBezTo>
                    <a:cubicBezTo>
                      <a:pt x="57" y="58"/>
                      <a:pt x="54" y="56"/>
                      <a:pt x="51" y="56"/>
                    </a:cubicBezTo>
                    <a:close/>
                    <a:moveTo>
                      <a:pt x="21" y="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9" y="20"/>
                      <a:pt x="20" y="19"/>
                      <a:pt x="21" y="19"/>
                    </a:cubicBezTo>
                    <a:cubicBezTo>
                      <a:pt x="21" y="18"/>
                      <a:pt x="22" y="17"/>
                      <a:pt x="22" y="17"/>
                    </a:cubicBezTo>
                    <a:cubicBezTo>
                      <a:pt x="22" y="16"/>
                      <a:pt x="22" y="16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1"/>
                      <a:pt x="21" y="11"/>
                      <a:pt x="21" y="11"/>
                    </a:cubicBezTo>
                    <a:lnTo>
                      <a:pt x="21" y="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defTabSz="685800"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539552" y="2570956"/>
            <a:ext cx="836022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1C488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基于辐射时间序列法的建筑冷热电负荷求解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323528" y="849322"/>
            <a:ext cx="8496944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21601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62097" y="234387"/>
            <a:ext cx="3261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辐射时间序列法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3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15695" y="1058545"/>
            <a:ext cx="24866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辐射时间序列法流程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349750" y="3291205"/>
            <a:ext cx="4481195" cy="163004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indent="0" algn="just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所有表面的得热最终都会转化为冷负荷，即</a:t>
            </a:r>
            <a:r>
              <a:rPr lang="zh-CN" altLang="en-US" sz="16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不考虑冷损失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indent="0" algn="just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周期响应因子和辐射时间序列因子均通过</a:t>
            </a:r>
            <a:r>
              <a:rPr lang="zh-CN" altLang="en-US" sz="16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预先计算得出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；</a:t>
            </a:r>
          </a:p>
          <a:p>
            <a:pPr indent="0" algn="just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外部和内部的</a:t>
            </a:r>
            <a:r>
              <a:rPr lang="zh-CN" altLang="en-US" sz="16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复合传热系数被视为不随时间变化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00634" y="105603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/>
          <p:nvPr/>
        </p:nvGraphicFramePr>
        <p:xfrm>
          <a:off x="4499739" y="826500"/>
          <a:ext cx="4624388" cy="252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036050" imgH="5476875" progId="Visio.Drawing.15">
                  <p:embed/>
                </p:oleObj>
              </mc:Choice>
              <mc:Fallback>
                <p:oleObj r:id="rId4" imgW="9036050" imgH="5476875" progId="Visio.Drawing.15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739" y="826500"/>
                        <a:ext cx="4624388" cy="2528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621"/>
          <p:cNvGraphicFramePr>
            <a:graphicFrameLocks noChangeAspect="1"/>
          </p:cNvGraphicFramePr>
          <p:nvPr/>
        </p:nvGraphicFramePr>
        <p:xfrm>
          <a:off x="323215" y="1562418"/>
          <a:ext cx="4192270" cy="313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495030" imgH="6361430" progId="Visio.Drawing.15">
                  <p:embed/>
                </p:oleObj>
              </mc:Choice>
              <mc:Fallback>
                <p:oleObj r:id="rId6" imgW="8495030" imgH="6361430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3215" y="1562418"/>
                        <a:ext cx="4192270" cy="31318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对象 -2147482588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069080" y="1490980"/>
          <a:ext cx="1278890" cy="392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14300" imgH="177165" progId="Equation.DSMT4">
                  <p:embed/>
                </p:oleObj>
              </mc:Choice>
              <mc:Fallback>
                <p:oleObj r:id="rId19" imgW="114300" imgH="177165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69080" y="1490980"/>
                        <a:ext cx="1278890" cy="39243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: 圆角 1"/>
          <p:cNvSpPr/>
          <p:nvPr/>
        </p:nvSpPr>
        <p:spPr>
          <a:xfrm>
            <a:off x="323528" y="849322"/>
            <a:ext cx="8496944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17038" y="121601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62096" y="234387"/>
            <a:ext cx="4341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辐射时间序列法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响应因子求解</a:t>
            </a:r>
            <a:endParaRPr kumimoji="0" lang="zh-CN" altLang="en-US" sz="2400" b="0" i="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3997325" y="995680"/>
            <a:ext cx="4720590" cy="388175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3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425450" y="2915285"/>
            <a:ext cx="3510280" cy="196151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3"/>
            </p:custDataLst>
          </p:nvPr>
        </p:nvSpPr>
        <p:spPr>
          <a:xfrm>
            <a:off x="426085" y="987425"/>
            <a:ext cx="3510280" cy="187134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"/>
            </p:custDataLst>
          </p:nvPr>
        </p:nvSpPr>
        <p:spPr>
          <a:xfrm>
            <a:off x="1404118" y="4451548"/>
            <a:ext cx="1670831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求解辐射时间因子</a:t>
            </a:r>
          </a:p>
        </p:txBody>
      </p:sp>
      <p:sp>
        <p:nvSpPr>
          <p:cNvPr id="18456" name="文本框 18455"/>
          <p:cNvSpPr txBox="1"/>
          <p:nvPr/>
        </p:nvSpPr>
        <p:spPr>
          <a:xfrm>
            <a:off x="5076190" y="4570730"/>
            <a:ext cx="297624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通过拉普拉斯变换求解传递函数</a:t>
            </a:r>
          </a:p>
        </p:txBody>
      </p:sp>
      <p:graphicFrame>
        <p:nvGraphicFramePr>
          <p:cNvPr id="4" name="对象 -2147482588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4037330" y="999808"/>
          <a:ext cx="1371600" cy="417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371600" imgH="419100" progId="Equation.DSMT4">
                  <p:embed/>
                </p:oleObj>
              </mc:Choice>
              <mc:Fallback>
                <p:oleObj r:id="rId22" imgW="1371600" imgH="419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037330" y="999808"/>
                        <a:ext cx="1371600" cy="41783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2587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100195" y="1490980"/>
          <a:ext cx="1248410" cy="391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244600" imgH="393700" progId="Equation.DSMT4">
                  <p:embed/>
                </p:oleObj>
              </mc:Choice>
              <mc:Fallback>
                <p:oleObj r:id="rId24" imgW="1244600" imgH="393700" progId="Equation.DSMT4">
                  <p:embed/>
                  <p:pic>
                    <p:nvPicPr>
                      <p:cNvPr id="0" name="图片 3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100195" y="1490980"/>
                        <a:ext cx="1248410" cy="3917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2575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611505" y="1635125"/>
          <a:ext cx="3063240" cy="254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3060700" imgH="254000" progId="Equation.DSMT4">
                  <p:embed/>
                </p:oleObj>
              </mc:Choice>
              <mc:Fallback>
                <p:oleObj r:id="rId26" imgW="3060700" imgH="254000" progId="Equation.DSMT4">
                  <p:embed/>
                  <p:pic>
                    <p:nvPicPr>
                      <p:cNvPr id="0" name="图片 42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11505" y="1635125"/>
                        <a:ext cx="3063240" cy="2546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-2147482586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241108" y="1058545"/>
          <a:ext cx="1802765" cy="24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803400" imgH="241300" progId="Equation.DSMT4">
                  <p:embed/>
                </p:oleObj>
              </mc:Choice>
              <mc:Fallback>
                <p:oleObj r:id="rId28" imgW="1803400" imgH="241300" progId="Equation.DSMT4">
                  <p:embed/>
                  <p:pic>
                    <p:nvPicPr>
                      <p:cNvPr id="0" name="图片 43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241108" y="1058545"/>
                        <a:ext cx="1802765" cy="2419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-2147482584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241108" y="1346835"/>
          <a:ext cx="1704975" cy="24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1701800" imgH="241300" progId="Equation.DSMT4">
                  <p:embed/>
                </p:oleObj>
              </mc:Choice>
              <mc:Fallback>
                <p:oleObj r:id="rId30" imgW="1701800" imgH="241300" progId="Equation.DSMT4">
                  <p:embed/>
                  <p:pic>
                    <p:nvPicPr>
                      <p:cNvPr id="0" name="图片 4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241108" y="1346835"/>
                        <a:ext cx="1704975" cy="2419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-2147482574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1311910" y="1850708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1600200" imgH="457200" progId="Equation.DSMT4">
                  <p:embed/>
                </p:oleObj>
              </mc:Choice>
              <mc:Fallback>
                <p:oleObj r:id="rId32" imgW="1600200" imgH="457200" progId="Equation.DSMT4">
                  <p:embed/>
                  <p:pic>
                    <p:nvPicPr>
                      <p:cNvPr id="0" name="图片 48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311910" y="1850708"/>
                        <a:ext cx="16002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-2147482573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805815" y="2308225"/>
          <a:ext cx="1051560" cy="24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1054100" imgH="241300" progId="Equation.DSMT4">
                  <p:embed/>
                </p:oleObj>
              </mc:Choice>
              <mc:Fallback>
                <p:oleObj r:id="rId34" imgW="1054100" imgH="241300" progId="Equation.DSMT4">
                  <p:embed/>
                  <p:pic>
                    <p:nvPicPr>
                      <p:cNvPr id="0" name="图片 49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05815" y="2308225"/>
                        <a:ext cx="1051560" cy="2419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-2147482572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2484755" y="2307908"/>
          <a:ext cx="737870" cy="189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6" imgW="736600" imgH="190500" progId="Equation.DSMT4">
                  <p:embed/>
                </p:oleObj>
              </mc:Choice>
              <mc:Fallback>
                <p:oleObj r:id="rId36" imgW="736600" imgH="190500" progId="Equation.DSMT4">
                  <p:embed/>
                  <p:pic>
                    <p:nvPicPr>
                      <p:cNvPr id="0" name="图片 51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484755" y="2307908"/>
                        <a:ext cx="737870" cy="1892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53"/>
          <p:cNvSpPr txBox="1"/>
          <p:nvPr>
            <p:custDataLst>
              <p:tags r:id="rId13"/>
            </p:custDataLst>
          </p:nvPr>
        </p:nvSpPr>
        <p:spPr>
          <a:xfrm>
            <a:off x="1374273" y="2531943"/>
            <a:ext cx="1670831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求解周期响应因子</a:t>
            </a: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611188" y="4031933"/>
          <a:ext cx="1704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8" imgW="1701800" imgH="457200" progId="Equation.DSMT4">
                  <p:embed/>
                </p:oleObj>
              </mc:Choice>
              <mc:Fallback>
                <p:oleObj r:id="rId38" imgW="1701800" imgH="457200" progId="Equation.DSMT4">
                  <p:embed/>
                  <p:pic>
                    <p:nvPicPr>
                      <p:cNvPr id="0" name="图片 56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11188" y="4031933"/>
                        <a:ext cx="170497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-2147481787"/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655955" y="2968625"/>
          <a:ext cx="3256915" cy="1064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0" imgW="4279900" imgH="1397000" progId="Equation.DSMT4">
                  <p:embed/>
                </p:oleObj>
              </mc:Choice>
              <mc:Fallback>
                <p:oleObj r:id="rId40" imgW="4279900" imgH="1397000" progId="Equation.DSMT4">
                  <p:embed/>
                  <p:pic>
                    <p:nvPicPr>
                      <p:cNvPr id="0" name="图片 59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55955" y="2968625"/>
                        <a:ext cx="3256915" cy="10642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-2147481786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2700020" y="4142740"/>
          <a:ext cx="646430" cy="24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2" imgW="647700" imgH="241300" progId="Equation.DSMT4">
                  <p:embed/>
                </p:oleObj>
              </mc:Choice>
              <mc:Fallback>
                <p:oleObj r:id="rId42" imgW="647700" imgH="241300" progId="Equation.DSMT4">
                  <p:embed/>
                  <p:pic>
                    <p:nvPicPr>
                      <p:cNvPr id="0" name="图片 61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2700020" y="4142740"/>
                        <a:ext cx="646430" cy="2419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-2147482553"/>
          <p:cNvGraphicFramePr>
            <a:graphicFrameLocks noChangeAspect="1"/>
          </p:cNvGraphicFramePr>
          <p:nvPr/>
        </p:nvGraphicFramePr>
        <p:xfrm>
          <a:off x="6065203" y="1084580"/>
          <a:ext cx="23907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4" imgW="2387600" imgH="330200" progId="Equation.DSMT4">
                  <p:embed/>
                </p:oleObj>
              </mc:Choice>
              <mc:Fallback>
                <p:oleObj r:id="rId44" imgW="2387600" imgH="330200" progId="Equation.DSMT4">
                  <p:embed/>
                  <p:pic>
                    <p:nvPicPr>
                      <p:cNvPr id="0" name="图片 66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6065203" y="1084580"/>
                        <a:ext cx="2390775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-2147482537"/>
          <p:cNvGraphicFramePr>
            <a:graphicFrameLocks noChangeAspect="1"/>
          </p:cNvGraphicFramePr>
          <p:nvPr/>
        </p:nvGraphicFramePr>
        <p:xfrm>
          <a:off x="5652770" y="1445895"/>
          <a:ext cx="3023870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6" imgW="3022600" imgH="444500" progId="Equation.DSMT4">
                  <p:embed/>
                </p:oleObj>
              </mc:Choice>
              <mc:Fallback>
                <p:oleObj r:id="rId46" imgW="3022600" imgH="444500" progId="Equation.DSMT4">
                  <p:embed/>
                  <p:pic>
                    <p:nvPicPr>
                      <p:cNvPr id="0" name="图片 69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652770" y="1445895"/>
                        <a:ext cx="3023870" cy="443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文本框 79"/>
          <p:cNvSpPr txBox="1"/>
          <p:nvPr/>
        </p:nvSpPr>
        <p:spPr>
          <a:xfrm>
            <a:off x="4067810" y="1943100"/>
            <a:ext cx="1457325" cy="2730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200">
                <a:latin typeface="Times New Roman" panose="02020603050405020304"/>
                <a:ea typeface="宋体" panose="02010600030101010101" pitchFamily="2" charset="-122"/>
                <a:sym typeface="+mn-ea"/>
              </a:rPr>
              <a:t>单层平壁传递矩阵</a:t>
            </a:r>
            <a:endParaRPr lang="zh-CN" altLang="en-US" sz="120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44" name="对象 -2147482523"/>
          <p:cNvGraphicFramePr>
            <a:graphicFrameLocks noChangeAspect="1"/>
          </p:cNvGraphicFramePr>
          <p:nvPr/>
        </p:nvGraphicFramePr>
        <p:xfrm>
          <a:off x="5075873" y="2000568"/>
          <a:ext cx="357949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8" imgW="3581400" imgH="914400" progId="Equation.DSMT4">
                  <p:embed/>
                </p:oleObj>
              </mc:Choice>
              <mc:Fallback>
                <p:oleObj r:id="rId48" imgW="3581400" imgH="914400" progId="Equation.DSMT4">
                  <p:embed/>
                  <p:pic>
                    <p:nvPicPr>
                      <p:cNvPr id="0" name="图片 80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075873" y="2000568"/>
                        <a:ext cx="357949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文本框 83"/>
          <p:cNvSpPr txBox="1"/>
          <p:nvPr/>
        </p:nvSpPr>
        <p:spPr>
          <a:xfrm>
            <a:off x="4067810" y="2896870"/>
            <a:ext cx="1889125" cy="2755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Times New Roman" panose="02020603050405020304"/>
                <a:ea typeface="宋体" panose="02010600030101010101" pitchFamily="2" charset="-122"/>
                <a:sym typeface="+mn-ea"/>
              </a:rPr>
              <a:t>含空气边界平壁传递矩阵</a:t>
            </a:r>
            <a:endParaRPr lang="zh-CN" altLang="en-US" sz="120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49" name="对象 -2147482502"/>
          <p:cNvGraphicFramePr>
            <a:graphicFrameLocks noChangeAspect="1"/>
          </p:cNvGraphicFramePr>
          <p:nvPr/>
        </p:nvGraphicFramePr>
        <p:xfrm>
          <a:off x="4427855" y="3218815"/>
          <a:ext cx="4047490" cy="530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0" imgW="5422900" imgH="711200" progId="Equation.DSMT4">
                  <p:embed/>
                </p:oleObj>
              </mc:Choice>
              <mc:Fallback>
                <p:oleObj r:id="rId50" imgW="5422900" imgH="711200" progId="Equation.DSMT4">
                  <p:embed/>
                  <p:pic>
                    <p:nvPicPr>
                      <p:cNvPr id="0" name="图片 84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4427855" y="3218815"/>
                        <a:ext cx="4047490" cy="5308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文本框 85"/>
          <p:cNvSpPr txBox="1"/>
          <p:nvPr/>
        </p:nvSpPr>
        <p:spPr>
          <a:xfrm>
            <a:off x="4067810" y="3749675"/>
            <a:ext cx="2226310" cy="2755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Times New Roman" panose="02020603050405020304"/>
                <a:ea typeface="宋体" panose="02010600030101010101" pitchFamily="2" charset="-122"/>
                <a:sym typeface="+mn-ea"/>
              </a:rPr>
              <a:t>含空气边界多层平壁传递矩阵</a:t>
            </a:r>
            <a:endParaRPr lang="zh-CN" altLang="en-US" sz="120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51" name="对象 -2147482499"/>
          <p:cNvGraphicFramePr>
            <a:graphicFrameLocks noChangeAspect="1"/>
          </p:cNvGraphicFramePr>
          <p:nvPr/>
        </p:nvGraphicFramePr>
        <p:xfrm>
          <a:off x="4007485" y="4127500"/>
          <a:ext cx="4650105" cy="389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2" imgW="7416800" imgH="508000" progId="Equation.DSMT4">
                  <p:embed/>
                </p:oleObj>
              </mc:Choice>
              <mc:Fallback>
                <p:oleObj r:id="rId52" imgW="7416800" imgH="508000" progId="Equation.DSMT4">
                  <p:embed/>
                  <p:pic>
                    <p:nvPicPr>
                      <p:cNvPr id="0" name="图片 86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007485" y="4127500"/>
                        <a:ext cx="4650105" cy="3898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323528" y="849322"/>
            <a:ext cx="8496944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21601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62097" y="234387"/>
            <a:ext cx="39091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建筑各类得热模型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53335" y="4460240"/>
            <a:ext cx="4110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辐射时间序列法求解负荷数学模型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6278379" y="1065285"/>
            <a:ext cx="2326069" cy="316185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720474" y="1131075"/>
            <a:ext cx="1409699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窗户得热模型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3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5500" y="3058795"/>
            <a:ext cx="204724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其他得热模型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6016" y="3013732"/>
            <a:ext cx="2522156" cy="121340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111885" y="1088390"/>
            <a:ext cx="162433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墙壁传导得热模型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58311" y="1047840"/>
            <a:ext cx="2522156" cy="1641917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-2147482494"/>
          <p:cNvGraphicFramePr>
            <a:graphicFrameLocks noChangeAspect="1"/>
          </p:cNvGraphicFramePr>
          <p:nvPr/>
        </p:nvGraphicFramePr>
        <p:xfrm>
          <a:off x="683578" y="1490663"/>
          <a:ext cx="245046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51100" imgH="508000" progId="Equation.DSMT4">
                  <p:embed/>
                </p:oleObj>
              </mc:Choice>
              <mc:Fallback>
                <p:oleObj r:id="rId4" imgW="2451100" imgH="508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3578" y="1490663"/>
                        <a:ext cx="245046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2493"/>
          <p:cNvGraphicFramePr>
            <a:graphicFrameLocks noChangeAspect="1"/>
          </p:cNvGraphicFramePr>
          <p:nvPr/>
        </p:nvGraphicFramePr>
        <p:xfrm>
          <a:off x="1043940" y="2066608"/>
          <a:ext cx="1828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28800" imgH="241300" progId="Equation.DSMT4">
                  <p:embed/>
                </p:oleObj>
              </mc:Choice>
              <mc:Fallback>
                <p:oleObj r:id="rId6" imgW="1828800" imgH="2413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3940" y="2066608"/>
                        <a:ext cx="18288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-2147482469"/>
          <p:cNvGraphicFramePr>
            <a:graphicFrameLocks noChangeAspect="1"/>
          </p:cNvGraphicFramePr>
          <p:nvPr/>
        </p:nvGraphicFramePr>
        <p:xfrm>
          <a:off x="6804660" y="1562418"/>
          <a:ext cx="1242060" cy="229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44600" imgH="228600" progId="Equation.DSMT4">
                  <p:embed/>
                </p:oleObj>
              </mc:Choice>
              <mc:Fallback>
                <p:oleObj r:id="rId8" imgW="1244600" imgH="2286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04660" y="1562418"/>
                        <a:ext cx="1242060" cy="229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-2147482468"/>
          <p:cNvGraphicFramePr>
            <a:graphicFrameLocks noChangeAspect="1"/>
          </p:cNvGraphicFramePr>
          <p:nvPr/>
        </p:nvGraphicFramePr>
        <p:xfrm>
          <a:off x="6444298" y="2210753"/>
          <a:ext cx="199580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993900" imgH="241300" progId="Equation.DSMT4">
                  <p:embed/>
                </p:oleObj>
              </mc:Choice>
              <mc:Fallback>
                <p:oleObj r:id="rId10" imgW="1993900" imgH="2413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44298" y="2210753"/>
                        <a:ext cx="1995805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-2147482467"/>
          <p:cNvGraphicFramePr>
            <a:graphicFrameLocks noChangeAspect="1"/>
          </p:cNvGraphicFramePr>
          <p:nvPr/>
        </p:nvGraphicFramePr>
        <p:xfrm>
          <a:off x="6300470" y="2525078"/>
          <a:ext cx="2197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197100" imgH="241300" progId="Equation.DSMT4">
                  <p:embed/>
                </p:oleObj>
              </mc:Choice>
              <mc:Fallback>
                <p:oleObj r:id="rId12" imgW="2197100" imgH="2413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00470" y="2525078"/>
                        <a:ext cx="21971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-2147482473"/>
          <p:cNvGraphicFramePr>
            <a:graphicFrameLocks noChangeAspect="1"/>
          </p:cNvGraphicFramePr>
          <p:nvPr/>
        </p:nvGraphicFramePr>
        <p:xfrm>
          <a:off x="6720205" y="1874838"/>
          <a:ext cx="1449070" cy="229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447800" imgH="228600" progId="Equation.DSMT4">
                  <p:embed/>
                </p:oleObj>
              </mc:Choice>
              <mc:Fallback>
                <p:oleObj r:id="rId14" imgW="1447800" imgH="2286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20205" y="1874838"/>
                        <a:ext cx="1449070" cy="229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-2147482453"/>
          <p:cNvGraphicFramePr>
            <a:graphicFrameLocks noChangeAspect="1"/>
          </p:cNvGraphicFramePr>
          <p:nvPr/>
        </p:nvGraphicFramePr>
        <p:xfrm>
          <a:off x="6891020" y="2858453"/>
          <a:ext cx="1155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155700" imgH="241300" progId="Equation.DSMT4">
                  <p:embed/>
                </p:oleObj>
              </mc:Choice>
              <mc:Fallback>
                <p:oleObj r:id="rId16" imgW="1155700" imgH="2413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91020" y="2858453"/>
                        <a:ext cx="11557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-2147482452"/>
          <p:cNvGraphicFramePr>
            <a:graphicFrameLocks noChangeAspect="1"/>
          </p:cNvGraphicFramePr>
          <p:nvPr/>
        </p:nvGraphicFramePr>
        <p:xfrm>
          <a:off x="6804660" y="3201988"/>
          <a:ext cx="1155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155700" imgH="241300" progId="Equation.DSMT4">
                  <p:embed/>
                </p:oleObj>
              </mc:Choice>
              <mc:Fallback>
                <p:oleObj r:id="rId18" imgW="1155700" imgH="2413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04660" y="3201988"/>
                        <a:ext cx="11557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6762750" y="3578543"/>
          <a:ext cx="128397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282700" imgH="241300" progId="Equation.DSMT4">
                  <p:embed/>
                </p:oleObj>
              </mc:Choice>
              <mc:Fallback>
                <p:oleObj r:id="rId20" imgW="1282700" imgH="2413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762750" y="3578543"/>
                        <a:ext cx="128397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-2147482498"/>
          <p:cNvGraphicFramePr>
            <a:graphicFrameLocks noChangeAspect="1"/>
          </p:cNvGraphicFramePr>
          <p:nvPr/>
        </p:nvGraphicFramePr>
        <p:xfrm>
          <a:off x="1057910" y="2355215"/>
          <a:ext cx="1708150" cy="224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714500" imgH="228600" progId="Equation.DSMT4">
                  <p:embed/>
                </p:oleObj>
              </mc:Choice>
              <mc:Fallback>
                <p:oleObj r:id="rId22" imgW="1714500" imgH="2286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57910" y="2355215"/>
                        <a:ext cx="1708150" cy="2241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-2147481835"/>
          <p:cNvGraphicFramePr>
            <a:graphicFrameLocks noChangeAspect="1"/>
          </p:cNvGraphicFramePr>
          <p:nvPr/>
        </p:nvGraphicFramePr>
        <p:xfrm>
          <a:off x="3173730" y="966470"/>
          <a:ext cx="3138805" cy="172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8868410" imgH="4886325" progId="Visio.Drawing.15">
                  <p:embed/>
                </p:oleObj>
              </mc:Choice>
              <mc:Fallback>
                <p:oleObj r:id="rId24" imgW="8868410" imgH="4886325" progId="Visio.Drawing.15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173730" y="966470"/>
                        <a:ext cx="3138805" cy="17233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-2147482503"/>
          <p:cNvGraphicFramePr>
            <a:graphicFrameLocks noChangeAspect="1"/>
          </p:cNvGraphicFramePr>
          <p:nvPr/>
        </p:nvGraphicFramePr>
        <p:xfrm>
          <a:off x="3134360" y="2965450"/>
          <a:ext cx="303784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6911975" imgH="2221865" progId="Visio.Drawing.15">
                  <p:embed/>
                </p:oleObj>
              </mc:Choice>
              <mc:Fallback>
                <p:oleObj r:id="rId26" imgW="6911975" imgH="2221865" progId="Visio.Drawing.15">
                  <p:embed/>
                  <p:pic>
                    <p:nvPicPr>
                      <p:cNvPr id="0" name="图片 26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134360" y="2965450"/>
                        <a:ext cx="3037840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-2147482440"/>
          <p:cNvGraphicFramePr>
            <a:graphicFrameLocks noChangeAspect="1"/>
          </p:cNvGraphicFramePr>
          <p:nvPr/>
        </p:nvGraphicFramePr>
        <p:xfrm>
          <a:off x="1376998" y="3362960"/>
          <a:ext cx="942975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927100" imgH="241300" progId="Equation.DSMT4">
                  <p:embed/>
                </p:oleObj>
              </mc:Choice>
              <mc:Fallback>
                <p:oleObj r:id="rId28" imgW="927100" imgH="241300" progId="Equation.DSMT4">
                  <p:embed/>
                  <p:pic>
                    <p:nvPicPr>
                      <p:cNvPr id="0" name="图片 27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376998" y="3362960"/>
                        <a:ext cx="942975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-2147482420"/>
          <p:cNvGraphicFramePr>
            <a:graphicFrameLocks noChangeAspect="1"/>
          </p:cNvGraphicFramePr>
          <p:nvPr/>
        </p:nvGraphicFramePr>
        <p:xfrm>
          <a:off x="1365568" y="3637598"/>
          <a:ext cx="954405" cy="229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951865" imgH="228600" progId="Equation.DSMT4">
                  <p:embed/>
                </p:oleObj>
              </mc:Choice>
              <mc:Fallback>
                <p:oleObj r:id="rId30" imgW="951865" imgH="228600" progId="Equation.DSMT4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365568" y="3637598"/>
                        <a:ext cx="954405" cy="229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-2147482414"/>
          <p:cNvGraphicFramePr>
            <a:graphicFrameLocks noChangeAspect="1"/>
          </p:cNvGraphicFramePr>
          <p:nvPr/>
        </p:nvGraphicFramePr>
        <p:xfrm>
          <a:off x="1115695" y="3866833"/>
          <a:ext cx="1460500" cy="229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1460500" imgH="228600" progId="Equation.DSMT4">
                  <p:embed/>
                </p:oleObj>
              </mc:Choice>
              <mc:Fallback>
                <p:oleObj r:id="rId32" imgW="1460500" imgH="228600" progId="Equation.DSMT4">
                  <p:embed/>
                  <p:pic>
                    <p:nvPicPr>
                      <p:cNvPr id="0" name="图片 29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115695" y="3866833"/>
                        <a:ext cx="1460500" cy="229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4067810" y="2689860"/>
            <a:ext cx="145161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热负荷节点示意图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3787140" y="4010660"/>
            <a:ext cx="192468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瞬时热增益与负载间关系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21601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62097" y="234387"/>
            <a:ext cx="347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算例仿真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3509658" y="85310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251520" y="81107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650" y="847090"/>
            <a:ext cx="2247265" cy="30670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建筑全年</a:t>
            </a:r>
            <a:r>
              <a:rPr lang="en-US" altLang="zh-CN" sz="1400" b="1" dirty="0"/>
              <a:t>8760h</a:t>
            </a:r>
            <a:r>
              <a:rPr lang="zh-CN" altLang="en-US" sz="1400" b="1" dirty="0"/>
              <a:t>负荷</a:t>
            </a:r>
          </a:p>
        </p:txBody>
      </p:sp>
      <p:cxnSp>
        <p:nvCxnSpPr>
          <p:cNvPr id="11" name="直接连接符 10"/>
          <p:cNvCxnSpPr/>
          <p:nvPr/>
        </p:nvCxnSpPr>
        <p:spPr bwMode="auto">
          <a:xfrm>
            <a:off x="3419862" y="1150769"/>
            <a:ext cx="0" cy="3666356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535376" y="863648"/>
            <a:ext cx="3784288" cy="30670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夏季冬季过渡季节典型日负荷及典型月负荷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563620" y="3648710"/>
            <a:ext cx="5163185" cy="11684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基于辐射时间序列法，选取沈阳气象参数中的太阳辐照与室外温度，通过建筑负荷传递函数求得辐射时间响应因子，构建了考虑多种因素的建筑冷热电负荷模型，最终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求得建筑全年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8760h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冷热电负荷，为后续工作提供算例支持。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 descr="逐时电负荷"/>
          <p:cNvPicPr>
            <a:picLocks noChangeAspect="1"/>
          </p:cNvPicPr>
          <p:nvPr/>
        </p:nvPicPr>
        <p:blipFill>
          <a:blip r:embed="rId4"/>
          <a:srcRect l="4151" t="3180" r="4408" b="20977"/>
          <a:stretch>
            <a:fillRect/>
          </a:stretch>
        </p:blipFill>
        <p:spPr>
          <a:xfrm>
            <a:off x="381635" y="3135630"/>
            <a:ext cx="2969260" cy="1827530"/>
          </a:xfrm>
          <a:prstGeom prst="rect">
            <a:avLst/>
          </a:prstGeom>
        </p:spPr>
      </p:pic>
      <p:pic>
        <p:nvPicPr>
          <p:cNvPr id="19" name="图片 18" descr="逐时冷热负荷"/>
          <p:cNvPicPr>
            <a:picLocks noChangeAspect="1"/>
          </p:cNvPicPr>
          <p:nvPr/>
        </p:nvPicPr>
        <p:blipFill>
          <a:blip r:embed="rId5"/>
          <a:srcRect l="4353" t="4199" r="4238" b="4767"/>
          <a:stretch>
            <a:fillRect/>
          </a:stretch>
        </p:blipFill>
        <p:spPr>
          <a:xfrm>
            <a:off x="313690" y="1202690"/>
            <a:ext cx="3096260" cy="1917065"/>
          </a:xfrm>
          <a:prstGeom prst="rect">
            <a:avLst/>
          </a:prstGeom>
        </p:spPr>
      </p:pic>
      <p:pic>
        <p:nvPicPr>
          <p:cNvPr id="20" name="图片 19" descr="过渡季节负荷"/>
          <p:cNvPicPr>
            <a:picLocks noChangeAspect="1"/>
          </p:cNvPicPr>
          <p:nvPr/>
        </p:nvPicPr>
        <p:blipFill>
          <a:blip r:embed="rId6"/>
          <a:srcRect l="4429" t="4557" r="3486" b="5175"/>
          <a:stretch>
            <a:fillRect/>
          </a:stretch>
        </p:blipFill>
        <p:spPr>
          <a:xfrm>
            <a:off x="3491865" y="1202690"/>
            <a:ext cx="1770380" cy="1153160"/>
          </a:xfrm>
          <a:prstGeom prst="rect">
            <a:avLst/>
          </a:prstGeom>
        </p:spPr>
      </p:pic>
      <p:pic>
        <p:nvPicPr>
          <p:cNvPr id="22" name="图片 21" descr="典型日冷负荷"/>
          <p:cNvPicPr>
            <a:picLocks noChangeAspect="1"/>
          </p:cNvPicPr>
          <p:nvPr/>
        </p:nvPicPr>
        <p:blipFill>
          <a:blip r:embed="rId7"/>
          <a:srcRect l="4551" t="5187" r="4551" b="4310"/>
          <a:stretch>
            <a:fillRect/>
          </a:stretch>
        </p:blipFill>
        <p:spPr>
          <a:xfrm>
            <a:off x="5334000" y="1207135"/>
            <a:ext cx="1734185" cy="1167765"/>
          </a:xfrm>
          <a:prstGeom prst="rect">
            <a:avLst/>
          </a:prstGeom>
        </p:spPr>
      </p:pic>
      <p:pic>
        <p:nvPicPr>
          <p:cNvPr id="24" name="图片 23" descr="典型日热负荷"/>
          <p:cNvPicPr>
            <a:picLocks noChangeAspect="1"/>
          </p:cNvPicPr>
          <p:nvPr/>
        </p:nvPicPr>
        <p:blipFill>
          <a:blip r:embed="rId8"/>
          <a:srcRect l="4574" t="5187" r="4574" b="5187"/>
          <a:stretch>
            <a:fillRect/>
          </a:stretch>
        </p:blipFill>
        <p:spPr>
          <a:xfrm>
            <a:off x="7139940" y="1213485"/>
            <a:ext cx="1711325" cy="1141095"/>
          </a:xfrm>
          <a:prstGeom prst="rect">
            <a:avLst/>
          </a:prstGeom>
        </p:spPr>
      </p:pic>
      <p:pic>
        <p:nvPicPr>
          <p:cNvPr id="25" name="图片 24" descr="典型月冷负荷"/>
          <p:cNvPicPr>
            <a:picLocks noChangeAspect="1"/>
          </p:cNvPicPr>
          <p:nvPr/>
        </p:nvPicPr>
        <p:blipFill>
          <a:blip r:embed="rId9"/>
          <a:srcRect l="4650" t="4557" r="4641" b="20588"/>
          <a:stretch>
            <a:fillRect/>
          </a:stretch>
        </p:blipFill>
        <p:spPr>
          <a:xfrm>
            <a:off x="3923665" y="2354580"/>
            <a:ext cx="2257425" cy="1256665"/>
          </a:xfrm>
          <a:prstGeom prst="rect">
            <a:avLst/>
          </a:prstGeom>
        </p:spPr>
      </p:pic>
      <p:pic>
        <p:nvPicPr>
          <p:cNvPr id="26" name="图片 25" descr="典型月热负荷"/>
          <p:cNvPicPr>
            <a:picLocks noChangeAspect="1"/>
          </p:cNvPicPr>
          <p:nvPr/>
        </p:nvPicPr>
        <p:blipFill>
          <a:blip r:embed="rId10"/>
          <a:srcRect l="4983" t="4557" r="4983" b="18414"/>
          <a:stretch>
            <a:fillRect/>
          </a:stretch>
        </p:blipFill>
        <p:spPr>
          <a:xfrm>
            <a:off x="6372225" y="2361565"/>
            <a:ext cx="2113915" cy="123698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9" y="295184"/>
            <a:ext cx="2162698" cy="80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图片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9" y="4211131"/>
            <a:ext cx="3316057" cy="79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3021991" y="1634852"/>
            <a:ext cx="3100017" cy="609412"/>
            <a:chOff x="1688006" y="1565980"/>
            <a:chExt cx="3100017" cy="609412"/>
          </a:xfrm>
        </p:grpSpPr>
        <p:sp>
          <p:nvSpPr>
            <p:cNvPr id="25602" name="标题 1"/>
            <p:cNvSpPr txBox="1">
              <a:spLocks noChangeArrowheads="1"/>
            </p:cNvSpPr>
            <p:nvPr/>
          </p:nvSpPr>
          <p:spPr bwMode="auto">
            <a:xfrm>
              <a:off x="2478336" y="1616565"/>
              <a:ext cx="2309687" cy="505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3300" b="1" dirty="0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研究内容二</a:t>
              </a:r>
            </a:p>
          </p:txBody>
        </p:sp>
        <p:grpSp>
          <p:nvGrpSpPr>
            <p:cNvPr id="25605" name="组合 4"/>
            <p:cNvGrpSpPr/>
            <p:nvPr/>
          </p:nvGrpSpPr>
          <p:grpSpPr bwMode="auto">
            <a:xfrm>
              <a:off x="1688006" y="1565980"/>
              <a:ext cx="689159" cy="609412"/>
              <a:chOff x="5091113" y="3690938"/>
              <a:chExt cx="827087" cy="768350"/>
            </a:xfrm>
          </p:grpSpPr>
          <p:sp>
            <p:nvSpPr>
              <p:cNvPr id="9" name="椭圆 8"/>
              <p:cNvSpPr/>
              <p:nvPr/>
            </p:nvSpPr>
            <p:spPr bwMode="auto">
              <a:xfrm flipH="1">
                <a:off x="5091113" y="3690938"/>
                <a:ext cx="827087" cy="768350"/>
              </a:xfrm>
              <a:prstGeom prst="ellipse">
                <a:avLst/>
              </a:prstGeom>
              <a:solidFill>
                <a:srgbClr val="ED4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" name="Freeform 30"/>
              <p:cNvSpPr>
                <a:spLocks noEditPoints="1"/>
              </p:cNvSpPr>
              <p:nvPr/>
            </p:nvSpPr>
            <p:spPr bwMode="auto">
              <a:xfrm flipH="1">
                <a:off x="5319669" y="3819997"/>
                <a:ext cx="414258" cy="507231"/>
              </a:xfrm>
              <a:custGeom>
                <a:avLst/>
                <a:gdLst>
                  <a:gd name="T0" fmla="*/ 60 w 74"/>
                  <a:gd name="T1" fmla="*/ 0 h 97"/>
                  <a:gd name="T2" fmla="*/ 72 w 74"/>
                  <a:gd name="T3" fmla="*/ 11 h 97"/>
                  <a:gd name="T4" fmla="*/ 70 w 74"/>
                  <a:gd name="T5" fmla="*/ 52 h 97"/>
                  <a:gd name="T6" fmla="*/ 63 w 74"/>
                  <a:gd name="T7" fmla="*/ 11 h 97"/>
                  <a:gd name="T8" fmla="*/ 60 w 74"/>
                  <a:gd name="T9" fmla="*/ 8 h 97"/>
                  <a:gd name="T10" fmla="*/ 26 w 74"/>
                  <a:gd name="T11" fmla="*/ 11 h 97"/>
                  <a:gd name="T12" fmla="*/ 26 w 74"/>
                  <a:gd name="T13" fmla="*/ 18 h 97"/>
                  <a:gd name="T14" fmla="*/ 19 w 74"/>
                  <a:gd name="T15" fmla="*/ 24 h 97"/>
                  <a:gd name="T16" fmla="*/ 12 w 74"/>
                  <a:gd name="T17" fmla="*/ 24 h 97"/>
                  <a:gd name="T18" fmla="*/ 8 w 74"/>
                  <a:gd name="T19" fmla="*/ 79 h 97"/>
                  <a:gd name="T20" fmla="*/ 9 w 74"/>
                  <a:gd name="T21" fmla="*/ 81 h 97"/>
                  <a:gd name="T22" fmla="*/ 28 w 74"/>
                  <a:gd name="T23" fmla="*/ 82 h 97"/>
                  <a:gd name="T24" fmla="*/ 37 w 74"/>
                  <a:gd name="T25" fmla="*/ 90 h 97"/>
                  <a:gd name="T26" fmla="*/ 3 w 74"/>
                  <a:gd name="T27" fmla="*/ 87 h 97"/>
                  <a:gd name="T28" fmla="*/ 3 w 74"/>
                  <a:gd name="T29" fmla="*/ 87 h 97"/>
                  <a:gd name="T30" fmla="*/ 0 w 74"/>
                  <a:gd name="T31" fmla="*/ 20 h 97"/>
                  <a:gd name="T32" fmla="*/ 1 w 74"/>
                  <a:gd name="T33" fmla="*/ 17 h 97"/>
                  <a:gd name="T34" fmla="*/ 19 w 74"/>
                  <a:gd name="T35" fmla="*/ 0 h 97"/>
                  <a:gd name="T36" fmla="*/ 17 w 74"/>
                  <a:gd name="T37" fmla="*/ 52 h 97"/>
                  <a:gd name="T38" fmla="*/ 27 w 74"/>
                  <a:gd name="T39" fmla="*/ 56 h 97"/>
                  <a:gd name="T40" fmla="*/ 17 w 74"/>
                  <a:gd name="T41" fmla="*/ 52 h 97"/>
                  <a:gd name="T42" fmla="*/ 17 w 74"/>
                  <a:gd name="T43" fmla="*/ 44 h 97"/>
                  <a:gd name="T44" fmla="*/ 56 w 74"/>
                  <a:gd name="T45" fmla="*/ 40 h 97"/>
                  <a:gd name="T46" fmla="*/ 17 w 74"/>
                  <a:gd name="T47" fmla="*/ 28 h 97"/>
                  <a:gd name="T48" fmla="*/ 56 w 74"/>
                  <a:gd name="T49" fmla="*/ 33 h 97"/>
                  <a:gd name="T50" fmla="*/ 17 w 74"/>
                  <a:gd name="T51" fmla="*/ 28 h 97"/>
                  <a:gd name="T52" fmla="*/ 34 w 74"/>
                  <a:gd name="T53" fmla="*/ 22 h 97"/>
                  <a:gd name="T54" fmla="*/ 56 w 74"/>
                  <a:gd name="T55" fmla="*/ 17 h 97"/>
                  <a:gd name="T56" fmla="*/ 41 w 74"/>
                  <a:gd name="T57" fmla="*/ 69 h 97"/>
                  <a:gd name="T58" fmla="*/ 41 w 74"/>
                  <a:gd name="T59" fmla="*/ 69 h 97"/>
                  <a:gd name="T60" fmla="*/ 31 w 74"/>
                  <a:gd name="T61" fmla="*/ 66 h 97"/>
                  <a:gd name="T62" fmla="*/ 47 w 74"/>
                  <a:gd name="T63" fmla="*/ 86 h 97"/>
                  <a:gd name="T64" fmla="*/ 59 w 74"/>
                  <a:gd name="T65" fmla="*/ 87 h 97"/>
                  <a:gd name="T66" fmla="*/ 71 w 74"/>
                  <a:gd name="T67" fmla="*/ 96 h 97"/>
                  <a:gd name="T68" fmla="*/ 72 w 74"/>
                  <a:gd name="T69" fmla="*/ 90 h 97"/>
                  <a:gd name="T70" fmla="*/ 63 w 74"/>
                  <a:gd name="T71" fmla="*/ 80 h 97"/>
                  <a:gd name="T72" fmla="*/ 64 w 74"/>
                  <a:gd name="T73" fmla="*/ 57 h 97"/>
                  <a:gd name="T74" fmla="*/ 38 w 74"/>
                  <a:gd name="T75" fmla="*/ 54 h 97"/>
                  <a:gd name="T76" fmla="*/ 42 w 74"/>
                  <a:gd name="T77" fmla="*/ 58 h 97"/>
                  <a:gd name="T78" fmla="*/ 40 w 74"/>
                  <a:gd name="T79" fmla="*/ 76 h 97"/>
                  <a:gd name="T80" fmla="*/ 57 w 74"/>
                  <a:gd name="T81" fmla="*/ 78 h 97"/>
                  <a:gd name="T82" fmla="*/ 59 w 74"/>
                  <a:gd name="T83" fmla="*/ 61 h 97"/>
                  <a:gd name="T84" fmla="*/ 21 w 74"/>
                  <a:gd name="T85" fmla="*/ 9 h 97"/>
                  <a:gd name="T86" fmla="*/ 13 w 74"/>
                  <a:gd name="T87" fmla="*/ 19 h 97"/>
                  <a:gd name="T88" fmla="*/ 17 w 74"/>
                  <a:gd name="T89" fmla="*/ 20 h 97"/>
                  <a:gd name="T90" fmla="*/ 18 w 74"/>
                  <a:gd name="T91" fmla="*/ 20 h 97"/>
                  <a:gd name="T92" fmla="*/ 22 w 74"/>
                  <a:gd name="T93" fmla="*/ 17 h 97"/>
                  <a:gd name="T94" fmla="*/ 22 w 74"/>
                  <a:gd name="T95" fmla="*/ 15 h 97"/>
                  <a:gd name="T96" fmla="*/ 21 w 74"/>
                  <a:gd name="T97" fmla="*/ 1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97">
                    <a:moveTo>
                      <a:pt x="21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6" y="1"/>
                      <a:pt x="68" y="3"/>
                    </a:cubicBezTo>
                    <a:cubicBezTo>
                      <a:pt x="70" y="5"/>
                      <a:pt x="72" y="8"/>
                      <a:pt x="72" y="11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5"/>
                      <a:pt x="70" y="53"/>
                      <a:pt x="70" y="52"/>
                    </a:cubicBezTo>
                    <a:cubicBezTo>
                      <a:pt x="68" y="50"/>
                      <a:pt x="66" y="48"/>
                      <a:pt x="63" y="47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0"/>
                      <a:pt x="63" y="9"/>
                      <a:pt x="62" y="9"/>
                    </a:cubicBezTo>
                    <a:cubicBezTo>
                      <a:pt x="62" y="8"/>
                      <a:pt x="61" y="8"/>
                      <a:pt x="60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5" y="21"/>
                      <a:pt x="23" y="22"/>
                    </a:cubicBezTo>
                    <a:cubicBezTo>
                      <a:pt x="22" y="23"/>
                      <a:pt x="21" y="24"/>
                      <a:pt x="19" y="24"/>
                    </a:cubicBezTo>
                    <a:cubicBezTo>
                      <a:pt x="18" y="24"/>
                      <a:pt x="17" y="24"/>
                      <a:pt x="16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80"/>
                      <a:pt x="9" y="80"/>
                      <a:pt x="9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10" y="81"/>
                      <a:pt x="10" y="82"/>
                      <a:pt x="11" y="82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8" y="82"/>
                      <a:pt x="29" y="83"/>
                      <a:pt x="29" y="84"/>
                    </a:cubicBezTo>
                    <a:cubicBezTo>
                      <a:pt x="31" y="86"/>
                      <a:pt x="34" y="88"/>
                      <a:pt x="37" y="90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8" y="90"/>
                      <a:pt x="5" y="89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1" y="85"/>
                      <a:pt x="0" y="82"/>
                      <a:pt x="0" y="7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  <a:moveTo>
                      <a:pt x="17" y="52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7" y="52"/>
                      <a:pt x="17" y="52"/>
                      <a:pt x="17" y="52"/>
                    </a:cubicBezTo>
                    <a:close/>
                    <a:moveTo>
                      <a:pt x="17" y="40"/>
                    </a:moveTo>
                    <a:cubicBezTo>
                      <a:pt x="17" y="44"/>
                      <a:pt x="17" y="44"/>
                      <a:pt x="17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17" y="40"/>
                      <a:pt x="17" y="40"/>
                      <a:pt x="17" y="40"/>
                    </a:cubicBezTo>
                    <a:close/>
                    <a:moveTo>
                      <a:pt x="17" y="28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34" y="17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34" y="17"/>
                      <a:pt x="34" y="17"/>
                      <a:pt x="34" y="17"/>
                    </a:cubicBezTo>
                    <a:close/>
                    <a:moveTo>
                      <a:pt x="41" y="69"/>
                    </a:moveTo>
                    <a:cubicBezTo>
                      <a:pt x="43" y="64"/>
                      <a:pt x="48" y="61"/>
                      <a:pt x="55" y="60"/>
                    </a:cubicBezTo>
                    <a:cubicBezTo>
                      <a:pt x="48" y="56"/>
                      <a:pt x="39" y="62"/>
                      <a:pt x="41" y="69"/>
                    </a:cubicBezTo>
                    <a:close/>
                    <a:moveTo>
                      <a:pt x="38" y="54"/>
                    </a:moveTo>
                    <a:cubicBezTo>
                      <a:pt x="34" y="57"/>
                      <a:pt x="32" y="61"/>
                      <a:pt x="31" y="66"/>
                    </a:cubicBezTo>
                    <a:cubicBezTo>
                      <a:pt x="31" y="70"/>
                      <a:pt x="32" y="75"/>
                      <a:pt x="35" y="79"/>
                    </a:cubicBezTo>
                    <a:cubicBezTo>
                      <a:pt x="38" y="83"/>
                      <a:pt x="43" y="86"/>
                      <a:pt x="47" y="86"/>
                    </a:cubicBezTo>
                    <a:cubicBezTo>
                      <a:pt x="51" y="87"/>
                      <a:pt x="55" y="86"/>
                      <a:pt x="58" y="84"/>
                    </a:cubicBezTo>
                    <a:cubicBezTo>
                      <a:pt x="58" y="85"/>
                      <a:pt x="58" y="86"/>
                      <a:pt x="59" y="87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7" y="97"/>
                      <a:pt x="69" y="97"/>
                      <a:pt x="71" y="96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73" y="94"/>
                      <a:pt x="74" y="91"/>
                      <a:pt x="72" y="90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5" y="81"/>
                      <a:pt x="64" y="80"/>
                      <a:pt x="63" y="80"/>
                    </a:cubicBezTo>
                    <a:cubicBezTo>
                      <a:pt x="66" y="77"/>
                      <a:pt x="67" y="74"/>
                      <a:pt x="68" y="70"/>
                    </a:cubicBezTo>
                    <a:cubicBezTo>
                      <a:pt x="68" y="66"/>
                      <a:pt x="67" y="61"/>
                      <a:pt x="64" y="57"/>
                    </a:cubicBezTo>
                    <a:cubicBezTo>
                      <a:pt x="61" y="53"/>
                      <a:pt x="56" y="50"/>
                      <a:pt x="52" y="50"/>
                    </a:cubicBezTo>
                    <a:cubicBezTo>
                      <a:pt x="47" y="49"/>
                      <a:pt x="42" y="50"/>
                      <a:pt x="38" y="54"/>
                    </a:cubicBezTo>
                    <a:close/>
                    <a:moveTo>
                      <a:pt x="51" y="56"/>
                    </a:moveTo>
                    <a:cubicBezTo>
                      <a:pt x="48" y="56"/>
                      <a:pt x="45" y="56"/>
                      <a:pt x="42" y="58"/>
                    </a:cubicBezTo>
                    <a:cubicBezTo>
                      <a:pt x="39" y="61"/>
                      <a:pt x="38" y="63"/>
                      <a:pt x="37" y="67"/>
                    </a:cubicBezTo>
                    <a:cubicBezTo>
                      <a:pt x="37" y="70"/>
                      <a:pt x="38" y="73"/>
                      <a:pt x="40" y="76"/>
                    </a:cubicBezTo>
                    <a:cubicBezTo>
                      <a:pt x="42" y="78"/>
                      <a:pt x="45" y="80"/>
                      <a:pt x="48" y="80"/>
                    </a:cubicBezTo>
                    <a:cubicBezTo>
                      <a:pt x="51" y="80"/>
                      <a:pt x="54" y="80"/>
                      <a:pt x="57" y="78"/>
                    </a:cubicBezTo>
                    <a:cubicBezTo>
                      <a:pt x="60" y="76"/>
                      <a:pt x="61" y="73"/>
                      <a:pt x="61" y="69"/>
                    </a:cubicBezTo>
                    <a:cubicBezTo>
                      <a:pt x="62" y="66"/>
                      <a:pt x="61" y="63"/>
                      <a:pt x="59" y="61"/>
                    </a:cubicBezTo>
                    <a:cubicBezTo>
                      <a:pt x="57" y="58"/>
                      <a:pt x="54" y="56"/>
                      <a:pt x="51" y="56"/>
                    </a:cubicBezTo>
                    <a:close/>
                    <a:moveTo>
                      <a:pt x="21" y="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9" y="20"/>
                      <a:pt x="20" y="19"/>
                      <a:pt x="21" y="19"/>
                    </a:cubicBezTo>
                    <a:cubicBezTo>
                      <a:pt x="21" y="18"/>
                      <a:pt x="22" y="17"/>
                      <a:pt x="22" y="17"/>
                    </a:cubicBezTo>
                    <a:cubicBezTo>
                      <a:pt x="22" y="16"/>
                      <a:pt x="22" y="16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1"/>
                      <a:pt x="21" y="11"/>
                      <a:pt x="21" y="11"/>
                    </a:cubicBezTo>
                    <a:lnTo>
                      <a:pt x="21" y="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defTabSz="685800"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1699928" y="2498948"/>
            <a:ext cx="6534472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300" b="1" noProof="0" dirty="0">
                <a:ln>
                  <a:noFill/>
                </a:ln>
                <a:solidFill>
                  <a:srgbClr val="1C488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太阳能耦合空气源热泵的多能互补CCHP系统建模与仿真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40421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34060" y="234315"/>
            <a:ext cx="5345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SH-CCHP</a:t>
            </a:r>
            <a:r>
              <a:rPr kumimoji="0" lang="zh-CN" altLang="en-US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系统结构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84265" y="947420"/>
            <a:ext cx="2616200" cy="39001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燃气轮机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光伏发电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系统构成主供电单元，满足建筑基础电负荷需求；制冷系统以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溴化锂吸收式制冷机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为核心；供热子系统中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太阳能集热器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作为基础热源，通过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蓄热单元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实现热能转移；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余热锅炉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提供辅助热源，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空气源热泵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机组冬季补充热源，夏季辅助冷源。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052955" y="4580890"/>
            <a:ext cx="3305810" cy="35750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多能互补分布式式能源系统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05971" y="111648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-2147482362"/>
          <p:cNvGraphicFramePr>
            <a:graphicFrameLocks noChangeAspect="1"/>
          </p:cNvGraphicFramePr>
          <p:nvPr/>
        </p:nvGraphicFramePr>
        <p:xfrm>
          <a:off x="323533" y="860425"/>
          <a:ext cx="5751195" cy="3726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884775" imgH="11602085" progId="Visio.Drawing.15">
                  <p:embed/>
                </p:oleObj>
              </mc:Choice>
              <mc:Fallback>
                <p:oleObj r:id="rId4" imgW="17884775" imgH="1160208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533" y="860425"/>
                        <a:ext cx="5751195" cy="37268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48238"/>
            <a:ext cx="8560687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46099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68406" y="270144"/>
            <a:ext cx="614215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太阳能耦合空气源热泵子系统</a:t>
            </a:r>
            <a:endParaRPr kumimoji="0" lang="zh-CN" altLang="en-US" b="0" i="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316220" y="1003300"/>
            <a:ext cx="3446145" cy="1225550"/>
          </a:xfrm>
          <a:prstGeom prst="rect">
            <a:avLst/>
          </a:prstGeom>
          <a:solidFill>
            <a:srgbClr val="DEEBF6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0" fontAlgn="auto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太阳能集热器独立供能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辐照强度充足且处于供暖时段时，系统优先采用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太阳能集热系统独立运行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。该模式下，集热器出口与蓄热水箱底部维持传热温差，通过启动集热循环泵与负荷侧循环泵实现热能传输。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5315585" y="2282825"/>
            <a:ext cx="3447415" cy="1227455"/>
          </a:xfrm>
          <a:prstGeom prst="rect">
            <a:avLst/>
          </a:prstGeom>
          <a:solidFill>
            <a:srgbClr val="FFFAE8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0" fontAlgn="auto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rPr>
              <a:t>太阳能集热器与空气源热泵联合供能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在辐照强度不足导致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蓄热介质温度低于设定阈值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时，系统自动激活空气源热泵辅助加热模块。此工况下集热循环泵、热泵机组、循环加热泵及负荷侧水泵同步投入运行，通过分布式控制系统实现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双热源的能量耦合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，为主要供能模式。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对象 -2147482361"/>
          <p:cNvGraphicFramePr>
            <a:graphicFrameLocks noChangeAspect="1"/>
          </p:cNvGraphicFramePr>
          <p:nvPr/>
        </p:nvGraphicFramePr>
        <p:xfrm>
          <a:off x="467678" y="948690"/>
          <a:ext cx="4727575" cy="293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966835" imgH="5624195" progId="Visio.Drawing.15">
                  <p:embed/>
                </p:oleObj>
              </mc:Choice>
              <mc:Fallback>
                <p:oleObj r:id="rId5" imgW="8966835" imgH="562419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678" y="948690"/>
                        <a:ext cx="4727575" cy="29330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55930" y="4134485"/>
            <a:ext cx="4693920" cy="7067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太阳能耦合空气源热泵子系统示意图</a:t>
            </a:r>
          </a:p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上图为此系统应用的太阳能耦合空气源热泵热水子系统示意图，在太阳能系统中，光伏为电负载提供电能，系统根据太阳辐照强度变化设有</a:t>
            </a:r>
            <a:r>
              <a:rPr lang="zh-CN" altLang="en-US" sz="10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典型运行工况。</a:t>
            </a:r>
          </a:p>
        </p:txBody>
      </p:sp>
      <p:sp>
        <p:nvSpPr>
          <p:cNvPr id="7" name="矩形 6"/>
          <p:cNvSpPr/>
          <p:nvPr/>
        </p:nvSpPr>
        <p:spPr>
          <a:xfrm>
            <a:off x="5316220" y="3578860"/>
            <a:ext cx="3446780" cy="12573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0" fontAlgn="auto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rPr>
              <a:t>太阳能集热器与空气源热泵联合供能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夜间或极端天气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导致太阳辐照度低于系统启动阈值时，系统切换至热泵独立运行状态。此时集热循环泵停止工作，仅维持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热泵机组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及其配套输配系统的运行，虽能确保供热连续性，但单位能耗显著升高。</a:t>
            </a:r>
          </a:p>
        </p:txBody>
      </p:sp>
      <p:sp>
        <p:nvSpPr>
          <p:cNvPr id="37" name="矩形 36"/>
          <p:cNvSpPr/>
          <p:nvPr>
            <p:custDataLst>
              <p:tags r:id="rId1"/>
            </p:custDataLst>
          </p:nvPr>
        </p:nvSpPr>
        <p:spPr>
          <a:xfrm>
            <a:off x="424180" y="948690"/>
            <a:ext cx="4796790" cy="299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07504" y="848238"/>
            <a:ext cx="8928992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62097" y="234387"/>
            <a:ext cx="39858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系统内主要元件数学模型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295265" y="968375"/>
            <a:ext cx="3569335" cy="2301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9" name="组合 38"/>
          <p:cNvGrpSpPr/>
          <p:nvPr>
            <p:custDataLst>
              <p:tags r:id="rId1"/>
            </p:custDataLst>
          </p:nvPr>
        </p:nvGrpSpPr>
        <p:grpSpPr>
          <a:xfrm>
            <a:off x="251521" y="968631"/>
            <a:ext cx="2213927" cy="2466421"/>
            <a:chOff x="313807" y="1026451"/>
            <a:chExt cx="2213927" cy="2466421"/>
          </a:xfrm>
        </p:grpSpPr>
        <p:sp>
          <p:nvSpPr>
            <p:cNvPr id="3" name="文本框 2"/>
            <p:cNvSpPr txBox="1"/>
            <p:nvPr>
              <p:custDataLst>
                <p:tags r:id="rId15"/>
              </p:custDataLst>
            </p:nvPr>
          </p:nvSpPr>
          <p:spPr>
            <a:xfrm>
              <a:off x="529707" y="1048676"/>
              <a:ext cx="1799590" cy="3067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燃气轮机数学模型</a:t>
              </a:r>
            </a:p>
          </p:txBody>
        </p:sp>
        <p:sp>
          <p:nvSpPr>
            <p:cNvPr id="7" name="矩形 6"/>
            <p:cNvSpPr/>
            <p:nvPr>
              <p:custDataLst>
                <p:tags r:id="rId16"/>
              </p:custDataLst>
            </p:nvPr>
          </p:nvSpPr>
          <p:spPr>
            <a:xfrm>
              <a:off x="313807" y="1026451"/>
              <a:ext cx="2213927" cy="246642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框 35"/>
          <p:cNvSpPr txBox="1"/>
          <p:nvPr>
            <p:custDataLst>
              <p:tags r:id="rId2"/>
            </p:custDataLst>
          </p:nvPr>
        </p:nvSpPr>
        <p:spPr>
          <a:xfrm>
            <a:off x="2699385" y="994410"/>
            <a:ext cx="2526665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溴化锂吸收式制冷机数学模型</a:t>
            </a:r>
          </a:p>
        </p:txBody>
      </p:sp>
      <p:sp>
        <p:nvSpPr>
          <p:cNvPr id="37" name="矩形 36"/>
          <p:cNvSpPr/>
          <p:nvPr>
            <p:custDataLst>
              <p:tags r:id="rId3"/>
            </p:custDataLst>
          </p:nvPr>
        </p:nvSpPr>
        <p:spPr>
          <a:xfrm>
            <a:off x="2583926" y="971045"/>
            <a:ext cx="2647611" cy="246642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-2147482357"/>
          <p:cNvGraphicFramePr>
            <a:graphicFrameLocks noChangeAspect="1"/>
          </p:cNvGraphicFramePr>
          <p:nvPr/>
        </p:nvGraphicFramePr>
        <p:xfrm>
          <a:off x="776923" y="1274445"/>
          <a:ext cx="1161415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155700" imgH="241300" progId="Equation.DSMT4">
                  <p:embed/>
                </p:oleObj>
              </mc:Choice>
              <mc:Fallback>
                <p:oleObj r:id="rId20" imgW="1155700" imgH="241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76923" y="1274445"/>
                        <a:ext cx="1161415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2353"/>
          <p:cNvGraphicFramePr>
            <a:graphicFrameLocks noChangeAspect="1"/>
          </p:cNvGraphicFramePr>
          <p:nvPr/>
        </p:nvGraphicFramePr>
        <p:xfrm>
          <a:off x="395288" y="1503363"/>
          <a:ext cx="1966595" cy="356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955165" imgH="355600" progId="Equation.DSMT4">
                  <p:embed/>
                </p:oleObj>
              </mc:Choice>
              <mc:Fallback>
                <p:oleObj r:id="rId22" imgW="1955165" imgH="3556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95288" y="1503363"/>
                        <a:ext cx="1966595" cy="356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2345"/>
          <p:cNvGraphicFramePr>
            <a:graphicFrameLocks noChangeAspect="1"/>
          </p:cNvGraphicFramePr>
          <p:nvPr/>
        </p:nvGraphicFramePr>
        <p:xfrm>
          <a:off x="682943" y="1851025"/>
          <a:ext cx="1345565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333500" imgH="241300" progId="Equation.DSMT4">
                  <p:embed/>
                </p:oleObj>
              </mc:Choice>
              <mc:Fallback>
                <p:oleObj r:id="rId24" imgW="1333500" imgH="2413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82943" y="1851025"/>
                        <a:ext cx="1345565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-2147482340"/>
          <p:cNvGraphicFramePr>
            <a:graphicFrameLocks noChangeAspect="1"/>
          </p:cNvGraphicFramePr>
          <p:nvPr/>
        </p:nvGraphicFramePr>
        <p:xfrm>
          <a:off x="611505" y="2073593"/>
          <a:ext cx="1569720" cy="46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1562100" imgH="469900" progId="Equation.DSMT4">
                  <p:embed/>
                </p:oleObj>
              </mc:Choice>
              <mc:Fallback>
                <p:oleObj r:id="rId26" imgW="1562100" imgH="4699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11505" y="2073593"/>
                        <a:ext cx="1569720" cy="4660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-2147482335"/>
          <p:cNvGraphicFramePr>
            <a:graphicFrameLocks noChangeAspect="1"/>
          </p:cNvGraphicFramePr>
          <p:nvPr/>
        </p:nvGraphicFramePr>
        <p:xfrm>
          <a:off x="587693" y="2497773"/>
          <a:ext cx="1593215" cy="511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600200" imgH="508000" progId="Equation.DSMT4">
                  <p:embed/>
                </p:oleObj>
              </mc:Choice>
              <mc:Fallback>
                <p:oleObj r:id="rId28" imgW="1600200" imgH="5080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87693" y="2497773"/>
                        <a:ext cx="1593215" cy="5118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-2147482333"/>
          <p:cNvGraphicFramePr>
            <a:graphicFrameLocks noChangeAspect="1"/>
          </p:cNvGraphicFramePr>
          <p:nvPr/>
        </p:nvGraphicFramePr>
        <p:xfrm>
          <a:off x="611505" y="2930843"/>
          <a:ext cx="1569720" cy="511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1562100" imgH="508000" progId="Equation.DSMT4">
                  <p:embed/>
                </p:oleObj>
              </mc:Choice>
              <mc:Fallback>
                <p:oleObj r:id="rId30" imgW="1562100" imgH="50800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11505" y="2930843"/>
                        <a:ext cx="1569720" cy="5118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-2147481835"/>
          <p:cNvGraphicFramePr>
            <a:graphicFrameLocks noChangeAspect="1"/>
          </p:cNvGraphicFramePr>
          <p:nvPr/>
        </p:nvGraphicFramePr>
        <p:xfrm>
          <a:off x="2881630" y="1287145"/>
          <a:ext cx="2058670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2044700" imgH="241300" progId="Equation.DSMT4">
                  <p:embed/>
                </p:oleObj>
              </mc:Choice>
              <mc:Fallback>
                <p:oleObj r:id="rId32" imgW="2044700" imgH="2413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881630" y="1287145"/>
                        <a:ext cx="2058670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-2147482331"/>
          <p:cNvGraphicFramePr>
            <a:graphicFrameLocks noChangeAspect="1"/>
          </p:cNvGraphicFramePr>
          <p:nvPr/>
        </p:nvGraphicFramePr>
        <p:xfrm>
          <a:off x="3169285" y="1534160"/>
          <a:ext cx="1380490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1384300" imgH="241300" progId="Equation.DSMT4">
                  <p:embed/>
                </p:oleObj>
              </mc:Choice>
              <mc:Fallback>
                <p:oleObj r:id="rId34" imgW="1384300" imgH="241300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169285" y="1534160"/>
                        <a:ext cx="1380490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-2147482330"/>
          <p:cNvGraphicFramePr>
            <a:graphicFrameLocks noChangeAspect="1"/>
          </p:cNvGraphicFramePr>
          <p:nvPr/>
        </p:nvGraphicFramePr>
        <p:xfrm>
          <a:off x="3097530" y="1778635"/>
          <a:ext cx="1524000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6" imgW="1511300" imgH="241300" progId="Equation.DSMT4">
                  <p:embed/>
                </p:oleObj>
              </mc:Choice>
              <mc:Fallback>
                <p:oleObj r:id="rId36" imgW="1511300" imgH="2413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097530" y="1778635"/>
                        <a:ext cx="1524000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-2147481834"/>
          <p:cNvGraphicFramePr>
            <a:graphicFrameLocks noChangeAspect="1"/>
          </p:cNvGraphicFramePr>
          <p:nvPr/>
        </p:nvGraphicFramePr>
        <p:xfrm>
          <a:off x="2887663" y="2015490"/>
          <a:ext cx="2018665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8" imgW="2006600" imgH="241300" progId="Equation.DSMT4">
                  <p:embed/>
                </p:oleObj>
              </mc:Choice>
              <mc:Fallback>
                <p:oleObj r:id="rId38" imgW="2006600" imgH="241300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887663" y="2015490"/>
                        <a:ext cx="2018665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-2147482310"/>
          <p:cNvGraphicFramePr>
            <a:graphicFrameLocks noChangeAspect="1"/>
          </p:cNvGraphicFramePr>
          <p:nvPr/>
        </p:nvGraphicFramePr>
        <p:xfrm>
          <a:off x="2699385" y="2270125"/>
          <a:ext cx="71882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0" imgW="711200" imgH="431800" progId="Equation.DSMT4">
                  <p:embed/>
                </p:oleObj>
              </mc:Choice>
              <mc:Fallback>
                <p:oleObj r:id="rId40" imgW="711200" imgH="4318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699385" y="2270125"/>
                        <a:ext cx="71882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-2147482309"/>
          <p:cNvGraphicFramePr>
            <a:graphicFrameLocks noChangeAspect="1"/>
          </p:cNvGraphicFramePr>
          <p:nvPr/>
        </p:nvGraphicFramePr>
        <p:xfrm>
          <a:off x="3417888" y="2270125"/>
          <a:ext cx="137477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2" imgW="1371600" imgH="431800" progId="Equation.DSMT4">
                  <p:embed/>
                </p:oleObj>
              </mc:Choice>
              <mc:Fallback>
                <p:oleObj r:id="rId42" imgW="1371600" imgH="431800" progId="Equation.DSMT4">
                  <p:embed/>
                  <p:pic>
                    <p:nvPicPr>
                      <p:cNvPr id="0" name="图片 21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417888" y="2270125"/>
                        <a:ext cx="1374775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-2147482308"/>
          <p:cNvGraphicFramePr>
            <a:graphicFrameLocks noChangeAspect="1"/>
          </p:cNvGraphicFramePr>
          <p:nvPr/>
        </p:nvGraphicFramePr>
        <p:xfrm>
          <a:off x="2627630" y="2714625"/>
          <a:ext cx="1184910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4" imgW="1193800" imgH="241300" progId="Equation.DSMT4">
                  <p:embed/>
                </p:oleObj>
              </mc:Choice>
              <mc:Fallback>
                <p:oleObj r:id="rId44" imgW="1193800" imgH="2413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627630" y="2714625"/>
                        <a:ext cx="1184910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-2147482300"/>
          <p:cNvGraphicFramePr>
            <a:graphicFrameLocks noChangeAspect="1"/>
          </p:cNvGraphicFramePr>
          <p:nvPr/>
        </p:nvGraphicFramePr>
        <p:xfrm>
          <a:off x="2627313" y="2960053"/>
          <a:ext cx="2075815" cy="46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6" imgW="2070100" imgH="457200" progId="Equation.DSMT4">
                  <p:embed/>
                </p:oleObj>
              </mc:Choice>
              <mc:Fallback>
                <p:oleObj r:id="rId46" imgW="2070100" imgH="457200" progId="Equation.DSMT4">
                  <p:embed/>
                  <p:pic>
                    <p:nvPicPr>
                      <p:cNvPr id="0" name="图片 23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627313" y="2960053"/>
                        <a:ext cx="2075815" cy="4660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-2147482296"/>
          <p:cNvGraphicFramePr>
            <a:graphicFrameLocks noChangeAspect="1"/>
          </p:cNvGraphicFramePr>
          <p:nvPr/>
        </p:nvGraphicFramePr>
        <p:xfrm>
          <a:off x="3936048" y="2588260"/>
          <a:ext cx="124777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8" imgW="1257300" imgH="431800" progId="Equation.DSMT4">
                  <p:embed/>
                </p:oleObj>
              </mc:Choice>
              <mc:Fallback>
                <p:oleObj r:id="rId48" imgW="1257300" imgH="431800" progId="Equation.DSMT4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3936048" y="2588260"/>
                        <a:ext cx="1247775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" name="图片 18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349875" y="1275080"/>
            <a:ext cx="1724025" cy="1203325"/>
          </a:xfrm>
          <a:prstGeom prst="rect">
            <a:avLst/>
          </a:prstGeom>
        </p:spPr>
      </p:pic>
      <p:pic>
        <p:nvPicPr>
          <p:cNvPr id="46" name="图片 20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164070" y="1247775"/>
            <a:ext cx="1664335" cy="120269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4"/>
            </p:custDataLst>
          </p:nvPr>
        </p:nvSpPr>
        <p:spPr>
          <a:xfrm>
            <a:off x="6571615" y="994410"/>
            <a:ext cx="948690" cy="2635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修正系数</a:t>
            </a:r>
          </a:p>
        </p:txBody>
      </p:sp>
      <p:grpSp>
        <p:nvGrpSpPr>
          <p:cNvPr id="49" name="组合 48"/>
          <p:cNvGrpSpPr/>
          <p:nvPr>
            <p:custDataLst>
              <p:tags r:id="rId5"/>
            </p:custDataLst>
          </p:nvPr>
        </p:nvGrpSpPr>
        <p:grpSpPr>
          <a:xfrm>
            <a:off x="251460" y="3519170"/>
            <a:ext cx="4974590" cy="1371600"/>
            <a:chOff x="313807" y="1026451"/>
            <a:chExt cx="2213927" cy="2466421"/>
          </a:xfrm>
        </p:grpSpPr>
        <p:sp>
          <p:nvSpPr>
            <p:cNvPr id="50" name="文本框 49"/>
            <p:cNvSpPr txBox="1"/>
            <p:nvPr>
              <p:custDataLst>
                <p:tags r:id="rId13"/>
              </p:custDataLst>
            </p:nvPr>
          </p:nvSpPr>
          <p:spPr>
            <a:xfrm>
              <a:off x="892288" y="1133787"/>
              <a:ext cx="830901" cy="55151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太阳能系统数学模型</a:t>
              </a:r>
            </a:p>
          </p:txBody>
        </p:sp>
        <p:sp>
          <p:nvSpPr>
            <p:cNvPr id="51" name="矩形 50"/>
            <p:cNvSpPr/>
            <p:nvPr>
              <p:custDataLst>
                <p:tags r:id="rId14"/>
              </p:custDataLst>
            </p:nvPr>
          </p:nvSpPr>
          <p:spPr>
            <a:xfrm>
              <a:off x="313807" y="1026451"/>
              <a:ext cx="2213927" cy="246642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2" name="对象 -2147482292"/>
          <p:cNvGraphicFramePr>
            <a:graphicFrameLocks noChangeAspect="1"/>
          </p:cNvGraphicFramePr>
          <p:nvPr/>
        </p:nvGraphicFramePr>
        <p:xfrm>
          <a:off x="300355" y="3681095"/>
          <a:ext cx="1207770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2" imgW="1206500" imgH="241300" progId="Equation.DSMT4">
                  <p:embed/>
                </p:oleObj>
              </mc:Choice>
              <mc:Fallback>
                <p:oleObj r:id="rId52" imgW="1206500" imgH="241300" progId="Equation.DSMT4">
                  <p:embed/>
                  <p:pic>
                    <p:nvPicPr>
                      <p:cNvPr id="0" name="图片 41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300355" y="3681095"/>
                        <a:ext cx="1207770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-2147482286"/>
          <p:cNvGraphicFramePr>
            <a:graphicFrameLocks noChangeAspect="1"/>
          </p:cNvGraphicFramePr>
          <p:nvPr/>
        </p:nvGraphicFramePr>
        <p:xfrm>
          <a:off x="300355" y="4298950"/>
          <a:ext cx="3117850" cy="5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4" imgW="3276600" imgH="558800" progId="Equation.DSMT4">
                  <p:embed/>
                </p:oleObj>
              </mc:Choice>
              <mc:Fallback>
                <p:oleObj r:id="rId54" imgW="3276600" imgH="558800" progId="Equation.DSMT4">
                  <p:embed/>
                  <p:pic>
                    <p:nvPicPr>
                      <p:cNvPr id="0" name="图片 42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300355" y="4298950"/>
                        <a:ext cx="3117850" cy="5314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-2147482272"/>
          <p:cNvGraphicFramePr>
            <a:graphicFrameLocks noChangeAspect="1"/>
          </p:cNvGraphicFramePr>
          <p:nvPr/>
        </p:nvGraphicFramePr>
        <p:xfrm>
          <a:off x="4112260" y="3928110"/>
          <a:ext cx="1087120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6" imgW="1091565" imgH="241300" progId="Equation.DSMT4">
                  <p:embed/>
                </p:oleObj>
              </mc:Choice>
              <mc:Fallback>
                <p:oleObj r:id="rId56" imgW="1091565" imgH="241300" progId="Equation.DSMT4">
                  <p:embed/>
                  <p:pic>
                    <p:nvPicPr>
                      <p:cNvPr id="0" name="图片 44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4112260" y="3928110"/>
                        <a:ext cx="1087120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-2147482245"/>
          <p:cNvGraphicFramePr>
            <a:graphicFrameLocks noChangeAspect="1"/>
          </p:cNvGraphicFramePr>
          <p:nvPr/>
        </p:nvGraphicFramePr>
        <p:xfrm>
          <a:off x="1691640" y="3989070"/>
          <a:ext cx="2420620" cy="240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8" imgW="2489200" imgH="241300" progId="Equation.DSMT4">
                  <p:embed/>
                </p:oleObj>
              </mc:Choice>
              <mc:Fallback>
                <p:oleObj r:id="rId58" imgW="2489200" imgH="241300" progId="Equation.DSMT4">
                  <p:embed/>
                  <p:pic>
                    <p:nvPicPr>
                      <p:cNvPr id="0" name="图片 45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691640" y="3989070"/>
                        <a:ext cx="2420620" cy="240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-2147482264"/>
          <p:cNvGraphicFramePr>
            <a:graphicFrameLocks noChangeAspect="1"/>
          </p:cNvGraphicFramePr>
          <p:nvPr/>
        </p:nvGraphicFramePr>
        <p:xfrm>
          <a:off x="300355" y="3993515"/>
          <a:ext cx="1363345" cy="236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0" imgW="1422400" imgH="241300" progId="Equation.DSMT4">
                  <p:embed/>
                </p:oleObj>
              </mc:Choice>
              <mc:Fallback>
                <p:oleObj r:id="rId60" imgW="1422400" imgH="241300" progId="Equation.DSMT4">
                  <p:embed/>
                  <p:pic>
                    <p:nvPicPr>
                      <p:cNvPr id="0" name="图片 48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300355" y="3993515"/>
                        <a:ext cx="1363345" cy="2362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-2147482255"/>
          <p:cNvGraphicFramePr>
            <a:graphicFrameLocks noChangeAspect="1"/>
          </p:cNvGraphicFramePr>
          <p:nvPr/>
        </p:nvGraphicFramePr>
        <p:xfrm>
          <a:off x="3560763" y="4229735"/>
          <a:ext cx="1345565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2" imgW="1346200" imgH="241300" progId="Equation.DSMT4">
                  <p:embed/>
                </p:oleObj>
              </mc:Choice>
              <mc:Fallback>
                <p:oleObj r:id="rId62" imgW="1346200" imgH="241300" progId="Equation.DSMT4">
                  <p:embed/>
                  <p:pic>
                    <p:nvPicPr>
                      <p:cNvPr id="0" name="图片 52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3560763" y="4229735"/>
                        <a:ext cx="1345565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-2147482254"/>
          <p:cNvGraphicFramePr>
            <a:graphicFrameLocks noChangeAspect="1"/>
          </p:cNvGraphicFramePr>
          <p:nvPr/>
        </p:nvGraphicFramePr>
        <p:xfrm>
          <a:off x="3578860" y="4514850"/>
          <a:ext cx="1535430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4" imgW="1536700" imgH="241300" progId="Equation.DSMT4">
                  <p:embed/>
                </p:oleObj>
              </mc:Choice>
              <mc:Fallback>
                <p:oleObj r:id="rId64" imgW="1536700" imgH="241300" progId="Equation.DSMT4">
                  <p:embed/>
                  <p:pic>
                    <p:nvPicPr>
                      <p:cNvPr id="0" name="图片 54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3578860" y="4514850"/>
                        <a:ext cx="1535430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-2147482244"/>
          <p:cNvGraphicFramePr>
            <a:graphicFrameLocks noChangeAspect="1"/>
          </p:cNvGraphicFramePr>
          <p:nvPr/>
        </p:nvGraphicFramePr>
        <p:xfrm>
          <a:off x="3270250" y="3549650"/>
          <a:ext cx="1955800" cy="422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6" imgW="2159000" imgH="457200" progId="Equation.DSMT4">
                  <p:embed/>
                </p:oleObj>
              </mc:Choice>
              <mc:Fallback>
                <p:oleObj r:id="rId66" imgW="2159000" imgH="457200" progId="Equation.DSMT4">
                  <p:embed/>
                  <p:pic>
                    <p:nvPicPr>
                      <p:cNvPr id="0" name="图片 56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3270250" y="3549650"/>
                        <a:ext cx="1955800" cy="422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" name="组合 67"/>
          <p:cNvGrpSpPr/>
          <p:nvPr>
            <p:custDataLst>
              <p:tags r:id="rId6"/>
            </p:custDataLst>
          </p:nvPr>
        </p:nvGrpSpPr>
        <p:grpSpPr>
          <a:xfrm>
            <a:off x="5295265" y="3327400"/>
            <a:ext cx="3569335" cy="755650"/>
            <a:chOff x="313807" y="1020423"/>
            <a:chExt cx="2213927" cy="2472449"/>
          </a:xfrm>
        </p:grpSpPr>
        <p:sp>
          <p:nvSpPr>
            <p:cNvPr id="69" name="文本框 68"/>
            <p:cNvSpPr txBox="1"/>
            <p:nvPr>
              <p:custDataLst>
                <p:tags r:id="rId11"/>
              </p:custDataLst>
            </p:nvPr>
          </p:nvSpPr>
          <p:spPr>
            <a:xfrm>
              <a:off x="892398" y="1020423"/>
              <a:ext cx="1150486" cy="10035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空气源热泵数学模型</a:t>
              </a:r>
            </a:p>
          </p:txBody>
        </p:sp>
        <p:sp>
          <p:nvSpPr>
            <p:cNvPr id="70" name="矩形 69"/>
            <p:cNvSpPr/>
            <p:nvPr>
              <p:custDataLst>
                <p:tags r:id="rId12"/>
              </p:custDataLst>
            </p:nvPr>
          </p:nvSpPr>
          <p:spPr>
            <a:xfrm>
              <a:off x="313807" y="1026451"/>
              <a:ext cx="2213927" cy="246642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71" name="对象 -2147482243"/>
          <p:cNvGraphicFramePr>
            <a:graphicFrameLocks noChangeAspect="1"/>
          </p:cNvGraphicFramePr>
          <p:nvPr/>
        </p:nvGraphicFramePr>
        <p:xfrm>
          <a:off x="5363845" y="3633788"/>
          <a:ext cx="1207770" cy="391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8" imgW="1205865" imgH="393700" progId="Equation.DSMT4">
                  <p:embed/>
                </p:oleObj>
              </mc:Choice>
              <mc:Fallback>
                <p:oleObj r:id="rId68" imgW="1205865" imgH="393700" progId="Equation.DSMT4">
                  <p:embed/>
                  <p:pic>
                    <p:nvPicPr>
                      <p:cNvPr id="0" name="图片 60"/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5363845" y="3633788"/>
                        <a:ext cx="1207770" cy="3911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-2147482231"/>
          <p:cNvGraphicFramePr>
            <a:graphicFrameLocks noChangeAspect="1"/>
          </p:cNvGraphicFramePr>
          <p:nvPr/>
        </p:nvGraphicFramePr>
        <p:xfrm>
          <a:off x="6571615" y="3734118"/>
          <a:ext cx="126492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0" imgW="1269365" imgH="254000" progId="Equation.DSMT4">
                  <p:embed/>
                </p:oleObj>
              </mc:Choice>
              <mc:Fallback>
                <p:oleObj r:id="rId70" imgW="1269365" imgH="254000" progId="Equation.DSMT4">
                  <p:embed/>
                  <p:pic>
                    <p:nvPicPr>
                      <p:cNvPr id="0" name="图片 61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6571615" y="3734118"/>
                        <a:ext cx="126492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对象 -2147482226"/>
          <p:cNvGraphicFramePr>
            <a:graphicFrameLocks noChangeAspect="1"/>
          </p:cNvGraphicFramePr>
          <p:nvPr/>
        </p:nvGraphicFramePr>
        <p:xfrm>
          <a:off x="7836218" y="3651250"/>
          <a:ext cx="100647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2" imgW="1002665" imgH="431800" progId="Equation.DSMT4">
                  <p:embed/>
                </p:oleObj>
              </mc:Choice>
              <mc:Fallback>
                <p:oleObj r:id="rId72" imgW="1002665" imgH="431800" progId="Equation.DSMT4">
                  <p:embed/>
                  <p:pic>
                    <p:nvPicPr>
                      <p:cNvPr id="0" name="图片 62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7836218" y="3651250"/>
                        <a:ext cx="1006475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" name="组合 76"/>
          <p:cNvGrpSpPr/>
          <p:nvPr>
            <p:custDataLst>
              <p:tags r:id="rId7"/>
            </p:custDataLst>
          </p:nvPr>
        </p:nvGrpSpPr>
        <p:grpSpPr>
          <a:xfrm>
            <a:off x="5295265" y="4154742"/>
            <a:ext cx="3569335" cy="753808"/>
            <a:chOff x="313807" y="1026451"/>
            <a:chExt cx="2213927" cy="2466421"/>
          </a:xfrm>
        </p:grpSpPr>
        <p:sp>
          <p:nvSpPr>
            <p:cNvPr id="78" name="文本框 77"/>
            <p:cNvSpPr txBox="1"/>
            <p:nvPr>
              <p:custDataLst>
                <p:tags r:id="rId9"/>
              </p:custDataLst>
            </p:nvPr>
          </p:nvSpPr>
          <p:spPr>
            <a:xfrm>
              <a:off x="936905" y="1076521"/>
              <a:ext cx="1045323" cy="10035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蓄热水箱数学模型</a:t>
              </a:r>
            </a:p>
          </p:txBody>
        </p:sp>
        <p:sp>
          <p:nvSpPr>
            <p:cNvPr id="79" name="矩形 78"/>
            <p:cNvSpPr/>
            <p:nvPr>
              <p:custDataLst>
                <p:tags r:id="rId10"/>
              </p:custDataLst>
            </p:nvPr>
          </p:nvSpPr>
          <p:spPr>
            <a:xfrm>
              <a:off x="313807" y="1026451"/>
              <a:ext cx="2213927" cy="246642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80" name="对象 -2147482219"/>
          <p:cNvGraphicFramePr>
            <a:graphicFrameLocks noChangeAspect="1"/>
          </p:cNvGraphicFramePr>
          <p:nvPr/>
        </p:nvGraphicFramePr>
        <p:xfrm>
          <a:off x="5295265" y="4476750"/>
          <a:ext cx="3576320" cy="312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4" imgW="4864100" imgH="406400" progId="Equation.DSMT4">
                  <p:embed/>
                </p:oleObj>
              </mc:Choice>
              <mc:Fallback>
                <p:oleObj r:id="rId74" imgW="4864100" imgH="406400" progId="Equation.DSMT4">
                  <p:embed/>
                  <p:pic>
                    <p:nvPicPr>
                      <p:cNvPr id="0" name="图片 67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5295265" y="4476750"/>
                        <a:ext cx="3576320" cy="3124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表格 81"/>
          <p:cNvGraphicFramePr/>
          <p:nvPr>
            <p:custDataLst>
              <p:tags r:id="rId8"/>
            </p:custDataLst>
          </p:nvPr>
        </p:nvGraphicFramePr>
        <p:xfrm>
          <a:off x="5349875" y="2571115"/>
          <a:ext cx="3451860" cy="593725"/>
        </p:xfrm>
        <a:graphic>
          <a:graphicData uri="http://schemas.openxmlformats.org/drawingml/2006/table">
            <a:tbl>
              <a:tblPr/>
              <a:tblGrid>
                <a:gridCol w="405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89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温度</a:t>
                      </a:r>
                      <a:endParaRPr lang="zh-CN" altLang="zh-CN" sz="8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8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.68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.71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.76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.79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.82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.88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.93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.97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en-US" altLang="zh-CN" sz="800">
                          <a:latin typeface="Times New Roman" panose="02020603050405020304"/>
                          <a:ea typeface="宋体" panose="02010600030101010101" pitchFamily="2" charset="-122"/>
                        </a:rPr>
                        <a:t>.03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对象 -2147482224"/>
          <p:cNvGraphicFramePr>
            <a:graphicFrameLocks noChangeAspect="1"/>
          </p:cNvGraphicFramePr>
          <p:nvPr/>
        </p:nvGraphicFramePr>
        <p:xfrm>
          <a:off x="5435283" y="2931160"/>
          <a:ext cx="189865" cy="18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6" imgW="177800" imgH="203200" progId="Equation.DSMT4">
                  <p:embed/>
                </p:oleObj>
              </mc:Choice>
              <mc:Fallback>
                <p:oleObj r:id="rId76" imgW="177800" imgH="203200" progId="Equation.DSMT4">
                  <p:embed/>
                  <p:pic>
                    <p:nvPicPr>
                      <p:cNvPr id="0" name="图片 71"/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5435283" y="2931160"/>
                        <a:ext cx="189865" cy="189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038" y="146099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62097" y="269165"/>
            <a:ext cx="62877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kern="1200" cap="none" spc="0" normalizeH="0" baseline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SH-CCHP系统TRNSYS仿真图</a:t>
            </a:r>
            <a:endParaRPr kumimoji="0" lang="zh-CN" altLang="en-US" b="0" i="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644287" y="4679720"/>
            <a:ext cx="2936344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SH-CCHP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TRNSYS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仿真图</a:t>
            </a:r>
          </a:p>
        </p:txBody>
      </p:sp>
      <p:sp>
        <p:nvSpPr>
          <p:cNvPr id="2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2840990" y="948690"/>
            <a:ext cx="5901690" cy="3730625"/>
            <a:chOff x="4247" y="1494"/>
            <a:chExt cx="9294" cy="5875"/>
          </a:xfrm>
        </p:grpSpPr>
        <p:pic>
          <p:nvPicPr>
            <p:cNvPr id="4" name="图片 16"/>
            <p:cNvPicPr>
              <a:picLocks noChangeAspect="1"/>
            </p:cNvPicPr>
            <p:nvPr/>
          </p:nvPicPr>
          <p:blipFill>
            <a:blip r:embed="rId7"/>
            <a:srcRect l="863"/>
            <a:stretch>
              <a:fillRect/>
            </a:stretch>
          </p:blipFill>
          <p:spPr>
            <a:xfrm>
              <a:off x="4365" y="1494"/>
              <a:ext cx="9131" cy="5862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矩形 11"/>
            <p:cNvSpPr/>
            <p:nvPr/>
          </p:nvSpPr>
          <p:spPr>
            <a:xfrm>
              <a:off x="4247" y="1513"/>
              <a:ext cx="9295" cy="58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31165" y="1005840"/>
            <a:ext cx="2353945" cy="101282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仿真可分为四个子系统：</a:t>
            </a:r>
          </a:p>
          <a:p>
            <a:pPr algn="just">
              <a:lnSpc>
                <a:spcPct val="125000"/>
              </a:lnSpc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太阳能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空气源热泵系统</a:t>
            </a:r>
          </a:p>
          <a:p>
            <a:pPr algn="just">
              <a:lnSpc>
                <a:spcPct val="125000"/>
              </a:lnSpc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燃气轮机系统</a:t>
            </a:r>
          </a:p>
          <a:p>
            <a:pPr algn="just">
              <a:lnSpc>
                <a:spcPct val="125000"/>
              </a:lnSpc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空调末端系统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4.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控制系统</a:t>
            </a:r>
          </a:p>
        </p:txBody>
      </p:sp>
      <p:graphicFrame>
        <p:nvGraphicFramePr>
          <p:cNvPr id="6" name="对象 -2147482177"/>
          <p:cNvGraphicFramePr>
            <a:graphicFrameLocks noChangeAspect="1"/>
          </p:cNvGraphicFramePr>
          <p:nvPr/>
        </p:nvGraphicFramePr>
        <p:xfrm>
          <a:off x="539750" y="2033905"/>
          <a:ext cx="169164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996680" imgH="5476875" progId="Visio.Drawing.15">
                  <p:embed/>
                </p:oleObj>
              </mc:Choice>
              <mc:Fallback>
                <p:oleObj r:id="rId8" imgW="8996680" imgH="547687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9750" y="2033905"/>
                        <a:ext cx="1691640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2160"/>
          <p:cNvGraphicFramePr>
            <a:graphicFrameLocks noChangeAspect="1"/>
          </p:cNvGraphicFramePr>
          <p:nvPr/>
        </p:nvGraphicFramePr>
        <p:xfrm>
          <a:off x="683895" y="3127375"/>
          <a:ext cx="1804035" cy="721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797165" imgH="3234690" progId="Visio.Drawing.15">
                  <p:embed/>
                </p:oleObj>
              </mc:Choice>
              <mc:Fallback>
                <p:oleObj r:id="rId10" imgW="7797165" imgH="3234690" progId="Visio.Drawing.15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3895" y="3127375"/>
                        <a:ext cx="1804035" cy="721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-2147482159"/>
          <p:cNvGraphicFramePr>
            <a:graphicFrameLocks noChangeAspect="1"/>
          </p:cNvGraphicFramePr>
          <p:nvPr/>
        </p:nvGraphicFramePr>
        <p:xfrm>
          <a:off x="431165" y="3907790"/>
          <a:ext cx="2265045" cy="1010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805795" imgH="4867275" progId="Visio.Drawing.15">
                  <p:embed/>
                </p:oleObj>
              </mc:Choice>
              <mc:Fallback>
                <p:oleObj r:id="rId12" imgW="10805795" imgH="4867275" progId="Visio.Drawing.15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1165" y="3907790"/>
                        <a:ext cx="2265045" cy="10102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矩形 68"/>
          <p:cNvSpPr/>
          <p:nvPr>
            <p:custDataLst>
              <p:tags r:id="rId1"/>
            </p:custDataLst>
          </p:nvPr>
        </p:nvSpPr>
        <p:spPr>
          <a:xfrm>
            <a:off x="431165" y="2066925"/>
            <a:ext cx="2363470" cy="96647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431165" y="3942715"/>
            <a:ext cx="2353310" cy="91249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>
            <p:custDataLst>
              <p:tags r:id="rId3"/>
            </p:custDataLst>
          </p:nvPr>
        </p:nvSpPr>
        <p:spPr>
          <a:xfrm>
            <a:off x="431165" y="3077845"/>
            <a:ext cx="2353310" cy="80899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497455" y="2328545"/>
            <a:ext cx="295910" cy="3771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en-US" altLang="zh-CN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23" name="矩形 22"/>
          <p:cNvSpPr/>
          <p:nvPr/>
        </p:nvSpPr>
        <p:spPr>
          <a:xfrm>
            <a:off x="2484120" y="3290570"/>
            <a:ext cx="295910" cy="3771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en-US" altLang="zh-CN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  <p:sp>
        <p:nvSpPr>
          <p:cNvPr id="24" name="矩形 23"/>
          <p:cNvSpPr/>
          <p:nvPr/>
        </p:nvSpPr>
        <p:spPr>
          <a:xfrm>
            <a:off x="2484120" y="4258945"/>
            <a:ext cx="295910" cy="3771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en-US" altLang="zh-CN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592" y="152927"/>
            <a:ext cx="3026962" cy="607205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" name="图片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6" t="4348" r="4277" b="6342"/>
          <a:stretch>
            <a:fillRect/>
          </a:stretch>
        </p:blipFill>
        <p:spPr>
          <a:xfrm>
            <a:off x="420370" y="1029970"/>
            <a:ext cx="3490595" cy="20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95605" y="991235"/>
            <a:ext cx="3539490" cy="23374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-2147482150"/>
          <p:cNvGraphicFramePr>
            <a:graphicFrameLocks noChangeAspect="1"/>
          </p:cNvGraphicFramePr>
          <p:nvPr/>
        </p:nvGraphicFramePr>
        <p:xfrm>
          <a:off x="4068445" y="1025525"/>
          <a:ext cx="4698365" cy="208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036050" imgH="3952875" progId="Visio.Drawing.15">
                  <p:embed/>
                </p:oleObj>
              </mc:Choice>
              <mc:Fallback>
                <p:oleObj r:id="rId9" imgW="9036050" imgH="395287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68445" y="1025525"/>
                        <a:ext cx="4698365" cy="20840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2987675" y="3469005"/>
          <a:ext cx="5742305" cy="104736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2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7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200"/>
                        <a:t>设备名称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溴冷机组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空气源热泵</a:t>
                      </a:r>
                      <a:r>
                        <a:rPr lang="en-US" altLang="zh-CN" sz="1200"/>
                        <a:t>(</a:t>
                      </a:r>
                      <a:r>
                        <a:rPr lang="zh-CN" sz="1200"/>
                        <a:t>冷</a:t>
                      </a:r>
                      <a:r>
                        <a:rPr lang="en-US" altLang="zh-CN" sz="1200"/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空气源热泵</a:t>
                      </a:r>
                      <a:r>
                        <a:rPr lang="en-US" altLang="zh-CN" sz="1200"/>
                        <a:t>(</a:t>
                      </a:r>
                      <a:r>
                        <a:rPr lang="zh-CN" sz="1200"/>
                        <a:t>热</a:t>
                      </a:r>
                      <a:r>
                        <a:rPr lang="en-US" altLang="zh-CN" sz="1200"/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余热锅炉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太阳能集热器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200"/>
                        <a:t>制热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冷量</a:t>
                      </a:r>
                    </a:p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20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150612.7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230905.40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116796.77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188874.6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151525.78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" name="矩形 68"/>
          <p:cNvSpPr/>
          <p:nvPr>
            <p:custDataLst>
              <p:tags r:id="rId3"/>
            </p:custDataLst>
          </p:nvPr>
        </p:nvSpPr>
        <p:spPr>
          <a:xfrm>
            <a:off x="3996055" y="986155"/>
            <a:ext cx="4783455" cy="233934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331595" y="3006725"/>
            <a:ext cx="180784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系统全年制冷制热量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469255" y="3021965"/>
            <a:ext cx="180784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系统逐月制冷制热量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2947670" y="3375660"/>
            <a:ext cx="5834380" cy="150812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04435" y="4587240"/>
            <a:ext cx="1807845" cy="285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各设备总制冷制热量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95605" y="3376930"/>
            <a:ext cx="2472055" cy="15074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ot"/>
          </a:ln>
        </p:spPr>
        <p:txBody>
          <a:bodyPr wrap="square" rtlCol="0">
            <a:no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系统于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日至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日供暖；于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日至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日制冷。制冷季时，空气源热泵为主要冷源；制热季时，余热锅炉为主要热源。</a:t>
            </a:r>
          </a:p>
        </p:txBody>
      </p:sp>
      <p:graphicFrame>
        <p:nvGraphicFramePr>
          <p:cNvPr id="11" name="对象 -2147482151"/>
          <p:cNvGraphicFramePr>
            <a:graphicFrameLocks noChangeAspect="1"/>
          </p:cNvGraphicFramePr>
          <p:nvPr/>
        </p:nvGraphicFramePr>
        <p:xfrm>
          <a:off x="3275965" y="4298633"/>
          <a:ext cx="293370" cy="17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92100" imgH="165100" progId="Equation.DSMT4">
                  <p:embed/>
                </p:oleObj>
              </mc:Choice>
              <mc:Fallback>
                <p:oleObj r:id="rId11" imgW="292100" imgH="1651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75965" y="4298633"/>
                        <a:ext cx="293370" cy="1727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662097" y="234387"/>
            <a:ext cx="2200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仿真结果分析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592" y="152927"/>
            <a:ext cx="3026962" cy="607205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95605" y="991235"/>
            <a:ext cx="3539490" cy="249745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>
            <p:custDataLst>
              <p:tags r:id="rId2"/>
            </p:custDataLst>
          </p:nvPr>
        </p:nvSpPr>
        <p:spPr>
          <a:xfrm>
            <a:off x="3996055" y="986155"/>
            <a:ext cx="4783455" cy="251015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331595" y="3178810"/>
            <a:ext cx="202120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系统逐月电力供需平衡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868035" y="3147060"/>
            <a:ext cx="1307465" cy="2705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系统逐月能耗</a:t>
            </a:r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3665220" y="3586480"/>
            <a:ext cx="5116830" cy="129730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08625" y="4599305"/>
            <a:ext cx="1508760" cy="285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各设备全年能耗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95605" y="3533775"/>
            <a:ext cx="3221990" cy="14039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wrap="square" numCol="1" spcCol="0" rtlCol="0" fromWordArt="0" anchor="t" anchorCtr="0" forceAA="0" compatLnSpc="0">
            <a:noAutofit/>
          </a:bodyPr>
          <a:lstStyle/>
          <a:p>
            <a:pPr indent="457200">
              <a:buClrTx/>
              <a:buSzTx/>
              <a:buFontTx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在制热季时，机组能耗基本小于制冷季，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月机组耗电量最高，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月耗电量最小。制冷季机组能耗为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105074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，负荷侧水泵能耗较高；制热季机组能耗为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65560.76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，负荷侧水泵能耗较高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pic>
        <p:nvPicPr>
          <p:cNvPr id="11" name="图片 8" descr="逐月电力"/>
          <p:cNvPicPr>
            <a:picLocks noChangeAspect="1"/>
          </p:cNvPicPr>
          <p:nvPr/>
        </p:nvPicPr>
        <p:blipFill>
          <a:blip r:embed="rId8"/>
          <a:srcRect l="4404" t="5657" r="3853" b="5572"/>
          <a:stretch>
            <a:fillRect/>
          </a:stretch>
        </p:blipFill>
        <p:spPr>
          <a:xfrm>
            <a:off x="395605" y="1036320"/>
            <a:ext cx="3475355" cy="2178685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>
            <p:custDataLst>
              <p:tags r:id="rId4"/>
            </p:custDataLst>
          </p:nvPr>
        </p:nvGraphicFramePr>
        <p:xfrm>
          <a:off x="3689985" y="3697605"/>
          <a:ext cx="5044440" cy="89090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84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名称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水泵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溴冷机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冷却塔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空调末端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空气源热泵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/>
                        <a:t>耗电量</a:t>
                      </a:r>
                    </a:p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83890.8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/>
                        <a:t>4055.5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12774.0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/>
                        <a:t>13484.4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/>
                        <a:t>150020.0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对象 -2147482145"/>
          <p:cNvGraphicFramePr>
            <a:graphicFrameLocks noChangeAspect="1"/>
          </p:cNvGraphicFramePr>
          <p:nvPr/>
        </p:nvGraphicFramePr>
        <p:xfrm>
          <a:off x="3935095" y="4298950"/>
          <a:ext cx="391160" cy="235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93065" imgH="215900" progId="Equation.DSMT4">
                  <p:embed/>
                </p:oleObj>
              </mc:Choice>
              <mc:Fallback>
                <p:oleObj r:id="rId9" imgW="393065" imgH="215900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35095" y="4298950"/>
                        <a:ext cx="391160" cy="2355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662097" y="234387"/>
            <a:ext cx="2200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仿真结果分析</a:t>
            </a:r>
            <a:endParaRPr kumimoji="0" lang="zh-CN" altLang="en-US" sz="2400" b="0" i="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" name="对象 -2147481777"/>
          <p:cNvGraphicFramePr>
            <a:graphicFrameLocks noChangeAspect="1"/>
          </p:cNvGraphicFramePr>
          <p:nvPr/>
        </p:nvGraphicFramePr>
        <p:xfrm>
          <a:off x="3996690" y="1059180"/>
          <a:ext cx="4726940" cy="2087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0431780" imgH="4650740" progId="Visio.Drawing.15">
                  <p:embed/>
                </p:oleObj>
              </mc:Choice>
              <mc:Fallback>
                <p:oleObj r:id="rId11" imgW="10431780" imgH="4650740" progId="Visio.Drawing.15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96690" y="1059180"/>
                        <a:ext cx="4726940" cy="20878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75744" y="848238"/>
            <a:ext cx="847272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62097" y="234387"/>
            <a:ext cx="2200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仿真结果分析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1356995" y="2839085"/>
            <a:ext cx="8108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光伏效率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cxnSp>
        <p:nvCxnSpPr>
          <p:cNvPr id="35" name="直接连接符 34"/>
          <p:cNvCxnSpPr/>
          <p:nvPr>
            <p:custDataLst>
              <p:tags r:id="rId2"/>
            </p:custDataLst>
          </p:nvPr>
        </p:nvCxnSpPr>
        <p:spPr bwMode="auto">
          <a:xfrm>
            <a:off x="3145514" y="1136285"/>
            <a:ext cx="0" cy="3666356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1107828" y="891704"/>
            <a:ext cx="1253753" cy="30670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元件效率</a:t>
            </a:r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1273810" y="4721225"/>
            <a:ext cx="10223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集热器效率</a:t>
            </a: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3958530" y="896459"/>
            <a:ext cx="1253753" cy="30670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b="1" dirty="0"/>
              <a:t>元件</a:t>
            </a:r>
            <a:r>
              <a:rPr lang="en-US" altLang="zh-CN" sz="1400" b="1" dirty="0"/>
              <a:t>COP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6"/>
            </p:custDataLst>
          </p:nvPr>
        </p:nvSpPr>
        <p:spPr>
          <a:xfrm>
            <a:off x="4051935" y="2844165"/>
            <a:ext cx="127444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空气源热泵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COP</a:t>
            </a:r>
          </a:p>
        </p:txBody>
      </p:sp>
      <p:sp>
        <p:nvSpPr>
          <p:cNvPr id="46" name="文本框 45"/>
          <p:cNvSpPr txBox="1"/>
          <p:nvPr>
            <p:custDataLst>
              <p:tags r:id="rId7"/>
            </p:custDataLst>
          </p:nvPr>
        </p:nvSpPr>
        <p:spPr>
          <a:xfrm>
            <a:off x="4068445" y="4740910"/>
            <a:ext cx="12674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溴化锂机组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COP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111240" y="1097915"/>
            <a:ext cx="2449830" cy="371475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空气源热泵全年性能系数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COP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呈现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显著的季节性差异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：制冷季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COP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均值明显高于制热季，其根本机理在于制冷模式下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室外环境温度较高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，与热泵冷凝器工作温度区间接近，大幅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降低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了蒸发器与冷凝器之间的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传热温差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，全年最高值为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5.04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，最低值为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1.42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10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溴化锂吸收式制冷机组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COP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在制冷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季初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与制冷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季末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较高，季中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COP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较低，主要受室外气温的影响。全年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COP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最高值为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1.82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，最低为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1.33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10000"/>
              </a:lnSpc>
            </a:pPr>
            <a:endParaRPr lang="zh-CN" altLang="en-US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15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1" t="4615" r="5166" b="4515"/>
          <a:stretch>
            <a:fillRect/>
          </a:stretch>
        </p:blipFill>
        <p:spPr>
          <a:xfrm>
            <a:off x="323850" y="1240790"/>
            <a:ext cx="2786380" cy="164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图片 19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" t="10251" r="10625" b="4649"/>
          <a:stretch>
            <a:fillRect/>
          </a:stretch>
        </p:blipFill>
        <p:spPr>
          <a:xfrm>
            <a:off x="326390" y="3053080"/>
            <a:ext cx="2760980" cy="171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7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" t="3496" r="4600" b="5219"/>
          <a:stretch>
            <a:fillRect/>
          </a:stretch>
        </p:blipFill>
        <p:spPr>
          <a:xfrm>
            <a:off x="3198495" y="1210945"/>
            <a:ext cx="2811145" cy="1673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/>
          <a:srcRect l="4762" t="4380" r="4318" b="4725"/>
          <a:stretch>
            <a:fillRect/>
          </a:stretch>
        </p:blipFill>
        <p:spPr>
          <a:xfrm>
            <a:off x="3204210" y="3053080"/>
            <a:ext cx="2790190" cy="17500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39" y="295184"/>
            <a:ext cx="2162698" cy="80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图片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719" y="4211131"/>
            <a:ext cx="3316057" cy="79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3021991" y="1634852"/>
            <a:ext cx="3100017" cy="609412"/>
            <a:chOff x="1688006" y="1565980"/>
            <a:chExt cx="3100017" cy="609412"/>
          </a:xfrm>
        </p:grpSpPr>
        <p:sp>
          <p:nvSpPr>
            <p:cNvPr id="25602" name="标题 1"/>
            <p:cNvSpPr txBox="1">
              <a:spLocks noChangeArrowheads="1"/>
            </p:cNvSpPr>
            <p:nvPr/>
          </p:nvSpPr>
          <p:spPr bwMode="auto">
            <a:xfrm>
              <a:off x="2478336" y="1616565"/>
              <a:ext cx="2309687" cy="505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3300" b="1" dirty="0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研究内容三</a:t>
              </a:r>
            </a:p>
          </p:txBody>
        </p:sp>
        <p:grpSp>
          <p:nvGrpSpPr>
            <p:cNvPr id="25605" name="组合 4"/>
            <p:cNvGrpSpPr/>
            <p:nvPr/>
          </p:nvGrpSpPr>
          <p:grpSpPr bwMode="auto">
            <a:xfrm>
              <a:off x="1688006" y="1565980"/>
              <a:ext cx="689159" cy="609412"/>
              <a:chOff x="5091113" y="3690938"/>
              <a:chExt cx="827087" cy="768350"/>
            </a:xfrm>
          </p:grpSpPr>
          <p:sp>
            <p:nvSpPr>
              <p:cNvPr id="9" name="椭圆 8"/>
              <p:cNvSpPr/>
              <p:nvPr/>
            </p:nvSpPr>
            <p:spPr bwMode="auto">
              <a:xfrm flipH="1">
                <a:off x="5091113" y="3690938"/>
                <a:ext cx="827087" cy="768350"/>
              </a:xfrm>
              <a:prstGeom prst="ellipse">
                <a:avLst/>
              </a:prstGeom>
              <a:solidFill>
                <a:srgbClr val="ED4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" name="Freeform 30"/>
              <p:cNvSpPr>
                <a:spLocks noEditPoints="1"/>
              </p:cNvSpPr>
              <p:nvPr/>
            </p:nvSpPr>
            <p:spPr bwMode="auto">
              <a:xfrm flipH="1">
                <a:off x="5319669" y="3819997"/>
                <a:ext cx="414258" cy="507231"/>
              </a:xfrm>
              <a:custGeom>
                <a:avLst/>
                <a:gdLst>
                  <a:gd name="T0" fmla="*/ 60 w 74"/>
                  <a:gd name="T1" fmla="*/ 0 h 97"/>
                  <a:gd name="T2" fmla="*/ 72 w 74"/>
                  <a:gd name="T3" fmla="*/ 11 h 97"/>
                  <a:gd name="T4" fmla="*/ 70 w 74"/>
                  <a:gd name="T5" fmla="*/ 52 h 97"/>
                  <a:gd name="T6" fmla="*/ 63 w 74"/>
                  <a:gd name="T7" fmla="*/ 11 h 97"/>
                  <a:gd name="T8" fmla="*/ 60 w 74"/>
                  <a:gd name="T9" fmla="*/ 8 h 97"/>
                  <a:gd name="T10" fmla="*/ 26 w 74"/>
                  <a:gd name="T11" fmla="*/ 11 h 97"/>
                  <a:gd name="T12" fmla="*/ 26 w 74"/>
                  <a:gd name="T13" fmla="*/ 18 h 97"/>
                  <a:gd name="T14" fmla="*/ 19 w 74"/>
                  <a:gd name="T15" fmla="*/ 24 h 97"/>
                  <a:gd name="T16" fmla="*/ 12 w 74"/>
                  <a:gd name="T17" fmla="*/ 24 h 97"/>
                  <a:gd name="T18" fmla="*/ 8 w 74"/>
                  <a:gd name="T19" fmla="*/ 79 h 97"/>
                  <a:gd name="T20" fmla="*/ 9 w 74"/>
                  <a:gd name="T21" fmla="*/ 81 h 97"/>
                  <a:gd name="T22" fmla="*/ 28 w 74"/>
                  <a:gd name="T23" fmla="*/ 82 h 97"/>
                  <a:gd name="T24" fmla="*/ 37 w 74"/>
                  <a:gd name="T25" fmla="*/ 90 h 97"/>
                  <a:gd name="T26" fmla="*/ 3 w 74"/>
                  <a:gd name="T27" fmla="*/ 87 h 97"/>
                  <a:gd name="T28" fmla="*/ 3 w 74"/>
                  <a:gd name="T29" fmla="*/ 87 h 97"/>
                  <a:gd name="T30" fmla="*/ 0 w 74"/>
                  <a:gd name="T31" fmla="*/ 20 h 97"/>
                  <a:gd name="T32" fmla="*/ 1 w 74"/>
                  <a:gd name="T33" fmla="*/ 17 h 97"/>
                  <a:gd name="T34" fmla="*/ 19 w 74"/>
                  <a:gd name="T35" fmla="*/ 0 h 97"/>
                  <a:gd name="T36" fmla="*/ 17 w 74"/>
                  <a:gd name="T37" fmla="*/ 52 h 97"/>
                  <a:gd name="T38" fmla="*/ 27 w 74"/>
                  <a:gd name="T39" fmla="*/ 56 h 97"/>
                  <a:gd name="T40" fmla="*/ 17 w 74"/>
                  <a:gd name="T41" fmla="*/ 52 h 97"/>
                  <a:gd name="T42" fmla="*/ 17 w 74"/>
                  <a:gd name="T43" fmla="*/ 44 h 97"/>
                  <a:gd name="T44" fmla="*/ 56 w 74"/>
                  <a:gd name="T45" fmla="*/ 40 h 97"/>
                  <a:gd name="T46" fmla="*/ 17 w 74"/>
                  <a:gd name="T47" fmla="*/ 28 h 97"/>
                  <a:gd name="T48" fmla="*/ 56 w 74"/>
                  <a:gd name="T49" fmla="*/ 33 h 97"/>
                  <a:gd name="T50" fmla="*/ 17 w 74"/>
                  <a:gd name="T51" fmla="*/ 28 h 97"/>
                  <a:gd name="T52" fmla="*/ 34 w 74"/>
                  <a:gd name="T53" fmla="*/ 22 h 97"/>
                  <a:gd name="T54" fmla="*/ 56 w 74"/>
                  <a:gd name="T55" fmla="*/ 17 h 97"/>
                  <a:gd name="T56" fmla="*/ 41 w 74"/>
                  <a:gd name="T57" fmla="*/ 69 h 97"/>
                  <a:gd name="T58" fmla="*/ 41 w 74"/>
                  <a:gd name="T59" fmla="*/ 69 h 97"/>
                  <a:gd name="T60" fmla="*/ 31 w 74"/>
                  <a:gd name="T61" fmla="*/ 66 h 97"/>
                  <a:gd name="T62" fmla="*/ 47 w 74"/>
                  <a:gd name="T63" fmla="*/ 86 h 97"/>
                  <a:gd name="T64" fmla="*/ 59 w 74"/>
                  <a:gd name="T65" fmla="*/ 87 h 97"/>
                  <a:gd name="T66" fmla="*/ 71 w 74"/>
                  <a:gd name="T67" fmla="*/ 96 h 97"/>
                  <a:gd name="T68" fmla="*/ 72 w 74"/>
                  <a:gd name="T69" fmla="*/ 90 h 97"/>
                  <a:gd name="T70" fmla="*/ 63 w 74"/>
                  <a:gd name="T71" fmla="*/ 80 h 97"/>
                  <a:gd name="T72" fmla="*/ 64 w 74"/>
                  <a:gd name="T73" fmla="*/ 57 h 97"/>
                  <a:gd name="T74" fmla="*/ 38 w 74"/>
                  <a:gd name="T75" fmla="*/ 54 h 97"/>
                  <a:gd name="T76" fmla="*/ 42 w 74"/>
                  <a:gd name="T77" fmla="*/ 58 h 97"/>
                  <a:gd name="T78" fmla="*/ 40 w 74"/>
                  <a:gd name="T79" fmla="*/ 76 h 97"/>
                  <a:gd name="T80" fmla="*/ 57 w 74"/>
                  <a:gd name="T81" fmla="*/ 78 h 97"/>
                  <a:gd name="T82" fmla="*/ 59 w 74"/>
                  <a:gd name="T83" fmla="*/ 61 h 97"/>
                  <a:gd name="T84" fmla="*/ 21 w 74"/>
                  <a:gd name="T85" fmla="*/ 9 h 97"/>
                  <a:gd name="T86" fmla="*/ 13 w 74"/>
                  <a:gd name="T87" fmla="*/ 19 h 97"/>
                  <a:gd name="T88" fmla="*/ 17 w 74"/>
                  <a:gd name="T89" fmla="*/ 20 h 97"/>
                  <a:gd name="T90" fmla="*/ 18 w 74"/>
                  <a:gd name="T91" fmla="*/ 20 h 97"/>
                  <a:gd name="T92" fmla="*/ 22 w 74"/>
                  <a:gd name="T93" fmla="*/ 17 h 97"/>
                  <a:gd name="T94" fmla="*/ 22 w 74"/>
                  <a:gd name="T95" fmla="*/ 15 h 97"/>
                  <a:gd name="T96" fmla="*/ 21 w 74"/>
                  <a:gd name="T97" fmla="*/ 1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97">
                    <a:moveTo>
                      <a:pt x="21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6" y="1"/>
                      <a:pt x="68" y="3"/>
                    </a:cubicBezTo>
                    <a:cubicBezTo>
                      <a:pt x="70" y="5"/>
                      <a:pt x="72" y="8"/>
                      <a:pt x="72" y="11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5"/>
                      <a:pt x="70" y="53"/>
                      <a:pt x="70" y="52"/>
                    </a:cubicBezTo>
                    <a:cubicBezTo>
                      <a:pt x="68" y="50"/>
                      <a:pt x="66" y="48"/>
                      <a:pt x="63" y="47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0"/>
                      <a:pt x="63" y="9"/>
                      <a:pt x="62" y="9"/>
                    </a:cubicBezTo>
                    <a:cubicBezTo>
                      <a:pt x="62" y="8"/>
                      <a:pt x="61" y="8"/>
                      <a:pt x="60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5" y="21"/>
                      <a:pt x="23" y="22"/>
                    </a:cubicBezTo>
                    <a:cubicBezTo>
                      <a:pt x="22" y="23"/>
                      <a:pt x="21" y="24"/>
                      <a:pt x="19" y="24"/>
                    </a:cubicBezTo>
                    <a:cubicBezTo>
                      <a:pt x="18" y="24"/>
                      <a:pt x="17" y="24"/>
                      <a:pt x="16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80"/>
                      <a:pt x="9" y="80"/>
                      <a:pt x="9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10" y="81"/>
                      <a:pt x="10" y="82"/>
                      <a:pt x="11" y="82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8" y="82"/>
                      <a:pt x="29" y="83"/>
                      <a:pt x="29" y="84"/>
                    </a:cubicBezTo>
                    <a:cubicBezTo>
                      <a:pt x="31" y="86"/>
                      <a:pt x="34" y="88"/>
                      <a:pt x="37" y="90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8" y="90"/>
                      <a:pt x="5" y="89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1" y="85"/>
                      <a:pt x="0" y="82"/>
                      <a:pt x="0" y="7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  <a:moveTo>
                      <a:pt x="17" y="52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7" y="52"/>
                      <a:pt x="17" y="52"/>
                      <a:pt x="17" y="52"/>
                    </a:cubicBezTo>
                    <a:close/>
                    <a:moveTo>
                      <a:pt x="17" y="40"/>
                    </a:moveTo>
                    <a:cubicBezTo>
                      <a:pt x="17" y="44"/>
                      <a:pt x="17" y="44"/>
                      <a:pt x="17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17" y="40"/>
                      <a:pt x="17" y="40"/>
                      <a:pt x="17" y="40"/>
                    </a:cubicBezTo>
                    <a:close/>
                    <a:moveTo>
                      <a:pt x="17" y="28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34" y="17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34" y="17"/>
                      <a:pt x="34" y="17"/>
                      <a:pt x="34" y="17"/>
                    </a:cubicBezTo>
                    <a:close/>
                    <a:moveTo>
                      <a:pt x="41" y="69"/>
                    </a:moveTo>
                    <a:cubicBezTo>
                      <a:pt x="43" y="64"/>
                      <a:pt x="48" y="61"/>
                      <a:pt x="55" y="60"/>
                    </a:cubicBezTo>
                    <a:cubicBezTo>
                      <a:pt x="48" y="56"/>
                      <a:pt x="39" y="62"/>
                      <a:pt x="41" y="69"/>
                    </a:cubicBezTo>
                    <a:close/>
                    <a:moveTo>
                      <a:pt x="38" y="54"/>
                    </a:moveTo>
                    <a:cubicBezTo>
                      <a:pt x="34" y="57"/>
                      <a:pt x="32" y="61"/>
                      <a:pt x="31" y="66"/>
                    </a:cubicBezTo>
                    <a:cubicBezTo>
                      <a:pt x="31" y="70"/>
                      <a:pt x="32" y="75"/>
                      <a:pt x="35" y="79"/>
                    </a:cubicBezTo>
                    <a:cubicBezTo>
                      <a:pt x="38" y="83"/>
                      <a:pt x="43" y="86"/>
                      <a:pt x="47" y="86"/>
                    </a:cubicBezTo>
                    <a:cubicBezTo>
                      <a:pt x="51" y="87"/>
                      <a:pt x="55" y="86"/>
                      <a:pt x="58" y="84"/>
                    </a:cubicBezTo>
                    <a:cubicBezTo>
                      <a:pt x="58" y="85"/>
                      <a:pt x="58" y="86"/>
                      <a:pt x="59" y="87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7" y="97"/>
                      <a:pt x="69" y="97"/>
                      <a:pt x="71" y="96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73" y="94"/>
                      <a:pt x="74" y="91"/>
                      <a:pt x="72" y="90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5" y="81"/>
                      <a:pt x="64" y="80"/>
                      <a:pt x="63" y="80"/>
                    </a:cubicBezTo>
                    <a:cubicBezTo>
                      <a:pt x="66" y="77"/>
                      <a:pt x="67" y="74"/>
                      <a:pt x="68" y="70"/>
                    </a:cubicBezTo>
                    <a:cubicBezTo>
                      <a:pt x="68" y="66"/>
                      <a:pt x="67" y="61"/>
                      <a:pt x="64" y="57"/>
                    </a:cubicBezTo>
                    <a:cubicBezTo>
                      <a:pt x="61" y="53"/>
                      <a:pt x="56" y="50"/>
                      <a:pt x="52" y="50"/>
                    </a:cubicBezTo>
                    <a:cubicBezTo>
                      <a:pt x="47" y="49"/>
                      <a:pt x="42" y="50"/>
                      <a:pt x="38" y="54"/>
                    </a:cubicBezTo>
                    <a:close/>
                    <a:moveTo>
                      <a:pt x="51" y="56"/>
                    </a:moveTo>
                    <a:cubicBezTo>
                      <a:pt x="48" y="56"/>
                      <a:pt x="45" y="56"/>
                      <a:pt x="42" y="58"/>
                    </a:cubicBezTo>
                    <a:cubicBezTo>
                      <a:pt x="39" y="61"/>
                      <a:pt x="38" y="63"/>
                      <a:pt x="37" y="67"/>
                    </a:cubicBezTo>
                    <a:cubicBezTo>
                      <a:pt x="37" y="70"/>
                      <a:pt x="38" y="73"/>
                      <a:pt x="40" y="76"/>
                    </a:cubicBezTo>
                    <a:cubicBezTo>
                      <a:pt x="42" y="78"/>
                      <a:pt x="45" y="80"/>
                      <a:pt x="48" y="80"/>
                    </a:cubicBezTo>
                    <a:cubicBezTo>
                      <a:pt x="51" y="80"/>
                      <a:pt x="54" y="80"/>
                      <a:pt x="57" y="78"/>
                    </a:cubicBezTo>
                    <a:cubicBezTo>
                      <a:pt x="60" y="76"/>
                      <a:pt x="61" y="73"/>
                      <a:pt x="61" y="69"/>
                    </a:cubicBezTo>
                    <a:cubicBezTo>
                      <a:pt x="62" y="66"/>
                      <a:pt x="61" y="63"/>
                      <a:pt x="59" y="61"/>
                    </a:cubicBezTo>
                    <a:cubicBezTo>
                      <a:pt x="57" y="58"/>
                      <a:pt x="54" y="56"/>
                      <a:pt x="51" y="56"/>
                    </a:cubicBezTo>
                    <a:close/>
                    <a:moveTo>
                      <a:pt x="21" y="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9" y="20"/>
                      <a:pt x="20" y="19"/>
                      <a:pt x="21" y="19"/>
                    </a:cubicBezTo>
                    <a:cubicBezTo>
                      <a:pt x="21" y="18"/>
                      <a:pt x="22" y="17"/>
                      <a:pt x="22" y="17"/>
                    </a:cubicBezTo>
                    <a:cubicBezTo>
                      <a:pt x="22" y="16"/>
                      <a:pt x="22" y="16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1"/>
                      <a:pt x="21" y="11"/>
                      <a:pt x="21" y="11"/>
                    </a:cubicBezTo>
                    <a:lnTo>
                      <a:pt x="21" y="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defTabSz="685800">
                  <a:defRPr/>
                </a:pPr>
                <a:endParaRPr lang="zh-CN" altLang="en-US" sz="1500" b="1" dirty="0">
                  <a:solidFill>
                    <a:srgbClr val="4472C4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1699928" y="2498948"/>
            <a:ext cx="6534472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300" b="1" noProof="0" dirty="0">
                <a:ln>
                  <a:noFill/>
                </a:ln>
                <a:solidFill>
                  <a:srgbClr val="1C488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考虑经济-能源-环境的SH-CCHP系统双层优化策略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40421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34105" y="234387"/>
            <a:ext cx="33338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双层优化求解流程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02125" y="986699"/>
            <a:ext cx="2859910" cy="2515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系统上层，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SH-CCHP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系统从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经济、能源、环境三方面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进行多目标优化，得到包含系统部分元件容量配置的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Pareto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解集，最终通过多决策目标准则求得最优解。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902325" y="3651885"/>
            <a:ext cx="2860040" cy="1070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ot"/>
          </a:ln>
        </p:spPr>
        <p:txBody>
          <a:bodyPr wrap="square" rtlCol="0">
            <a:noAutofit/>
          </a:bodyPr>
          <a:lstStyle/>
          <a:p>
            <a:pPr algn="just"/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系统下层，</a:t>
            </a:r>
            <a:r>
              <a:rPr lang="zh-CN" altLang="en-US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以系统运行成本最小为目标</a:t>
            </a:r>
            <a:r>
              <a:rPr lang="zh-CN" altLang="en-US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，最终得到各典型日的最优运行策略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91640" y="4417695"/>
            <a:ext cx="3053080" cy="3987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配置优化模型的求解流程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05971" y="111648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-2147482143"/>
          <p:cNvGraphicFramePr/>
          <p:nvPr/>
        </p:nvGraphicFramePr>
        <p:xfrm>
          <a:off x="405765" y="986790"/>
          <a:ext cx="5231765" cy="3303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328920" imgH="3333115" progId="Visio.Drawing.15">
                  <p:embed/>
                </p:oleObj>
              </mc:Choice>
              <mc:Fallback>
                <p:oleObj r:id="rId4" imgW="5328920" imgH="3333115" progId="Visio.Drawing.15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5765" y="986790"/>
                        <a:ext cx="5231765" cy="33032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98880" y="831855"/>
            <a:ext cx="8765608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02936" y="297392"/>
            <a:ext cx="6718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SH-CCHP</a:t>
            </a:r>
            <a:r>
              <a:rPr kumimoji="0" lang="zh-CN" altLang="en-US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系统与传统分离系统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4382799" y="305069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35785" y="937260"/>
            <a:ext cx="1448435" cy="30670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SH-CCHP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091430" y="939165"/>
            <a:ext cx="1903095" cy="30670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传统分离系统</a:t>
            </a:r>
          </a:p>
        </p:txBody>
      </p:sp>
      <p:graphicFrame>
        <p:nvGraphicFramePr>
          <p:cNvPr id="4" name="对象 -2147482142"/>
          <p:cNvGraphicFramePr>
            <a:graphicFrameLocks noChangeAspect="1"/>
          </p:cNvGraphicFramePr>
          <p:nvPr/>
        </p:nvGraphicFramePr>
        <p:xfrm>
          <a:off x="324485" y="1330325"/>
          <a:ext cx="4121150" cy="2214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1100435" imgH="5958205" progId="Visio.Drawing.15">
                  <p:embed/>
                </p:oleObj>
              </mc:Choice>
              <mc:Fallback>
                <p:oleObj r:id="rId9" imgW="11100435" imgH="5958205" progId="Visio.Drawing.15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4485" y="1330325"/>
                        <a:ext cx="4121150" cy="22142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2141"/>
          <p:cNvGraphicFramePr>
            <a:graphicFrameLocks noChangeAspect="1"/>
          </p:cNvGraphicFramePr>
          <p:nvPr/>
        </p:nvGraphicFramePr>
        <p:xfrm>
          <a:off x="4373880" y="1625600"/>
          <a:ext cx="288544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5938520" imgH="3274060" progId="Visio.Drawing.15">
                  <p:embed/>
                </p:oleObj>
              </mc:Choice>
              <mc:Fallback>
                <p:oleObj r:id="rId11" imgW="5938520" imgH="3274060" progId="Visio.Drawing.15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73880" y="1625600"/>
                        <a:ext cx="2885440" cy="159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矩形 68"/>
          <p:cNvSpPr/>
          <p:nvPr>
            <p:custDataLst>
              <p:tags r:id="rId1"/>
            </p:custDataLst>
          </p:nvPr>
        </p:nvSpPr>
        <p:spPr>
          <a:xfrm>
            <a:off x="243840" y="1292860"/>
            <a:ext cx="4138295" cy="227774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4428490" y="1297305"/>
            <a:ext cx="2797810" cy="227520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272655" y="1833880"/>
            <a:ext cx="1642745" cy="292163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上层优化目标为相对于传统分离系统的</a:t>
            </a:r>
            <a:r>
              <a:rPr lang="zh-CN" altLang="zh-CN" sz="16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成本节约率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16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一次能源节约率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16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碳减排率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。其中</a:t>
            </a:r>
            <a:r>
              <a:rPr lang="zh-CN" altLang="zh-CN" sz="16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能源管理中心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用于预测并监管所有设备的运行状态。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94880" y="939800"/>
            <a:ext cx="166941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分离系统数学模型</a:t>
            </a:r>
          </a:p>
        </p:txBody>
      </p:sp>
      <p:graphicFrame>
        <p:nvGraphicFramePr>
          <p:cNvPr id="16" name="对象 -2147482140"/>
          <p:cNvGraphicFramePr>
            <a:graphicFrameLocks noChangeAspect="1"/>
          </p:cNvGraphicFramePr>
          <p:nvPr/>
        </p:nvGraphicFramePr>
        <p:xfrm>
          <a:off x="7272338" y="1270635"/>
          <a:ext cx="1691005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688465" imgH="241300" progId="Equation.DSMT4">
                  <p:embed/>
                </p:oleObj>
              </mc:Choice>
              <mc:Fallback>
                <p:oleObj r:id="rId13" imgW="1688465" imgH="241300" progId="Equation.DSMT4">
                  <p:embed/>
                  <p:pic>
                    <p:nvPicPr>
                      <p:cNvPr id="0" name="图片 2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2338" y="1270635"/>
                        <a:ext cx="1691005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-2147482135"/>
          <p:cNvGraphicFramePr>
            <a:graphicFrameLocks noChangeAspect="1"/>
          </p:cNvGraphicFramePr>
          <p:nvPr/>
        </p:nvGraphicFramePr>
        <p:xfrm>
          <a:off x="7537450" y="1556703"/>
          <a:ext cx="118491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193800" imgH="254000" progId="Equation.DSMT4">
                  <p:embed/>
                </p:oleObj>
              </mc:Choice>
              <mc:Fallback>
                <p:oleObj r:id="rId15" imgW="1193800" imgH="2540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37450" y="1556703"/>
                        <a:ext cx="118491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275590" y="3630930"/>
            <a:ext cx="201104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等式约束与不等式约束</a:t>
            </a:r>
          </a:p>
        </p:txBody>
      </p:sp>
      <p:graphicFrame>
        <p:nvGraphicFramePr>
          <p:cNvPr id="23" name="对象 -2147482131"/>
          <p:cNvGraphicFramePr>
            <a:graphicFrameLocks noChangeAspect="1"/>
          </p:cNvGraphicFramePr>
          <p:nvPr/>
        </p:nvGraphicFramePr>
        <p:xfrm>
          <a:off x="5587048" y="3918268"/>
          <a:ext cx="1638935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651000" imgH="254000" progId="Equation.DSMT4">
                  <p:embed/>
                </p:oleObj>
              </mc:Choice>
              <mc:Fallback>
                <p:oleObj r:id="rId17" imgW="1651000" imgH="254000" progId="Equation.DSMT4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87048" y="3918268"/>
                        <a:ext cx="1638935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-2147482129"/>
          <p:cNvGraphicFramePr>
            <a:graphicFrameLocks noChangeAspect="1"/>
          </p:cNvGraphicFramePr>
          <p:nvPr/>
        </p:nvGraphicFramePr>
        <p:xfrm>
          <a:off x="4283710" y="4567873"/>
          <a:ext cx="117348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167765" imgH="254000" progId="Equation.DSMT4">
                  <p:embed/>
                </p:oleObj>
              </mc:Choice>
              <mc:Fallback>
                <p:oleObj r:id="rId19" imgW="1167765" imgH="254000" progId="Equation.DSMT4">
                  <p:embed/>
                  <p:pic>
                    <p:nvPicPr>
                      <p:cNvPr id="0" name="图片 2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83710" y="4567873"/>
                        <a:ext cx="117348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-2147482119"/>
          <p:cNvGraphicFramePr>
            <a:graphicFrameLocks noChangeAspect="1"/>
          </p:cNvGraphicFramePr>
          <p:nvPr/>
        </p:nvGraphicFramePr>
        <p:xfrm>
          <a:off x="1796733" y="4563745"/>
          <a:ext cx="1063625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066800" imgH="241300" progId="Equation.DSMT4">
                  <p:embed/>
                </p:oleObj>
              </mc:Choice>
              <mc:Fallback>
                <p:oleObj r:id="rId21" imgW="1066800" imgH="241300" progId="Equation.DSMT4">
                  <p:embed/>
                  <p:pic>
                    <p:nvPicPr>
                      <p:cNvPr id="0" name="图片 3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96733" y="4563745"/>
                        <a:ext cx="1063625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-2147482115"/>
          <p:cNvGraphicFramePr>
            <a:graphicFrameLocks noChangeAspect="1"/>
          </p:cNvGraphicFramePr>
          <p:nvPr/>
        </p:nvGraphicFramePr>
        <p:xfrm>
          <a:off x="5798503" y="4226243"/>
          <a:ext cx="1345565" cy="534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1333500" imgH="533400" progId="Equation.DSMT4">
                  <p:embed/>
                </p:oleObj>
              </mc:Choice>
              <mc:Fallback>
                <p:oleObj r:id="rId23" imgW="1333500" imgH="533400" progId="Equation.DSMT4">
                  <p:embed/>
                  <p:pic>
                    <p:nvPicPr>
                      <p:cNvPr id="0" name="图片 3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798503" y="4226243"/>
                        <a:ext cx="1345565" cy="5346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-2147482112"/>
          <p:cNvGraphicFramePr>
            <a:graphicFrameLocks noChangeAspect="1"/>
          </p:cNvGraphicFramePr>
          <p:nvPr/>
        </p:nvGraphicFramePr>
        <p:xfrm>
          <a:off x="2915920" y="4264978"/>
          <a:ext cx="130556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1307465" imgH="254000" progId="Equation.DSMT4">
                  <p:embed/>
                </p:oleObj>
              </mc:Choice>
              <mc:Fallback>
                <p:oleObj r:id="rId25" imgW="1307465" imgH="254000" progId="Equation.DSMT4">
                  <p:embed/>
                  <p:pic>
                    <p:nvPicPr>
                      <p:cNvPr id="0" name="图片 3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915920" y="4264978"/>
                        <a:ext cx="130556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-2147482111"/>
          <p:cNvGraphicFramePr>
            <a:graphicFrameLocks noChangeAspect="1"/>
          </p:cNvGraphicFramePr>
          <p:nvPr/>
        </p:nvGraphicFramePr>
        <p:xfrm>
          <a:off x="4283710" y="4263073"/>
          <a:ext cx="126492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1269365" imgH="254000" progId="Equation.DSMT4">
                  <p:embed/>
                </p:oleObj>
              </mc:Choice>
              <mc:Fallback>
                <p:oleObj r:id="rId27" imgW="1269365" imgH="254000" progId="Equation.DSMT4">
                  <p:embed/>
                  <p:pic>
                    <p:nvPicPr>
                      <p:cNvPr id="0" name="图片 3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83710" y="4263073"/>
                        <a:ext cx="126492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-2147482110"/>
          <p:cNvGraphicFramePr>
            <a:graphicFrameLocks noChangeAspect="1"/>
          </p:cNvGraphicFramePr>
          <p:nvPr/>
        </p:nvGraphicFramePr>
        <p:xfrm>
          <a:off x="2915920" y="4586288"/>
          <a:ext cx="118491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1193800" imgH="254000" progId="Equation.DSMT4">
                  <p:embed/>
                </p:oleObj>
              </mc:Choice>
              <mc:Fallback>
                <p:oleObj r:id="rId29" imgW="1193800" imgH="254000" progId="Equation.DSMT4">
                  <p:embed/>
                  <p:pic>
                    <p:nvPicPr>
                      <p:cNvPr id="0" name="图片 3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915920" y="4586288"/>
                        <a:ext cx="118491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-2147482099"/>
          <p:cNvGraphicFramePr>
            <a:graphicFrameLocks noChangeAspect="1"/>
          </p:cNvGraphicFramePr>
          <p:nvPr/>
        </p:nvGraphicFramePr>
        <p:xfrm>
          <a:off x="275590" y="3937318"/>
          <a:ext cx="258191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1" imgW="2578100" imgH="254000" progId="Equation.DSMT4">
                  <p:embed/>
                </p:oleObj>
              </mc:Choice>
              <mc:Fallback>
                <p:oleObj r:id="rId31" imgW="2578100" imgH="254000" progId="Equation.DSMT4">
                  <p:embed/>
                  <p:pic>
                    <p:nvPicPr>
                      <p:cNvPr id="0" name="图片 3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75590" y="3937318"/>
                        <a:ext cx="258191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-2147482098"/>
          <p:cNvGraphicFramePr>
            <a:graphicFrameLocks noChangeAspect="1"/>
          </p:cNvGraphicFramePr>
          <p:nvPr/>
        </p:nvGraphicFramePr>
        <p:xfrm>
          <a:off x="324168" y="4226243"/>
          <a:ext cx="2259965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2247900" imgH="254000" progId="Equation.DSMT4">
                  <p:embed/>
                </p:oleObj>
              </mc:Choice>
              <mc:Fallback>
                <p:oleObj r:id="rId33" imgW="2247900" imgH="254000" progId="Equation.DSMT4">
                  <p:embed/>
                  <p:pic>
                    <p:nvPicPr>
                      <p:cNvPr id="0" name="图片 3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24168" y="4226243"/>
                        <a:ext cx="2259965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-2147482097"/>
          <p:cNvGraphicFramePr>
            <a:graphicFrameLocks noChangeAspect="1"/>
          </p:cNvGraphicFramePr>
          <p:nvPr/>
        </p:nvGraphicFramePr>
        <p:xfrm>
          <a:off x="324168" y="4529138"/>
          <a:ext cx="1345565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5" imgW="1333500" imgH="254000" progId="Equation.DSMT4">
                  <p:embed/>
                </p:oleObj>
              </mc:Choice>
              <mc:Fallback>
                <p:oleObj r:id="rId35" imgW="1333500" imgH="254000" progId="Equation.DSMT4">
                  <p:embed/>
                  <p:pic>
                    <p:nvPicPr>
                      <p:cNvPr id="0" name="图片 40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24168" y="4529138"/>
                        <a:ext cx="1345565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-2147482103"/>
          <p:cNvGraphicFramePr>
            <a:graphicFrameLocks noChangeAspect="1"/>
          </p:cNvGraphicFramePr>
          <p:nvPr/>
        </p:nvGraphicFramePr>
        <p:xfrm>
          <a:off x="3116898" y="3914458"/>
          <a:ext cx="1006475" cy="28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7" imgW="1002665" imgH="266700" progId="Equation.DSMT4">
                  <p:embed/>
                </p:oleObj>
              </mc:Choice>
              <mc:Fallback>
                <p:oleObj r:id="rId37" imgW="1002665" imgH="266700" progId="Equation.DSMT4">
                  <p:embed/>
                  <p:pic>
                    <p:nvPicPr>
                      <p:cNvPr id="0" name="图片 4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116898" y="3914458"/>
                        <a:ext cx="1006475" cy="281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-2147482101"/>
          <p:cNvGraphicFramePr>
            <a:graphicFrameLocks noChangeAspect="1"/>
          </p:cNvGraphicFramePr>
          <p:nvPr/>
        </p:nvGraphicFramePr>
        <p:xfrm>
          <a:off x="4283710" y="3926523"/>
          <a:ext cx="108712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9" imgW="1078865" imgH="254000" progId="Equation.DSMT4">
                  <p:embed/>
                </p:oleObj>
              </mc:Choice>
              <mc:Fallback>
                <p:oleObj r:id="rId39" imgW="1078865" imgH="254000" progId="Equation.DSMT4">
                  <p:embed/>
                  <p:pic>
                    <p:nvPicPr>
                      <p:cNvPr id="0" name="图片 42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283710" y="3926523"/>
                        <a:ext cx="108712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连接符 50"/>
          <p:cNvCxnSpPr/>
          <p:nvPr>
            <p:custDataLst>
              <p:tags r:id="rId3"/>
            </p:custDataLst>
          </p:nvPr>
        </p:nvCxnSpPr>
        <p:spPr bwMode="auto">
          <a:xfrm>
            <a:off x="2887704" y="3828685"/>
            <a:ext cx="0" cy="1047115"/>
          </a:xfrm>
          <a:prstGeom prst="line">
            <a:avLst/>
          </a:prstGeom>
          <a:ln w="31750" cap="rnd">
            <a:solidFill>
              <a:schemeClr val="accent5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>
            <p:custDataLst>
              <p:tags r:id="rId4"/>
            </p:custDataLst>
          </p:nvPr>
        </p:nvCxnSpPr>
        <p:spPr bwMode="auto">
          <a:xfrm>
            <a:off x="4237079" y="3868055"/>
            <a:ext cx="0" cy="1047115"/>
          </a:xfrm>
          <a:prstGeom prst="line">
            <a:avLst/>
          </a:prstGeom>
          <a:ln w="31750" cap="rnd">
            <a:solidFill>
              <a:schemeClr val="accent5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>
            <p:custDataLst>
              <p:tags r:id="rId5"/>
            </p:custDataLst>
          </p:nvPr>
        </p:nvCxnSpPr>
        <p:spPr bwMode="auto">
          <a:xfrm>
            <a:off x="5567404" y="3868690"/>
            <a:ext cx="0" cy="1047115"/>
          </a:xfrm>
          <a:prstGeom prst="line">
            <a:avLst/>
          </a:prstGeom>
          <a:ln w="31750" cap="rnd">
            <a:solidFill>
              <a:schemeClr val="accent5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13158" y="848238"/>
            <a:ext cx="8923337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592" y="152927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62097" y="234387"/>
            <a:ext cx="506651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双层目标函数</a:t>
            </a:r>
            <a:endParaRPr kumimoji="0" lang="zh-CN" altLang="en-US" sz="2400" b="0" i="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808793" y="973382"/>
            <a:ext cx="3312368" cy="33855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目标函数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87868" y="3507396"/>
            <a:ext cx="3312368" cy="3371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补充约束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008755" y="3611880"/>
            <a:ext cx="4822190" cy="132207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迭代过程中，上层以年总成本节约率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ATCSR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、一次能源节约率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APESR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、年总减排率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ATESR</a:t>
            </a:r>
            <a:r>
              <a:rPr lang="zh-CN" altLang="en-US" sz="16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三个目标函数作为目标，为多目标优化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；下层为</a:t>
            </a:r>
            <a:r>
              <a:rPr lang="zh-CN" altLang="en-US" sz="16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混合整数线性规划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，运用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CPLEX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进行求解。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-2147482064"/>
          <p:cNvGraphicFramePr>
            <a:graphicFrameLocks noChangeAspect="1"/>
          </p:cNvGraphicFramePr>
          <p:nvPr/>
        </p:nvGraphicFramePr>
        <p:xfrm>
          <a:off x="541338" y="1346835"/>
          <a:ext cx="3146425" cy="1369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148965" imgH="1371600" progId="Equation.DSMT4">
                  <p:embed/>
                </p:oleObj>
              </mc:Choice>
              <mc:Fallback>
                <p:oleObj r:id="rId8" imgW="3148965" imgH="13716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1338" y="1346835"/>
                        <a:ext cx="3146425" cy="13696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84455" y="1558290"/>
            <a:ext cx="59944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kern="1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上层目标函数</a:t>
            </a:r>
          </a:p>
        </p:txBody>
      </p:sp>
      <p:graphicFrame>
        <p:nvGraphicFramePr>
          <p:cNvPr id="11" name="对象 -2147482046"/>
          <p:cNvGraphicFramePr>
            <a:graphicFrameLocks noChangeAspect="1"/>
          </p:cNvGraphicFramePr>
          <p:nvPr/>
        </p:nvGraphicFramePr>
        <p:xfrm>
          <a:off x="756285" y="2969895"/>
          <a:ext cx="254762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540000" imgH="457200" progId="Equation.DSMT4">
                  <p:embed/>
                </p:oleObj>
              </mc:Choice>
              <mc:Fallback>
                <p:oleObj r:id="rId10" imgW="2540000" imgH="4572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56285" y="2969895"/>
                        <a:ext cx="2547620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07950" y="2707640"/>
            <a:ext cx="59944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kern="1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下层目标函数</a:t>
            </a:r>
          </a:p>
        </p:txBody>
      </p:sp>
      <p:graphicFrame>
        <p:nvGraphicFramePr>
          <p:cNvPr id="13" name="对象 -2147482028"/>
          <p:cNvGraphicFramePr>
            <a:graphicFrameLocks noChangeAspect="1"/>
          </p:cNvGraphicFramePr>
          <p:nvPr/>
        </p:nvGraphicFramePr>
        <p:xfrm>
          <a:off x="2411730" y="3898583"/>
          <a:ext cx="136271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58265" imgH="254000" progId="Equation.DSMT4">
                  <p:embed/>
                </p:oleObj>
              </mc:Choice>
              <mc:Fallback>
                <p:oleObj r:id="rId12" imgW="1358265" imgH="2540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11730" y="3898583"/>
                        <a:ext cx="136271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-2147482027"/>
          <p:cNvGraphicFramePr>
            <a:graphicFrameLocks noChangeAspect="1"/>
          </p:cNvGraphicFramePr>
          <p:nvPr/>
        </p:nvGraphicFramePr>
        <p:xfrm>
          <a:off x="2437765" y="4226878"/>
          <a:ext cx="136271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358265" imgH="254000" progId="Equation.DSMT4">
                  <p:embed/>
                </p:oleObj>
              </mc:Choice>
              <mc:Fallback>
                <p:oleObj r:id="rId14" imgW="1358265" imgH="254000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37765" y="4226878"/>
                        <a:ext cx="136271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-2147482026"/>
          <p:cNvGraphicFramePr>
            <a:graphicFrameLocks noChangeAspect="1"/>
          </p:cNvGraphicFramePr>
          <p:nvPr/>
        </p:nvGraphicFramePr>
        <p:xfrm>
          <a:off x="2485708" y="4562793"/>
          <a:ext cx="1213485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18565" imgH="254000" progId="Equation.DSMT4">
                  <p:embed/>
                </p:oleObj>
              </mc:Choice>
              <mc:Fallback>
                <p:oleObj r:id="rId16" imgW="1218565" imgH="2540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85708" y="4562793"/>
                        <a:ext cx="1213485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-2147482055"/>
          <p:cNvGraphicFramePr>
            <a:graphicFrameLocks noChangeAspect="1"/>
          </p:cNvGraphicFramePr>
          <p:nvPr/>
        </p:nvGraphicFramePr>
        <p:xfrm>
          <a:off x="756603" y="3898583"/>
          <a:ext cx="1104265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104900" imgH="254000" progId="Equation.DSMT4">
                  <p:embed/>
                </p:oleObj>
              </mc:Choice>
              <mc:Fallback>
                <p:oleObj r:id="rId18" imgW="1104900" imgH="2540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56603" y="3898583"/>
                        <a:ext cx="1104265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-2147482051"/>
          <p:cNvGraphicFramePr>
            <a:graphicFrameLocks noChangeAspect="1"/>
          </p:cNvGraphicFramePr>
          <p:nvPr/>
        </p:nvGraphicFramePr>
        <p:xfrm>
          <a:off x="702945" y="4244340"/>
          <a:ext cx="1294130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295400" imgH="241300" progId="Equation.DSMT4">
                  <p:embed/>
                </p:oleObj>
              </mc:Choice>
              <mc:Fallback>
                <p:oleObj r:id="rId20" imgW="1295400" imgH="241300" progId="Equation.DSMT4">
                  <p:embed/>
                  <p:pic>
                    <p:nvPicPr>
                      <p:cNvPr id="0" name="图片 2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02945" y="4244340"/>
                        <a:ext cx="1294130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-2147482049"/>
          <p:cNvGraphicFramePr>
            <a:graphicFrameLocks noChangeAspect="1"/>
          </p:cNvGraphicFramePr>
          <p:nvPr/>
        </p:nvGraphicFramePr>
        <p:xfrm>
          <a:off x="683895" y="4586923"/>
          <a:ext cx="132842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333500" imgH="254000" progId="Equation.DSMT4">
                  <p:embed/>
                </p:oleObj>
              </mc:Choice>
              <mc:Fallback>
                <p:oleObj r:id="rId22" imgW="1333500" imgH="254000" progId="Equation.DSMT4">
                  <p:embed/>
                  <p:pic>
                    <p:nvPicPr>
                      <p:cNvPr id="0" name="图片 23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3895" y="4586923"/>
                        <a:ext cx="1328420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-2147482092"/>
          <p:cNvGraphicFramePr>
            <a:graphicFrameLocks noChangeAspect="1"/>
          </p:cNvGraphicFramePr>
          <p:nvPr/>
        </p:nvGraphicFramePr>
        <p:xfrm>
          <a:off x="3903345" y="1491298"/>
          <a:ext cx="116713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168400" imgH="241300" progId="Equation.DSMT4">
                  <p:embed/>
                </p:oleObj>
              </mc:Choice>
              <mc:Fallback>
                <p:oleObj r:id="rId24" imgW="1168400" imgH="241300" progId="Equation.DSMT4">
                  <p:embed/>
                  <p:pic>
                    <p:nvPicPr>
                      <p:cNvPr id="0" name="图片 25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903345" y="1491298"/>
                        <a:ext cx="116713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-2147482089"/>
          <p:cNvGraphicFramePr>
            <a:graphicFrameLocks noChangeAspect="1"/>
          </p:cNvGraphicFramePr>
          <p:nvPr/>
        </p:nvGraphicFramePr>
        <p:xfrm>
          <a:off x="5544185" y="1318260"/>
          <a:ext cx="124206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1244600" imgH="431800" progId="Equation.DSMT4">
                  <p:embed/>
                </p:oleObj>
              </mc:Choice>
              <mc:Fallback>
                <p:oleObj r:id="rId26" imgW="1244600" imgH="431800" progId="Equation.DSMT4">
                  <p:embed/>
                  <p:pic>
                    <p:nvPicPr>
                      <p:cNvPr id="0" name="图片 26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544185" y="1318260"/>
                        <a:ext cx="124206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-2147482081"/>
          <p:cNvGraphicFramePr>
            <a:graphicFrameLocks noChangeAspect="1"/>
          </p:cNvGraphicFramePr>
          <p:nvPr/>
        </p:nvGraphicFramePr>
        <p:xfrm>
          <a:off x="7164705" y="1325563"/>
          <a:ext cx="966470" cy="448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965200" imgH="444500" progId="Equation.DSMT4">
                  <p:embed/>
                </p:oleObj>
              </mc:Choice>
              <mc:Fallback>
                <p:oleObj r:id="rId28" imgW="965200" imgH="444500" progId="Equation.DSMT4">
                  <p:embed/>
                  <p:pic>
                    <p:nvPicPr>
                      <p:cNvPr id="0" name="图片 27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164705" y="1325563"/>
                        <a:ext cx="966470" cy="4483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-2147482072"/>
          <p:cNvGraphicFramePr>
            <a:graphicFrameLocks noChangeAspect="1"/>
          </p:cNvGraphicFramePr>
          <p:nvPr/>
        </p:nvGraphicFramePr>
        <p:xfrm>
          <a:off x="3729673" y="1794510"/>
          <a:ext cx="274891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2755900" imgH="431800" progId="Equation.DSMT4">
                  <p:embed/>
                </p:oleObj>
              </mc:Choice>
              <mc:Fallback>
                <p:oleObj r:id="rId30" imgW="2755900" imgH="431800" progId="Equation.DSMT4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729673" y="1794510"/>
                        <a:ext cx="2748915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-2147482068"/>
          <p:cNvGraphicFramePr>
            <a:graphicFrameLocks noChangeAspect="1"/>
          </p:cNvGraphicFramePr>
          <p:nvPr/>
        </p:nvGraphicFramePr>
        <p:xfrm>
          <a:off x="6520498" y="1799590"/>
          <a:ext cx="244411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2438400" imgH="431800" progId="Equation.DSMT4">
                  <p:embed/>
                </p:oleObj>
              </mc:Choice>
              <mc:Fallback>
                <p:oleObj r:id="rId32" imgW="2438400" imgH="431800" progId="Equation.DSMT4">
                  <p:embed/>
                  <p:pic>
                    <p:nvPicPr>
                      <p:cNvPr id="0" name="图片 29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520498" y="1799590"/>
                        <a:ext cx="2444115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-2147482059"/>
          <p:cNvGraphicFramePr>
            <a:graphicFrameLocks noChangeAspect="1"/>
          </p:cNvGraphicFramePr>
          <p:nvPr/>
        </p:nvGraphicFramePr>
        <p:xfrm>
          <a:off x="4064635" y="2213610"/>
          <a:ext cx="229489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2298700" imgH="431800" progId="Equation.DSMT4">
                  <p:embed/>
                </p:oleObj>
              </mc:Choice>
              <mc:Fallback>
                <p:oleObj r:id="rId34" imgW="2298700" imgH="431800" progId="Equation.DSMT4">
                  <p:embed/>
                  <p:pic>
                    <p:nvPicPr>
                      <p:cNvPr id="0" name="图片 30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064635" y="2213610"/>
                        <a:ext cx="229489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-2147482058"/>
          <p:cNvGraphicFramePr>
            <a:graphicFrameLocks noChangeAspect="1"/>
          </p:cNvGraphicFramePr>
          <p:nvPr/>
        </p:nvGraphicFramePr>
        <p:xfrm>
          <a:off x="6425565" y="2205355"/>
          <a:ext cx="261112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6" imgW="2616200" imgH="431800" progId="Equation.DSMT4">
                  <p:embed/>
                </p:oleObj>
              </mc:Choice>
              <mc:Fallback>
                <p:oleObj r:id="rId36" imgW="2616200" imgH="431800" progId="Equation.DSMT4">
                  <p:embed/>
                  <p:pic>
                    <p:nvPicPr>
                      <p:cNvPr id="0" name="图片 31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425565" y="2205355"/>
                        <a:ext cx="261112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-2147482039"/>
          <p:cNvGraphicFramePr>
            <a:graphicFrameLocks noChangeAspect="1"/>
          </p:cNvGraphicFramePr>
          <p:nvPr/>
        </p:nvGraphicFramePr>
        <p:xfrm>
          <a:off x="3851593" y="2842578"/>
          <a:ext cx="2259965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8" imgW="2260600" imgH="254000" progId="Equation.DSMT4">
                  <p:embed/>
                </p:oleObj>
              </mc:Choice>
              <mc:Fallback>
                <p:oleObj r:id="rId38" imgW="2260600" imgH="254000" progId="Equation.DSMT4">
                  <p:embed/>
                  <p:pic>
                    <p:nvPicPr>
                      <p:cNvPr id="0" name="图片 32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3851593" y="2842578"/>
                        <a:ext cx="2259965" cy="259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连接符 46"/>
          <p:cNvCxnSpPr/>
          <p:nvPr>
            <p:custDataLst>
              <p:tags r:id="rId1"/>
            </p:custDataLst>
          </p:nvPr>
        </p:nvCxnSpPr>
        <p:spPr bwMode="auto">
          <a:xfrm>
            <a:off x="3723999" y="1397270"/>
            <a:ext cx="0" cy="1944370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49" name="对象 -2147482038"/>
          <p:cNvGraphicFramePr>
            <a:graphicFrameLocks noChangeAspect="1"/>
          </p:cNvGraphicFramePr>
          <p:nvPr/>
        </p:nvGraphicFramePr>
        <p:xfrm>
          <a:off x="4211955" y="3192145"/>
          <a:ext cx="1121410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0" imgW="1117600" imgH="241300" progId="Equation.DSMT4">
                  <p:embed/>
                </p:oleObj>
              </mc:Choice>
              <mc:Fallback>
                <p:oleObj r:id="rId40" imgW="1117600" imgH="241300" progId="Equation.DSMT4">
                  <p:embed/>
                  <p:pic>
                    <p:nvPicPr>
                      <p:cNvPr id="0" name="图片 35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211955" y="3192145"/>
                        <a:ext cx="1121410" cy="247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-2147482037"/>
          <p:cNvGraphicFramePr>
            <a:graphicFrameLocks noChangeAspect="1"/>
          </p:cNvGraphicFramePr>
          <p:nvPr/>
        </p:nvGraphicFramePr>
        <p:xfrm>
          <a:off x="6028373" y="2821623"/>
          <a:ext cx="3007995" cy="74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2" imgW="3009900" imgH="736600" progId="Equation.DSMT4">
                  <p:embed/>
                </p:oleObj>
              </mc:Choice>
              <mc:Fallback>
                <p:oleObj r:id="rId42" imgW="3009900" imgH="736600" progId="Equation.DSMT4">
                  <p:embed/>
                  <p:pic>
                    <p:nvPicPr>
                      <p:cNvPr id="0" name="图片 36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6028373" y="2821623"/>
                        <a:ext cx="3007995" cy="7416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直接连接符 52"/>
          <p:cNvCxnSpPr/>
          <p:nvPr>
            <p:custDataLst>
              <p:tags r:id="rId2"/>
            </p:custDataLst>
          </p:nvPr>
        </p:nvCxnSpPr>
        <p:spPr bwMode="auto">
          <a:xfrm>
            <a:off x="683619" y="1779540"/>
            <a:ext cx="8208645" cy="0"/>
          </a:xfrm>
          <a:prstGeom prst="line">
            <a:avLst/>
          </a:prstGeom>
          <a:ln w="31750" cap="rnd">
            <a:solidFill>
              <a:schemeClr val="accent5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>
            <p:custDataLst>
              <p:tags r:id="rId3"/>
            </p:custDataLst>
          </p:nvPr>
        </p:nvCxnSpPr>
        <p:spPr bwMode="auto">
          <a:xfrm>
            <a:off x="702669" y="2250710"/>
            <a:ext cx="8208645" cy="0"/>
          </a:xfrm>
          <a:prstGeom prst="line">
            <a:avLst/>
          </a:prstGeom>
          <a:ln w="31750" cap="rnd">
            <a:solidFill>
              <a:schemeClr val="accent5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>
            <p:custDataLst>
              <p:tags r:id="rId4"/>
            </p:custDataLst>
          </p:nvPr>
        </p:nvCxnSpPr>
        <p:spPr bwMode="auto">
          <a:xfrm>
            <a:off x="702669" y="2672350"/>
            <a:ext cx="8208645" cy="0"/>
          </a:xfrm>
          <a:prstGeom prst="line">
            <a:avLst/>
          </a:prstGeom>
          <a:ln w="31750" cap="rnd">
            <a:solidFill>
              <a:schemeClr val="accent5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02936" y="227542"/>
            <a:ext cx="671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改进的NSGA-II算法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425479" y="349138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4139952" y="151587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0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-2147481930"/>
          <p:cNvGraphicFramePr>
            <a:graphicFrameLocks noChangeAspect="1"/>
          </p:cNvGraphicFramePr>
          <p:nvPr/>
        </p:nvGraphicFramePr>
        <p:xfrm>
          <a:off x="509270" y="915035"/>
          <a:ext cx="3568065" cy="2455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0353675" imgH="7973695" progId="Visio.Drawing.15">
                  <p:embed/>
                </p:oleObj>
              </mc:Choice>
              <mc:Fallback>
                <p:oleObj r:id="rId7" imgW="10353675" imgH="797369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rcRect b="9792"/>
                      <a:stretch>
                        <a:fillRect/>
                      </a:stretch>
                    </p:blipFill>
                    <p:spPr>
                      <a:xfrm>
                        <a:off x="509270" y="915035"/>
                        <a:ext cx="3568065" cy="24555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283710" y="901065"/>
            <a:ext cx="4371340" cy="177355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15000"/>
              </a:lnSpc>
            </a:pPr>
            <a:r>
              <a:rPr lang="zh-CN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目标函数复杂，迭代过程耦合，寻优过程相互依赖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。提出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佳点集初始化种群</a:t>
            </a:r>
            <a:r>
              <a:rPr lang="zh-CN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，避免随机生成种群中算法陷入局部最优，同时提出了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自适应交叉算子</a:t>
            </a:r>
            <a:r>
              <a:rPr lang="zh-CN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自适应变异算子</a:t>
            </a:r>
            <a:r>
              <a:rPr lang="zh-CN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，有效避免了优良解破坏与收敛过早的问题，增强了算法的局部寻优能力。</a:t>
            </a:r>
          </a:p>
          <a:p>
            <a:pPr indent="0" algn="just" fontAlgn="auto">
              <a:lnSpc>
                <a:spcPct val="115000"/>
              </a:lnSpc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决策阶段，采用基于</a:t>
            </a:r>
            <a:r>
              <a:rPr lang="en-US" altLang="zh-CN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TOPSIS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与香农熵结合的多准则决策理论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，其中香农熵方法被应用于为优化模型的每个目标分配权重，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TOPSIS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根据帕累托解集中每个解的相对接近度，通过与正理想解和负理想解的距离，选取相对接近度最大的解作为最优解。</a:t>
            </a:r>
          </a:p>
        </p:txBody>
      </p:sp>
      <p:pic>
        <p:nvPicPr>
          <p:cNvPr id="11" name="图片 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0865" y="3391535"/>
            <a:ext cx="34448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4284345" y="2770505"/>
            <a:ext cx="4378960" cy="216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88085" y="4658995"/>
            <a:ext cx="233997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佳点集初始化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个个体示意图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2916555" y="2310765"/>
            <a:ext cx="128651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400" b="0" i="0" kern="1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改进的</a:t>
            </a:r>
          </a:p>
          <a:p>
            <a:pPr algn="ctr"/>
            <a:r>
              <a:rPr kumimoji="0" lang="en-US" altLang="zh-CN" sz="1400" b="0" i="0" kern="1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NSGA-II</a:t>
            </a:r>
            <a:r>
              <a:rPr kumimoji="0" lang="zh-CN" altLang="en-US" sz="1400" b="0" i="0" kern="1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425450" y="908050"/>
            <a:ext cx="3749675" cy="24638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对象 -2147481917"/>
          <p:cNvGraphicFramePr>
            <a:graphicFrameLocks noChangeAspect="1"/>
          </p:cNvGraphicFramePr>
          <p:nvPr/>
        </p:nvGraphicFramePr>
        <p:xfrm>
          <a:off x="4331970" y="2785110"/>
          <a:ext cx="1917065" cy="1853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847590" imgH="4690110" progId="Visio.Drawing.15">
                  <p:embed/>
                </p:oleObj>
              </mc:Choice>
              <mc:Fallback>
                <p:oleObj r:id="rId10" imgW="4847590" imgH="4690110" progId="Visio.Drawing.15">
                  <p:embed/>
                  <p:pic>
                    <p:nvPicPr>
                      <p:cNvPr id="0" name="图片 2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31970" y="2785110"/>
                        <a:ext cx="1917065" cy="18535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425450" y="3435350"/>
            <a:ext cx="3749675" cy="151384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对象 -2147481929"/>
          <p:cNvGraphicFramePr>
            <a:graphicFrameLocks noChangeAspect="1"/>
          </p:cNvGraphicFramePr>
          <p:nvPr/>
        </p:nvGraphicFramePr>
        <p:xfrm>
          <a:off x="6351270" y="2773045"/>
          <a:ext cx="653415" cy="34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28065" imgH="546100" progId="Equation.DSMT4">
                  <p:embed/>
                </p:oleObj>
              </mc:Choice>
              <mc:Fallback>
                <p:oleObj r:id="rId12" imgW="1028065" imgH="546100" progId="Equation.DSMT4">
                  <p:embed/>
                  <p:pic>
                    <p:nvPicPr>
                      <p:cNvPr id="0" name="图片 4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51270" y="2773045"/>
                        <a:ext cx="653415" cy="340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-2147481923"/>
          <p:cNvGraphicFramePr>
            <a:graphicFrameLocks noChangeAspect="1"/>
          </p:cNvGraphicFramePr>
          <p:nvPr/>
        </p:nvGraphicFramePr>
        <p:xfrm>
          <a:off x="7080250" y="2791460"/>
          <a:ext cx="1512570" cy="322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286000" imgH="495300" progId="Equation.DSMT4">
                  <p:embed/>
                </p:oleObj>
              </mc:Choice>
              <mc:Fallback>
                <p:oleObj r:id="rId14" imgW="2286000" imgH="495300" progId="Equation.DSMT4">
                  <p:embed/>
                  <p:pic>
                    <p:nvPicPr>
                      <p:cNvPr id="0" name="图片 4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080250" y="2791460"/>
                        <a:ext cx="1512570" cy="322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-2147481808"/>
          <p:cNvGraphicFramePr>
            <a:graphicFrameLocks noChangeAspect="1"/>
          </p:cNvGraphicFramePr>
          <p:nvPr/>
        </p:nvGraphicFramePr>
        <p:xfrm>
          <a:off x="6489065" y="3114040"/>
          <a:ext cx="734695" cy="361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66800" imgH="520700" progId="Equation.DSMT4">
                  <p:embed/>
                </p:oleObj>
              </mc:Choice>
              <mc:Fallback>
                <p:oleObj r:id="rId16" imgW="1066800" imgH="520700" progId="Equation.DSMT4">
                  <p:embed/>
                  <p:pic>
                    <p:nvPicPr>
                      <p:cNvPr id="0" name="图片 4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489065" y="3114040"/>
                        <a:ext cx="734695" cy="3613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-2147481916"/>
          <p:cNvGraphicFramePr>
            <a:graphicFrameLocks noChangeAspect="1"/>
          </p:cNvGraphicFramePr>
          <p:nvPr/>
        </p:nvGraphicFramePr>
        <p:xfrm>
          <a:off x="7503795" y="3180080"/>
          <a:ext cx="617855" cy="229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685800" imgH="241300" progId="Equation.DSMT4">
                  <p:embed/>
                </p:oleObj>
              </mc:Choice>
              <mc:Fallback>
                <p:oleObj r:id="rId18" imgW="685800" imgH="241300" progId="Equation.DSMT4">
                  <p:embed/>
                  <p:pic>
                    <p:nvPicPr>
                      <p:cNvPr id="0" name="图片 4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503795" y="3180080"/>
                        <a:ext cx="617855" cy="229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-2147481915"/>
          <p:cNvGraphicFramePr>
            <a:graphicFrameLocks noChangeAspect="1"/>
          </p:cNvGraphicFramePr>
          <p:nvPr/>
        </p:nvGraphicFramePr>
        <p:xfrm>
          <a:off x="6345555" y="3498850"/>
          <a:ext cx="2201545" cy="240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578100" imgH="279400" progId="Equation.DSMT4">
                  <p:embed/>
                </p:oleObj>
              </mc:Choice>
              <mc:Fallback>
                <p:oleObj r:id="rId20" imgW="2578100" imgH="279400" progId="Equation.DSMT4">
                  <p:embed/>
                  <p:pic>
                    <p:nvPicPr>
                      <p:cNvPr id="0" name="图片 4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345555" y="3498850"/>
                        <a:ext cx="2201545" cy="240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-2147481914"/>
          <p:cNvGraphicFramePr>
            <a:graphicFrameLocks noChangeAspect="1"/>
          </p:cNvGraphicFramePr>
          <p:nvPr/>
        </p:nvGraphicFramePr>
        <p:xfrm>
          <a:off x="6405245" y="3827145"/>
          <a:ext cx="2153920" cy="23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590800" imgH="279400" progId="Equation.DSMT4">
                  <p:embed/>
                </p:oleObj>
              </mc:Choice>
              <mc:Fallback>
                <p:oleObj r:id="rId22" imgW="2590800" imgH="279400" progId="Equation.DSMT4">
                  <p:embed/>
                  <p:pic>
                    <p:nvPicPr>
                      <p:cNvPr id="0" name="图片 4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405245" y="3827145"/>
                        <a:ext cx="2153920" cy="2336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-2147481909"/>
          <p:cNvGraphicFramePr>
            <a:graphicFrameLocks noChangeAspect="1"/>
          </p:cNvGraphicFramePr>
          <p:nvPr/>
        </p:nvGraphicFramePr>
        <p:xfrm>
          <a:off x="6351270" y="4096385"/>
          <a:ext cx="902335" cy="356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282700" imgH="508000" progId="Equation.DSMT4">
                  <p:embed/>
                </p:oleObj>
              </mc:Choice>
              <mc:Fallback>
                <p:oleObj r:id="rId24" imgW="1282700" imgH="508000" progId="Equation.DSMT4">
                  <p:embed/>
                  <p:pic>
                    <p:nvPicPr>
                      <p:cNvPr id="0" name="图片 5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351270" y="4096385"/>
                        <a:ext cx="902335" cy="356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-2147481908"/>
          <p:cNvGraphicFramePr>
            <a:graphicFrameLocks noChangeAspect="1"/>
          </p:cNvGraphicFramePr>
          <p:nvPr/>
        </p:nvGraphicFramePr>
        <p:xfrm>
          <a:off x="7503795" y="4083685"/>
          <a:ext cx="942975" cy="372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1282700" imgH="508000" progId="Equation.DSMT4">
                  <p:embed/>
                </p:oleObj>
              </mc:Choice>
              <mc:Fallback>
                <p:oleObj r:id="rId26" imgW="1282700" imgH="508000" progId="Equation.DSMT4">
                  <p:embed/>
                  <p:pic>
                    <p:nvPicPr>
                      <p:cNvPr id="0" name="图片 5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503795" y="4083685"/>
                        <a:ext cx="942975" cy="3727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-2147481904"/>
          <p:cNvGraphicFramePr>
            <a:graphicFrameLocks noChangeAspect="1"/>
          </p:cNvGraphicFramePr>
          <p:nvPr/>
        </p:nvGraphicFramePr>
        <p:xfrm>
          <a:off x="6999605" y="4363085"/>
          <a:ext cx="662940" cy="35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876300" imgH="457200" progId="Equation.DSMT4">
                  <p:embed/>
                </p:oleObj>
              </mc:Choice>
              <mc:Fallback>
                <p:oleObj r:id="rId28" imgW="876300" imgH="457200" progId="Equation.DSMT4">
                  <p:embed/>
                  <p:pic>
                    <p:nvPicPr>
                      <p:cNvPr id="0" name="图片 5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999605" y="4363085"/>
                        <a:ext cx="662940" cy="358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53"/>
          <p:cNvSpPr txBox="1"/>
          <p:nvPr/>
        </p:nvSpPr>
        <p:spPr>
          <a:xfrm>
            <a:off x="4404995" y="4640580"/>
            <a:ext cx="443039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400" b="0" i="0" kern="1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香农熵与</a:t>
            </a:r>
            <a:r>
              <a:rPr kumimoji="0" lang="en-US" altLang="zh-CN" sz="1400" b="0" i="0" kern="1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TOPSIS</a:t>
            </a:r>
            <a:r>
              <a:rPr kumimoji="0" lang="zh-CN" altLang="en-US" sz="1400" b="0" i="0" kern="1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结合的多准则决策方法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01448"/>
            <a:ext cx="8640960" cy="421778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02936" y="297392"/>
            <a:ext cx="6718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算法性能测试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4313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699385" y="925195"/>
            <a:ext cx="1432560" cy="2755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算法性能测试函数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0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4164965" y="902970"/>
            <a:ext cx="4526915" cy="10579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选取五个测试函数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ZDT1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ZDT2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ZDT3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ZDT4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ZDT6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进行验证约束分别为：</a:t>
            </a:r>
          </a:p>
        </p:txBody>
      </p:sp>
      <p:graphicFrame>
        <p:nvGraphicFramePr>
          <p:cNvPr id="9" name="对象 -2147481903"/>
          <p:cNvGraphicFramePr>
            <a:graphicFrameLocks noChangeAspect="1"/>
          </p:cNvGraphicFramePr>
          <p:nvPr/>
        </p:nvGraphicFramePr>
        <p:xfrm>
          <a:off x="398145" y="850900"/>
          <a:ext cx="2449830" cy="845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438400" imgH="838200" progId="Equation.DSMT4">
                  <p:embed/>
                </p:oleObj>
              </mc:Choice>
              <mc:Fallback>
                <p:oleObj r:id="rId8" imgW="2438400" imgH="838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8145" y="850900"/>
                        <a:ext cx="2449830" cy="8451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-2147481900"/>
          <p:cNvGraphicFramePr>
            <a:graphicFrameLocks noChangeAspect="1"/>
          </p:cNvGraphicFramePr>
          <p:nvPr/>
        </p:nvGraphicFramePr>
        <p:xfrm>
          <a:off x="398145" y="1668463"/>
          <a:ext cx="2513330" cy="862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527300" imgH="863600" progId="Equation.DSMT4">
                  <p:embed/>
                </p:oleObj>
              </mc:Choice>
              <mc:Fallback>
                <p:oleObj r:id="rId10" imgW="2527300" imgH="8636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8145" y="1668463"/>
                        <a:ext cx="2513330" cy="862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-2147481897"/>
          <p:cNvGraphicFramePr>
            <a:graphicFrameLocks noChangeAspect="1"/>
          </p:cNvGraphicFramePr>
          <p:nvPr/>
        </p:nvGraphicFramePr>
        <p:xfrm>
          <a:off x="398145" y="2510790"/>
          <a:ext cx="3243580" cy="845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251200" imgH="838200" progId="Equation.DSMT4">
                  <p:embed/>
                </p:oleObj>
              </mc:Choice>
              <mc:Fallback>
                <p:oleObj r:id="rId12" imgW="3251200" imgH="8382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8145" y="2510790"/>
                        <a:ext cx="3243580" cy="8451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-2147481806"/>
          <p:cNvGraphicFramePr>
            <a:graphicFrameLocks noChangeAspect="1"/>
          </p:cNvGraphicFramePr>
          <p:nvPr/>
        </p:nvGraphicFramePr>
        <p:xfrm>
          <a:off x="397828" y="3311208"/>
          <a:ext cx="3174365" cy="862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175000" imgH="863600" progId="Equation.DSMT4">
                  <p:embed/>
                </p:oleObj>
              </mc:Choice>
              <mc:Fallback>
                <p:oleObj r:id="rId14" imgW="3175000" imgH="8636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7828" y="3311208"/>
                        <a:ext cx="3174365" cy="862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-2147481890"/>
          <p:cNvGraphicFramePr>
            <a:graphicFrameLocks noChangeAspect="1"/>
          </p:cNvGraphicFramePr>
          <p:nvPr/>
        </p:nvGraphicFramePr>
        <p:xfrm>
          <a:off x="397828" y="4155123"/>
          <a:ext cx="3174365" cy="805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175000" imgH="800100" progId="Equation.DSMT4">
                  <p:embed/>
                </p:oleObj>
              </mc:Choice>
              <mc:Fallback>
                <p:oleObj r:id="rId16" imgW="3175000" imgH="800100" progId="Equation.DSMT4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97828" y="4155123"/>
                        <a:ext cx="3174365" cy="8051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连接符 28"/>
          <p:cNvCxnSpPr/>
          <p:nvPr>
            <p:custDataLst>
              <p:tags r:id="rId1"/>
            </p:custDataLst>
          </p:nvPr>
        </p:nvCxnSpPr>
        <p:spPr bwMode="auto">
          <a:xfrm flipH="1">
            <a:off x="4061819" y="1275350"/>
            <a:ext cx="5715" cy="3672205"/>
          </a:xfrm>
          <a:prstGeom prst="line">
            <a:avLst/>
          </a:prstGeom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4643755" y="1418908"/>
          <a:ext cx="51181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508000" imgH="203200" progId="Equation.DSMT4">
                  <p:embed/>
                </p:oleObj>
              </mc:Choice>
              <mc:Fallback>
                <p:oleObj r:id="rId18" imgW="508000" imgH="203200" progId="Equation.DSMT4">
                  <p:embed/>
                  <p:pic>
                    <p:nvPicPr>
                      <p:cNvPr id="0" name="图片 3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643755" y="1418908"/>
                        <a:ext cx="51181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4689475" y="1701483"/>
          <a:ext cx="466090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457200" imgH="165100" progId="Equation.DSMT4">
                  <p:embed/>
                </p:oleObj>
              </mc:Choice>
              <mc:Fallback>
                <p:oleObj r:id="rId20" imgW="457200" imgH="165100" progId="Equation.DSMT4">
                  <p:embed/>
                  <p:pic>
                    <p:nvPicPr>
                      <p:cNvPr id="0" name="图片 4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89475" y="1701483"/>
                        <a:ext cx="466090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-2147481899"/>
          <p:cNvGraphicFramePr>
            <a:graphicFrameLocks noChangeAspect="1"/>
          </p:cNvGraphicFramePr>
          <p:nvPr/>
        </p:nvGraphicFramePr>
        <p:xfrm>
          <a:off x="5435600" y="1418908"/>
          <a:ext cx="51181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508000" imgH="203200" progId="Equation.DSMT4">
                  <p:embed/>
                </p:oleObj>
              </mc:Choice>
              <mc:Fallback>
                <p:oleObj r:id="rId22" imgW="508000" imgH="203200" progId="Equation.DSMT4">
                  <p:embed/>
                  <p:pic>
                    <p:nvPicPr>
                      <p:cNvPr id="0" name="图片 4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35600" y="1418908"/>
                        <a:ext cx="51181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-2147481898"/>
          <p:cNvGraphicFramePr>
            <a:graphicFrameLocks noChangeAspect="1"/>
          </p:cNvGraphicFramePr>
          <p:nvPr/>
        </p:nvGraphicFramePr>
        <p:xfrm>
          <a:off x="5453380" y="1706563"/>
          <a:ext cx="466090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457200" imgH="165100" progId="Equation.DSMT4">
                  <p:embed/>
                </p:oleObj>
              </mc:Choice>
              <mc:Fallback>
                <p:oleObj r:id="rId24" imgW="457200" imgH="165100" progId="Equation.DSMT4">
                  <p:embed/>
                  <p:pic>
                    <p:nvPicPr>
                      <p:cNvPr id="0" name="图片 4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453380" y="1706563"/>
                        <a:ext cx="466090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-2147481896"/>
          <p:cNvGraphicFramePr>
            <a:graphicFrameLocks noChangeAspect="1"/>
          </p:cNvGraphicFramePr>
          <p:nvPr/>
        </p:nvGraphicFramePr>
        <p:xfrm>
          <a:off x="6155690" y="1418908"/>
          <a:ext cx="51181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508000" imgH="203200" progId="Equation.DSMT4">
                  <p:embed/>
                </p:oleObj>
              </mc:Choice>
              <mc:Fallback>
                <p:oleObj r:id="rId26" imgW="508000" imgH="203200" progId="Equation.DSMT4">
                  <p:embed/>
                  <p:pic>
                    <p:nvPicPr>
                      <p:cNvPr id="0" name="图片 52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155690" y="1418908"/>
                        <a:ext cx="51181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-2147481895"/>
          <p:cNvGraphicFramePr>
            <a:graphicFrameLocks noChangeAspect="1"/>
          </p:cNvGraphicFramePr>
          <p:nvPr/>
        </p:nvGraphicFramePr>
        <p:xfrm>
          <a:off x="6184900" y="1706563"/>
          <a:ext cx="466090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457200" imgH="165100" progId="Equation.DSMT4">
                  <p:embed/>
                </p:oleObj>
              </mc:Choice>
              <mc:Fallback>
                <p:oleObj r:id="rId28" imgW="457200" imgH="165100" progId="Equation.DSMT4">
                  <p:embed/>
                  <p:pic>
                    <p:nvPicPr>
                      <p:cNvPr id="0" name="图片 53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184900" y="1706563"/>
                        <a:ext cx="466090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-2147481893"/>
          <p:cNvGraphicFramePr>
            <a:graphicFrameLocks noChangeAspect="1"/>
          </p:cNvGraphicFramePr>
          <p:nvPr/>
        </p:nvGraphicFramePr>
        <p:xfrm>
          <a:off x="6927850" y="1200468"/>
          <a:ext cx="51181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508000" imgH="203200" progId="Equation.DSMT4">
                  <p:embed/>
                </p:oleObj>
              </mc:Choice>
              <mc:Fallback>
                <p:oleObj r:id="rId30" imgW="508000" imgH="203200" progId="Equation.DSMT4">
                  <p:embed/>
                  <p:pic>
                    <p:nvPicPr>
                      <p:cNvPr id="0" name="图片 5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927850" y="1200468"/>
                        <a:ext cx="51181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-2147481892"/>
          <p:cNvGraphicFramePr>
            <a:graphicFrameLocks noChangeAspect="1"/>
          </p:cNvGraphicFramePr>
          <p:nvPr/>
        </p:nvGraphicFramePr>
        <p:xfrm>
          <a:off x="6875463" y="1418908"/>
          <a:ext cx="615315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609600" imgH="203200" progId="Equation.DSMT4">
                  <p:embed/>
                </p:oleObj>
              </mc:Choice>
              <mc:Fallback>
                <p:oleObj r:id="rId32" imgW="609600" imgH="203200" progId="Equation.DSMT4">
                  <p:embed/>
                  <p:pic>
                    <p:nvPicPr>
                      <p:cNvPr id="0" name="图片 56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875463" y="1418908"/>
                        <a:ext cx="615315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-2147481891"/>
          <p:cNvGraphicFramePr>
            <a:graphicFrameLocks noChangeAspect="1"/>
          </p:cNvGraphicFramePr>
          <p:nvPr/>
        </p:nvGraphicFramePr>
        <p:xfrm>
          <a:off x="6947853" y="1695768"/>
          <a:ext cx="483235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482600" imgH="165100" progId="Equation.DSMT4">
                  <p:embed/>
                </p:oleObj>
              </mc:Choice>
              <mc:Fallback>
                <p:oleObj r:id="rId34" imgW="482600" imgH="165100" progId="Equation.DSMT4">
                  <p:embed/>
                  <p:pic>
                    <p:nvPicPr>
                      <p:cNvPr id="0" name="图片 57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947853" y="1695768"/>
                        <a:ext cx="483235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-2147481889"/>
          <p:cNvGraphicFramePr>
            <a:graphicFrameLocks noChangeAspect="1"/>
          </p:cNvGraphicFramePr>
          <p:nvPr/>
        </p:nvGraphicFramePr>
        <p:xfrm>
          <a:off x="7811770" y="1407478"/>
          <a:ext cx="51181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6" imgW="508000" imgH="203200" progId="Equation.DSMT4">
                  <p:embed/>
                </p:oleObj>
              </mc:Choice>
              <mc:Fallback>
                <p:oleObj r:id="rId36" imgW="508000" imgH="203200" progId="Equation.DSMT4">
                  <p:embed/>
                  <p:pic>
                    <p:nvPicPr>
                      <p:cNvPr id="0" name="图片 58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7811770" y="1407478"/>
                        <a:ext cx="51181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-2147481888"/>
          <p:cNvGraphicFramePr>
            <a:graphicFrameLocks noChangeAspect="1"/>
          </p:cNvGraphicFramePr>
          <p:nvPr/>
        </p:nvGraphicFramePr>
        <p:xfrm>
          <a:off x="7857490" y="1695768"/>
          <a:ext cx="466090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8" imgW="457200" imgH="165100" progId="Equation.DSMT4">
                  <p:embed/>
                </p:oleObj>
              </mc:Choice>
              <mc:Fallback>
                <p:oleObj r:id="rId38" imgW="457200" imgH="165100" progId="Equation.DSMT4">
                  <p:embed/>
                  <p:pic>
                    <p:nvPicPr>
                      <p:cNvPr id="0" name="图片 59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857490" y="1695768"/>
                        <a:ext cx="466090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100195" y="1960880"/>
            <a:ext cx="1097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600" b="0" i="0" kern="1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指标评判</a:t>
            </a:r>
          </a:p>
        </p:txBody>
      </p:sp>
      <p:graphicFrame>
        <p:nvGraphicFramePr>
          <p:cNvPr id="62" name="对象 -2147481818"/>
          <p:cNvGraphicFramePr>
            <a:graphicFrameLocks noChangeAspect="1"/>
          </p:cNvGraphicFramePr>
          <p:nvPr/>
        </p:nvGraphicFramePr>
        <p:xfrm>
          <a:off x="4500245" y="2282508"/>
          <a:ext cx="989330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0" imgW="989965" imgH="520700" progId="Equation.DSMT4">
                  <p:embed/>
                </p:oleObj>
              </mc:Choice>
              <mc:Fallback>
                <p:oleObj r:id="rId40" imgW="989965" imgH="520700" progId="Equation.DSMT4">
                  <p:embed/>
                  <p:pic>
                    <p:nvPicPr>
                      <p:cNvPr id="0" name="图片 61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500245" y="2282508"/>
                        <a:ext cx="989330" cy="5232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-2147481814"/>
          <p:cNvGraphicFramePr>
            <a:graphicFrameLocks noChangeAspect="1"/>
          </p:cNvGraphicFramePr>
          <p:nvPr/>
        </p:nvGraphicFramePr>
        <p:xfrm>
          <a:off x="5919470" y="2252345"/>
          <a:ext cx="1403350" cy="615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2" imgW="1409700" imgH="609600" progId="Equation.DSMT4">
                  <p:embed/>
                </p:oleObj>
              </mc:Choice>
              <mc:Fallback>
                <p:oleObj r:id="rId42" imgW="1409700" imgH="609600" progId="Equation.DSMT4">
                  <p:embed/>
                  <p:pic>
                    <p:nvPicPr>
                      <p:cNvPr id="0" name="图片 62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919470" y="2252345"/>
                        <a:ext cx="1403350" cy="6153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矩形 65"/>
          <p:cNvSpPr/>
          <p:nvPr>
            <p:custDataLst>
              <p:tags r:id="rId2"/>
            </p:custDataLst>
          </p:nvPr>
        </p:nvSpPr>
        <p:spPr>
          <a:xfrm>
            <a:off x="4167505" y="2867660"/>
            <a:ext cx="4601210" cy="58547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4211955" y="2912745"/>
            <a:ext cx="1506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GD为</a:t>
            </a:r>
            <a:r>
              <a:rPr lang="en-US" altLang="zh-CN" sz="1400">
                <a:solidFill>
                  <a:srgbClr val="C00000"/>
                </a:solidFill>
              </a:rPr>
              <a:t>距离指标</a:t>
            </a:r>
            <a:endParaRPr lang="zh-CN" altLang="en-US" sz="1400"/>
          </a:p>
          <a:p>
            <a:r>
              <a:rPr lang="en-US" altLang="zh-CN" sz="1400"/>
              <a:t>SP</a:t>
            </a:r>
            <a:r>
              <a:rPr lang="zh-CN" altLang="en-US" sz="1400"/>
              <a:t>为</a:t>
            </a:r>
            <a:r>
              <a:rPr lang="zh-CN" altLang="en-US" sz="1400">
                <a:solidFill>
                  <a:srgbClr val="C00000"/>
                </a:solidFill>
              </a:rPr>
              <a:t>分布性指标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5955665" y="2931160"/>
            <a:ext cx="2879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收敛速度分为</a:t>
            </a:r>
            <a:r>
              <a:rPr lang="zh-CN" altLang="en-US" sz="1400">
                <a:solidFill>
                  <a:srgbClr val="C00000"/>
                </a:solidFill>
              </a:rPr>
              <a:t>距离指标收敛速度</a:t>
            </a:r>
            <a:r>
              <a:rPr lang="zh-CN" altLang="en-US" sz="1400"/>
              <a:t>与</a:t>
            </a:r>
          </a:p>
          <a:p>
            <a:r>
              <a:rPr lang="zh-CN" altLang="en-US" sz="1400">
                <a:solidFill>
                  <a:srgbClr val="C00000"/>
                </a:solidFill>
              </a:rPr>
              <a:t>分布性指标收敛速度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7596505" y="2355215"/>
            <a:ext cx="1170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收敛速度</a:t>
            </a:r>
          </a:p>
        </p:txBody>
      </p:sp>
      <p:graphicFrame>
        <p:nvGraphicFramePr>
          <p:cNvPr id="70" name="表格 69"/>
          <p:cNvGraphicFramePr/>
          <p:nvPr>
            <p:custDataLst>
              <p:tags r:id="rId3"/>
            </p:custDataLst>
          </p:nvPr>
        </p:nvGraphicFramePr>
        <p:xfrm>
          <a:off x="4166870" y="3522345"/>
          <a:ext cx="4599940" cy="1397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08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参数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传统</a:t>
                      </a:r>
                      <a:r>
                        <a:rPr lang="en-US" altLang="zh-CN" sz="1100"/>
                        <a:t>NSGA-II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改进的</a:t>
                      </a:r>
                      <a:r>
                        <a:rPr lang="en-US" altLang="zh-CN" sz="1100"/>
                        <a:t>NSGA-II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种群大小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200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200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最大迭代次数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500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500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交叉概率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0.9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         =0.1</a:t>
                      </a:r>
                      <a:r>
                        <a:rPr lang="zh-CN" sz="1200"/>
                        <a:t>，</a:t>
                      </a:r>
                      <a:r>
                        <a:rPr lang="en-US" altLang="zh-CN" sz="1200"/>
                        <a:t>           =0.9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变异概率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0.1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sym typeface="+mn-ea"/>
                        </a:rPr>
                        <a:t>         </a:t>
                      </a:r>
                      <a:r>
                        <a:rPr lang="en-US" altLang="zh-CN" sz="1200"/>
                        <a:t>=0.02</a:t>
                      </a:r>
                      <a:r>
                        <a:rPr lang="zh-CN" sz="1200">
                          <a:sym typeface="+mn-ea"/>
                        </a:rPr>
                        <a:t>，</a:t>
                      </a:r>
                      <a:r>
                        <a:rPr lang="en-US" altLang="zh-CN" sz="1200">
                          <a:sym typeface="+mn-ea"/>
                        </a:rPr>
                        <a:t>           </a:t>
                      </a:r>
                      <a:r>
                        <a:rPr lang="en-US" altLang="zh-CN" sz="1200"/>
                        <a:t>=0.1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74" name="直接连接符 73"/>
          <p:cNvCxnSpPr/>
          <p:nvPr>
            <p:custDataLst>
              <p:tags r:id="rId4"/>
            </p:custDataLst>
          </p:nvPr>
        </p:nvCxnSpPr>
        <p:spPr bwMode="auto">
          <a:xfrm>
            <a:off x="5723614" y="2930795"/>
            <a:ext cx="0" cy="504190"/>
          </a:xfrm>
          <a:prstGeom prst="line">
            <a:avLst/>
          </a:prstGeom>
          <a:ln w="31750" cap="rnd">
            <a:solidFill>
              <a:schemeClr val="accent5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1" name="对象 -2147481872"/>
          <p:cNvGraphicFramePr>
            <a:graphicFrameLocks noChangeAspect="1"/>
          </p:cNvGraphicFramePr>
          <p:nvPr/>
        </p:nvGraphicFramePr>
        <p:xfrm>
          <a:off x="6876415" y="4658678"/>
          <a:ext cx="40259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4" imgW="405765" imgH="203200" progId="Equation.DSMT4">
                  <p:embed/>
                </p:oleObj>
              </mc:Choice>
              <mc:Fallback>
                <p:oleObj r:id="rId44" imgW="405765" imgH="203200" progId="Equation.DSMT4">
                  <p:embed/>
                  <p:pic>
                    <p:nvPicPr>
                      <p:cNvPr id="0" name="图片 69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6876415" y="4658678"/>
                        <a:ext cx="40259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-2147481871"/>
          <p:cNvGraphicFramePr>
            <a:graphicFrameLocks noChangeAspect="1"/>
          </p:cNvGraphicFramePr>
          <p:nvPr/>
        </p:nvGraphicFramePr>
        <p:xfrm>
          <a:off x="7740650" y="4658678"/>
          <a:ext cx="39116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6" imgW="393700" imgH="203200" progId="Equation.DSMT4">
                  <p:embed/>
                </p:oleObj>
              </mc:Choice>
              <mc:Fallback>
                <p:oleObj r:id="rId46" imgW="393700" imgH="203200" progId="Equation.DSMT4">
                  <p:embed/>
                  <p:pic>
                    <p:nvPicPr>
                      <p:cNvPr id="0" name="图片 70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7740650" y="4658678"/>
                        <a:ext cx="39116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对象 -2147481874"/>
          <p:cNvGraphicFramePr>
            <a:graphicFrameLocks noChangeAspect="1"/>
          </p:cNvGraphicFramePr>
          <p:nvPr/>
        </p:nvGraphicFramePr>
        <p:xfrm>
          <a:off x="6893243" y="4398963"/>
          <a:ext cx="385445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8" imgW="381000" imgH="203200" progId="Equation.DSMT4">
                  <p:embed/>
                </p:oleObj>
              </mc:Choice>
              <mc:Fallback>
                <p:oleObj r:id="rId48" imgW="381000" imgH="203200" progId="Equation.DSMT4">
                  <p:embed/>
                  <p:pic>
                    <p:nvPicPr>
                      <p:cNvPr id="0" name="图片 71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6893243" y="4398963"/>
                        <a:ext cx="385445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对象 -2147481873"/>
          <p:cNvGraphicFramePr>
            <a:graphicFrameLocks noChangeAspect="1"/>
          </p:cNvGraphicFramePr>
          <p:nvPr/>
        </p:nvGraphicFramePr>
        <p:xfrm>
          <a:off x="7740650" y="4398963"/>
          <a:ext cx="39116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0" imgW="393700" imgH="203200" progId="Equation.DSMT4">
                  <p:embed/>
                </p:oleObj>
              </mc:Choice>
              <mc:Fallback>
                <p:oleObj r:id="rId50" imgW="393700" imgH="203200" progId="Equation.DSMT4">
                  <p:embed/>
                  <p:pic>
                    <p:nvPicPr>
                      <p:cNvPr id="0" name="图片 72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740650" y="4398963"/>
                        <a:ext cx="39116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55576" y="266137"/>
            <a:ext cx="398191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GD</a:t>
            </a:r>
            <a:r>
              <a:rPr kumimoji="0" lang="zh-CN" altLang="en-US" sz="18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en-US" altLang="zh-CN" sz="18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SP</a:t>
            </a:r>
            <a:r>
              <a:rPr kumimoji="0" lang="zh-CN" altLang="en-US" sz="1800" b="0" i="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指标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 flipV="1">
            <a:off x="508702" y="-90166"/>
            <a:ext cx="7550464" cy="46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251520" y="800662"/>
            <a:ext cx="8640960" cy="4218565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7" name="表格 36"/>
          <p:cNvGraphicFramePr/>
          <p:nvPr>
            <p:custDataLst>
              <p:tags r:id="rId1"/>
            </p:custDataLst>
          </p:nvPr>
        </p:nvGraphicFramePr>
        <p:xfrm>
          <a:off x="323850" y="986155"/>
          <a:ext cx="5858510" cy="3731895"/>
        </p:xfrm>
        <a:graphic>
          <a:graphicData uri="http://schemas.openxmlformats.org/drawingml/2006/table">
            <a:tbl>
              <a:tblPr/>
              <a:tblGrid>
                <a:gridCol w="836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480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测试函数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改进的</a:t>
                      </a: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N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SGA-II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传统</a:t>
                      </a: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N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SGA-II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最大值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最小值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最大值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最小值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0.001872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0.002854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0.002457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0.006995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0.021034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0.015229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0.000873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0.00105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0.000969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0.010817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0.028724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0.020026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0.005942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0.006662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0.006242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0.011129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0.016252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0.012852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0.003555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0.125593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0.009032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8.131761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34.233982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21.469642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0.001155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0.051665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0.004879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0.030725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0.569421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0.286596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测试函数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最大值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最小值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最大值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最小值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平均值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0.555548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0.777272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0.645918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0.407621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0.56482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0.491081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0.544712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0.722633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0.642364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0.429326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0.626145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0.502903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0.604298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0.890592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0.701284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0.429556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0.573176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0.47977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0.513734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0.710282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0.620027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0.496831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4.190277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0.785216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DT6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0.578361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5.029234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0.840515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0.495628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11.002422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4.182081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3" name="对象 -2147482624"/>
          <p:cNvGraphicFramePr>
            <a:graphicFrameLocks noChangeAspect="1"/>
          </p:cNvGraphicFramePr>
          <p:nvPr/>
        </p:nvGraphicFramePr>
        <p:xfrm>
          <a:off x="1115378" y="1319213"/>
          <a:ext cx="247015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41300" imgH="165100" progId="Equation.DSMT4">
                  <p:embed/>
                </p:oleObj>
              </mc:Choice>
              <mc:Fallback>
                <p:oleObj r:id="rId5" imgW="241300" imgH="165100" progId="Equation.DSMT4">
                  <p:embed/>
                  <p:pic>
                    <p:nvPicPr>
                      <p:cNvPr id="0" name="图片 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5378" y="1319213"/>
                        <a:ext cx="247015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-2147482624"/>
          <p:cNvGraphicFramePr>
            <a:graphicFrameLocks noChangeAspect="1"/>
          </p:cNvGraphicFramePr>
          <p:nvPr/>
        </p:nvGraphicFramePr>
        <p:xfrm>
          <a:off x="1907858" y="1319213"/>
          <a:ext cx="247015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41300" imgH="165100" progId="Equation.DSMT4">
                  <p:embed/>
                </p:oleObj>
              </mc:Choice>
              <mc:Fallback>
                <p:oleObj r:id="rId7" imgW="241300" imgH="165100" progId="Equation.DSMT4">
                  <p:embed/>
                  <p:pic>
                    <p:nvPicPr>
                      <p:cNvPr id="0" name="图片 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7858" y="1319213"/>
                        <a:ext cx="247015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-2147482624"/>
          <p:cNvGraphicFramePr>
            <a:graphicFrameLocks noChangeAspect="1"/>
          </p:cNvGraphicFramePr>
          <p:nvPr/>
        </p:nvGraphicFramePr>
        <p:xfrm>
          <a:off x="2771458" y="1319213"/>
          <a:ext cx="247015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41300" imgH="165100" progId="Equation.DSMT4">
                  <p:embed/>
                </p:oleObj>
              </mc:Choice>
              <mc:Fallback>
                <p:oleObj r:id="rId8" imgW="241300" imgH="165100" progId="Equation.DSMT4">
                  <p:embed/>
                  <p:pic>
                    <p:nvPicPr>
                      <p:cNvPr id="0" name="图片 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71458" y="1319213"/>
                        <a:ext cx="247015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-2147482624"/>
          <p:cNvGraphicFramePr>
            <a:graphicFrameLocks noChangeAspect="1"/>
          </p:cNvGraphicFramePr>
          <p:nvPr/>
        </p:nvGraphicFramePr>
        <p:xfrm>
          <a:off x="3563938" y="1319213"/>
          <a:ext cx="247015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41300" imgH="165100" progId="Equation.DSMT4">
                  <p:embed/>
                </p:oleObj>
              </mc:Choice>
              <mc:Fallback>
                <p:oleObj r:id="rId9" imgW="241300" imgH="165100" progId="Equation.DSMT4">
                  <p:embed/>
                  <p:pic>
                    <p:nvPicPr>
                      <p:cNvPr id="0" name="图片 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63938" y="1319213"/>
                        <a:ext cx="247015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-2147482624"/>
          <p:cNvGraphicFramePr>
            <a:graphicFrameLocks noChangeAspect="1"/>
          </p:cNvGraphicFramePr>
          <p:nvPr/>
        </p:nvGraphicFramePr>
        <p:xfrm>
          <a:off x="4428173" y="1319213"/>
          <a:ext cx="247015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41300" imgH="165100" progId="Equation.DSMT4">
                  <p:embed/>
                </p:oleObj>
              </mc:Choice>
              <mc:Fallback>
                <p:oleObj r:id="rId10" imgW="241300" imgH="165100" progId="Equation.DSMT4">
                  <p:embed/>
                  <p:pic>
                    <p:nvPicPr>
                      <p:cNvPr id="0" name="图片 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8173" y="1319213"/>
                        <a:ext cx="247015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-2147482624"/>
          <p:cNvGraphicFramePr>
            <a:graphicFrameLocks noChangeAspect="1"/>
          </p:cNvGraphicFramePr>
          <p:nvPr/>
        </p:nvGraphicFramePr>
        <p:xfrm>
          <a:off x="5292408" y="1319213"/>
          <a:ext cx="247015" cy="16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41300" imgH="165100" progId="Equation.DSMT4">
                  <p:embed/>
                </p:oleObj>
              </mc:Choice>
              <mc:Fallback>
                <p:oleObj r:id="rId11" imgW="241300" imgH="165100" progId="Equation.DSMT4">
                  <p:embed/>
                  <p:pic>
                    <p:nvPicPr>
                      <p:cNvPr id="0" name="图片 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2408" y="1319213"/>
                        <a:ext cx="247015" cy="16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" name="图片 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9510" y="3074987"/>
            <a:ext cx="2032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图片 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9930" y="3075622"/>
            <a:ext cx="2032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图片 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00350" y="3076257"/>
            <a:ext cx="2032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图片 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20770" y="3075622"/>
            <a:ext cx="2032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图片 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41190" y="3076892"/>
            <a:ext cx="2032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图片 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6540" y="3075622"/>
            <a:ext cx="203200" cy="1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文本框 67"/>
          <p:cNvSpPr txBox="1"/>
          <p:nvPr/>
        </p:nvSpPr>
        <p:spPr>
          <a:xfrm>
            <a:off x="6305550" y="891540"/>
            <a:ext cx="2367280" cy="389953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indent="457200" algn="just" fontAlgn="auto">
              <a:lnSpc>
                <a:spcPct val="110000"/>
              </a:lnSpc>
            </a:pP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zh-CN" altLang="en-US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距离指标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GD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上看，改进算法在距离指标的精度都可以</a:t>
            </a:r>
            <a:r>
              <a:rPr lang="zh-CN" altLang="en-US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达到</a:t>
            </a:r>
            <a:r>
              <a:rPr lang="en-US" altLang="zh-CN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1300" kern="100" baseline="3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-3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上；而传统算法在距离指标的精度在这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ZDT1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ZDT2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ZDT3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ZDT6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个测试函数中只能达到</a:t>
            </a:r>
            <a:r>
              <a:rPr lang="en-US" altLang="zh-CN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1300" kern="100" baseline="3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-2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层次上，而对于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ZDT4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测试函数，这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次的测试结果最好才到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GD=8.7927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indent="457200" algn="just" fontAlgn="auto">
              <a:lnSpc>
                <a:spcPct val="110000"/>
              </a:lnSpc>
            </a:pPr>
            <a:r>
              <a:rPr lang="zh-CN" altLang="en-US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分布性指标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上，改进算法只是略好于传统算法。从</a:t>
            </a:r>
            <a:r>
              <a:rPr lang="zh-CN" altLang="en-US" sz="13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第一组对照组所得的六组对比图以及两个表格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可以得出，在</a:t>
            </a:r>
            <a:r>
              <a:rPr lang="en-US" altLang="zh-CN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个测试函数中，</a:t>
            </a:r>
            <a:r>
              <a:rPr lang="zh-CN" altLang="en-US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改进的</a:t>
            </a:r>
            <a:r>
              <a:rPr lang="en-US" altLang="zh-CN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NSGA-II</a:t>
            </a:r>
            <a:r>
              <a:rPr lang="zh-CN" altLang="en-US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算法所得的</a:t>
            </a:r>
            <a:r>
              <a:rPr lang="en-US" altLang="zh-CN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Pareto</a:t>
            </a:r>
            <a:r>
              <a:rPr lang="zh-CN" altLang="en-US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最优解的质量优于传统算法得到的</a:t>
            </a:r>
            <a:r>
              <a:rPr lang="en-US" altLang="zh-CN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Pareto</a:t>
            </a:r>
            <a:r>
              <a:rPr lang="zh-CN" altLang="en-US" sz="13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最优解</a:t>
            </a:r>
            <a:r>
              <a:rPr lang="zh-CN" altLang="en-US" sz="13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152400" y="848238"/>
            <a:ext cx="8812088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55576" y="234387"/>
            <a:ext cx="49276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测试函数前沿对比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0" y="333692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759" name="图片 75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9245" y="945515"/>
            <a:ext cx="4328795" cy="1306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图片 75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5590" y="2245995"/>
            <a:ext cx="4359275" cy="130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图片 75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955" y="3535045"/>
            <a:ext cx="4397375" cy="1311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图片 756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72330" y="960755"/>
            <a:ext cx="4252595" cy="126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图片 755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0270" y="2221865"/>
            <a:ext cx="4224655" cy="125603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矩形 27"/>
          <p:cNvSpPr/>
          <p:nvPr>
            <p:custDataLst>
              <p:tags r:id="rId2"/>
            </p:custDataLst>
          </p:nvPr>
        </p:nvSpPr>
        <p:spPr>
          <a:xfrm>
            <a:off x="274955" y="930275"/>
            <a:ext cx="4370705" cy="39376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4672330" y="930275"/>
            <a:ext cx="4255770" cy="256349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672330" y="3571875"/>
            <a:ext cx="4158615" cy="129667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15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改进的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NSGA-II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相对于传统算法来说具有如下优势：</a:t>
            </a:r>
          </a:p>
          <a:p>
            <a:pPr indent="0" algn="just" fontAlgn="auto">
              <a:lnSpc>
                <a:spcPct val="115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所得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Pareto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最优解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更加接近已知前沿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；传统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NSGA-II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求解得到的测试函数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ZDT4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Pareto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最优解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严重偏离前沿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；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传统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NSGA-II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求解得到的测试函数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ZDT6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Pareto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最优解有部分异常。</a:t>
            </a:r>
          </a:p>
          <a:p>
            <a:pPr indent="0" algn="just" fontAlgn="auto">
              <a:lnSpc>
                <a:spcPct val="115000"/>
              </a:lnSpc>
            </a:pPr>
            <a:endParaRPr lang="zh-CN" altLang="en-US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152400" y="848238"/>
            <a:ext cx="8812088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55576" y="234387"/>
            <a:ext cx="49276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指标收敛</a:t>
            </a:r>
            <a:r>
              <a:rPr lang="zh-CN" altLang="en-US" sz="180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0" y="333692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2"/>
            </p:custDataLst>
          </p:nvPr>
        </p:nvSpPr>
        <p:spPr>
          <a:xfrm>
            <a:off x="295910" y="930275"/>
            <a:ext cx="4349750" cy="397446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4672330" y="930275"/>
            <a:ext cx="4255770" cy="261493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672330" y="3599180"/>
            <a:ext cx="4147185" cy="130619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15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改进的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NSGA-II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算法在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距离指标上的收敛速度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远快于经典算法，在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ZDT1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ZDT2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ZDT3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ZDT6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改进的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NSGA-II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算法不到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50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代即可收敛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，而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经典算法至少需要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300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余代才能收敛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，分布性指标上改进的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NSGA-II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算法收敛较快一些，总体趋势相近。</a:t>
            </a:r>
          </a:p>
        </p:txBody>
      </p:sp>
      <p:graphicFrame>
        <p:nvGraphicFramePr>
          <p:cNvPr id="6" name="对象 -2147481862"/>
          <p:cNvGraphicFramePr>
            <a:graphicFrameLocks noChangeAspect="1"/>
          </p:cNvGraphicFramePr>
          <p:nvPr/>
        </p:nvGraphicFramePr>
        <p:xfrm>
          <a:off x="296545" y="938530"/>
          <a:ext cx="4375785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893405" imgH="6253480" progId="Visio.Drawing.15">
                  <p:embed/>
                </p:oleObj>
              </mc:Choice>
              <mc:Fallback>
                <p:oleObj r:id="rId7" imgW="20893405" imgH="6253480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6545" y="938530"/>
                        <a:ext cx="4375785" cy="1298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1861"/>
          <p:cNvGraphicFramePr>
            <a:graphicFrameLocks noChangeAspect="1"/>
          </p:cNvGraphicFramePr>
          <p:nvPr/>
        </p:nvGraphicFramePr>
        <p:xfrm>
          <a:off x="323850" y="2227580"/>
          <a:ext cx="4347210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0107275" imgH="6096000" progId="Visio.Drawing.15">
                  <p:embed/>
                </p:oleObj>
              </mc:Choice>
              <mc:Fallback>
                <p:oleObj r:id="rId9" imgW="20107275" imgH="6096000" progId="Visio.Drawing.15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3850" y="2227580"/>
                        <a:ext cx="4347210" cy="1317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1860"/>
          <p:cNvGraphicFramePr>
            <a:graphicFrameLocks noChangeAspect="1"/>
          </p:cNvGraphicFramePr>
          <p:nvPr/>
        </p:nvGraphicFramePr>
        <p:xfrm>
          <a:off x="275590" y="3528060"/>
          <a:ext cx="43942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1001990" imgH="6548120" progId="Visio.Drawing.15">
                  <p:embed/>
                </p:oleObj>
              </mc:Choice>
              <mc:Fallback>
                <p:oleObj r:id="rId11" imgW="21001990" imgH="6548120" progId="Visio.Drawing.15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5590" y="3528060"/>
                        <a:ext cx="4394200" cy="1362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-2147481859"/>
          <p:cNvGraphicFramePr>
            <a:graphicFrameLocks noChangeAspect="1"/>
          </p:cNvGraphicFramePr>
          <p:nvPr/>
        </p:nvGraphicFramePr>
        <p:xfrm>
          <a:off x="4672330" y="971550"/>
          <a:ext cx="4286885" cy="1280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1228050" imgH="6332220" progId="Visio.Drawing.15">
                  <p:embed/>
                </p:oleObj>
              </mc:Choice>
              <mc:Fallback>
                <p:oleObj r:id="rId13" imgW="21228050" imgH="6332220" progId="Visio.Drawing.15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72330" y="971550"/>
                        <a:ext cx="4286885" cy="12807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-2147481858"/>
          <p:cNvGraphicFramePr>
            <a:graphicFrameLocks noChangeAspect="1"/>
          </p:cNvGraphicFramePr>
          <p:nvPr/>
        </p:nvGraphicFramePr>
        <p:xfrm>
          <a:off x="4690110" y="2247900"/>
          <a:ext cx="4269105" cy="128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1454110" imgH="6440170" progId="Visio.Drawing.15">
                  <p:embed/>
                </p:oleObj>
              </mc:Choice>
              <mc:Fallback>
                <p:oleObj r:id="rId15" imgW="21454110" imgH="6440170" progId="Visio.Drawing.15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90110" y="2247900"/>
                        <a:ext cx="4269105" cy="12801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52400" y="848238"/>
            <a:ext cx="8812088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55650" y="234315"/>
            <a:ext cx="5245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考虑经济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环境的双层优化结果</a:t>
            </a:r>
            <a:endParaRPr kumimoji="0" lang="zh-CN" altLang="en-US" sz="2400" b="0" i="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0" y="-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55608" y="930028"/>
            <a:ext cx="2593846" cy="30670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Pareto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解集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003730" y="948442"/>
            <a:ext cx="2593846" cy="30670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决策准则得到的最优解</a:t>
            </a:r>
          </a:p>
        </p:txBody>
      </p:sp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611505" y="3938270"/>
          <a:ext cx="2910840" cy="8382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312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参数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数值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种群中个体数量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100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最大迭代次数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400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交叉概率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         =0.1</a:t>
                      </a:r>
                      <a:r>
                        <a:rPr lang="zh-CN" sz="1100"/>
                        <a:t>，</a:t>
                      </a:r>
                      <a:r>
                        <a:rPr lang="en-US" altLang="zh-CN" sz="1100"/>
                        <a:t>            =0.9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变异概率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ym typeface="+mn-ea"/>
                        </a:rPr>
                        <a:t>         </a:t>
                      </a:r>
                      <a:r>
                        <a:rPr lang="en-US" altLang="zh-CN" sz="1100"/>
                        <a:t>=0.02</a:t>
                      </a:r>
                      <a:r>
                        <a:rPr lang="zh-CN" sz="1100">
                          <a:sym typeface="+mn-ea"/>
                        </a:rPr>
                        <a:t>，</a:t>
                      </a:r>
                      <a:r>
                        <a:rPr lang="en-US" altLang="zh-CN" sz="1100">
                          <a:sym typeface="+mn-ea"/>
                        </a:rPr>
                        <a:t>            </a:t>
                      </a:r>
                      <a:r>
                        <a:rPr lang="en-US" altLang="zh-CN" sz="1100"/>
                        <a:t>=0.1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/>
          <p:nvPr>
            <p:custDataLst>
              <p:tags r:id="rId4"/>
            </p:custDataLst>
          </p:nvPr>
        </p:nvGraphicFramePr>
        <p:xfrm>
          <a:off x="467995" y="1330325"/>
          <a:ext cx="3270885" cy="6705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90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目标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数值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权重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ATCSR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5.89%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0.051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APESR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22.58%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0.443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ATESR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37.62%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0.506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755580" y="3558927"/>
            <a:ext cx="2593846" cy="30670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算法参数设置</a:t>
            </a:r>
          </a:p>
        </p:txBody>
      </p:sp>
      <p:graphicFrame>
        <p:nvGraphicFramePr>
          <p:cNvPr id="28" name="表格 27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83295442"/>
              </p:ext>
            </p:extLst>
          </p:nvPr>
        </p:nvGraphicFramePr>
        <p:xfrm>
          <a:off x="546735" y="2083435"/>
          <a:ext cx="3114040" cy="13411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5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设备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容量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燃气轮机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217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余热锅炉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298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溴化锂吸收式制冷机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269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空气源热泵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123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光伏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96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太阳能集热器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84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/>
                        <a:t>蓄热水罐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290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7" name="矩形 36"/>
          <p:cNvSpPr/>
          <p:nvPr>
            <p:custDataLst>
              <p:tags r:id="rId7"/>
            </p:custDataLst>
          </p:nvPr>
        </p:nvSpPr>
        <p:spPr>
          <a:xfrm>
            <a:off x="425450" y="908050"/>
            <a:ext cx="3348990" cy="255016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425450" y="3507105"/>
            <a:ext cx="3348990" cy="13976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9"/>
            </p:custDataLst>
          </p:nvPr>
        </p:nvSpPr>
        <p:spPr>
          <a:xfrm>
            <a:off x="3865880" y="901065"/>
            <a:ext cx="4892675" cy="275336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-2147481843"/>
          <p:cNvGraphicFramePr>
            <a:graphicFrameLocks noChangeAspect="1"/>
          </p:cNvGraphicFramePr>
          <p:nvPr/>
        </p:nvGraphicFramePr>
        <p:xfrm>
          <a:off x="3059748" y="2239328"/>
          <a:ext cx="247015" cy="17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41300" imgH="165100" progId="Equation.DSMT4">
                  <p:embed/>
                </p:oleObj>
              </mc:Choice>
              <mc:Fallback>
                <p:oleObj r:id="rId13" imgW="241300" imgH="165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59748" y="2239328"/>
                        <a:ext cx="247015" cy="1727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-2147481843"/>
          <p:cNvGraphicFramePr>
            <a:graphicFrameLocks noChangeAspect="1"/>
          </p:cNvGraphicFramePr>
          <p:nvPr/>
        </p:nvGraphicFramePr>
        <p:xfrm>
          <a:off x="3043873" y="2405698"/>
          <a:ext cx="247015" cy="17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41300" imgH="165100" progId="Equation.DSMT4">
                  <p:embed/>
                </p:oleObj>
              </mc:Choice>
              <mc:Fallback>
                <p:oleObj r:id="rId15" imgW="241300" imgH="165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43873" y="2405698"/>
                        <a:ext cx="247015" cy="1727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-2147481843"/>
          <p:cNvGraphicFramePr>
            <a:graphicFrameLocks noChangeAspect="1"/>
          </p:cNvGraphicFramePr>
          <p:nvPr/>
        </p:nvGraphicFramePr>
        <p:xfrm>
          <a:off x="3043873" y="2549843"/>
          <a:ext cx="247015" cy="17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41300" imgH="165100" progId="Equation.DSMT4">
                  <p:embed/>
                </p:oleObj>
              </mc:Choice>
              <mc:Fallback>
                <p:oleObj r:id="rId16" imgW="241300" imgH="165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43873" y="2549843"/>
                        <a:ext cx="247015" cy="1727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-2147481843"/>
          <p:cNvGraphicFramePr>
            <a:graphicFrameLocks noChangeAspect="1"/>
          </p:cNvGraphicFramePr>
          <p:nvPr/>
        </p:nvGraphicFramePr>
        <p:xfrm>
          <a:off x="3030538" y="2742248"/>
          <a:ext cx="247015" cy="17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41300" imgH="165100" progId="Equation.DSMT4">
                  <p:embed/>
                </p:oleObj>
              </mc:Choice>
              <mc:Fallback>
                <p:oleObj r:id="rId17" imgW="241300" imgH="165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30538" y="2742248"/>
                        <a:ext cx="247015" cy="1727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-2147481839"/>
          <p:cNvGraphicFramePr>
            <a:graphicFrameLocks noChangeAspect="1"/>
          </p:cNvGraphicFramePr>
          <p:nvPr/>
        </p:nvGraphicFramePr>
        <p:xfrm>
          <a:off x="3041968" y="2881630"/>
          <a:ext cx="189865" cy="18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90500" imgH="190500" progId="Equation.DSMT4">
                  <p:embed/>
                </p:oleObj>
              </mc:Choice>
              <mc:Fallback>
                <p:oleObj r:id="rId18" imgW="190500" imgH="190500" progId="Equation.DSMT4">
                  <p:embed/>
                  <p:pic>
                    <p:nvPicPr>
                      <p:cNvPr id="0" name="图片 4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041968" y="2881630"/>
                        <a:ext cx="189865" cy="189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-2147481839"/>
          <p:cNvGraphicFramePr>
            <a:graphicFrameLocks noChangeAspect="1"/>
          </p:cNvGraphicFramePr>
          <p:nvPr/>
        </p:nvGraphicFramePr>
        <p:xfrm>
          <a:off x="3041968" y="3069590"/>
          <a:ext cx="189865" cy="18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90500" imgH="190500" progId="Equation.DSMT4">
                  <p:embed/>
                </p:oleObj>
              </mc:Choice>
              <mc:Fallback>
                <p:oleObj r:id="rId20" imgW="190500" imgH="190500" progId="Equation.DSMT4">
                  <p:embed/>
                  <p:pic>
                    <p:nvPicPr>
                      <p:cNvPr id="0" name="图片 4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041968" y="3069590"/>
                        <a:ext cx="189865" cy="189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-2147481837"/>
          <p:cNvGraphicFramePr>
            <a:graphicFrameLocks noChangeAspect="1"/>
          </p:cNvGraphicFramePr>
          <p:nvPr/>
        </p:nvGraphicFramePr>
        <p:xfrm>
          <a:off x="2997835" y="3258503"/>
          <a:ext cx="293370" cy="17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292100" imgH="165100" progId="Equation.DSMT4">
                  <p:embed/>
                </p:oleObj>
              </mc:Choice>
              <mc:Fallback>
                <p:oleObj r:id="rId21" imgW="292100" imgH="165100" progId="Equation.DSMT4">
                  <p:embed/>
                  <p:pic>
                    <p:nvPicPr>
                      <p:cNvPr id="0" name="图片 4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97835" y="3258503"/>
                        <a:ext cx="293370" cy="1727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865880" y="3759835"/>
            <a:ext cx="4892040" cy="119888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15000"/>
              </a:lnSpc>
            </a:pP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ATESR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ATCSR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APESR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存在着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相互制约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的关系。各方案在三维目标空间呈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Pareto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最优分布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，需引入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多准则决策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工具，确定最终可行的折衷方案。改进算法在三个目标上分别降低了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0.24%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、提升了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0.21%</a:t>
            </a: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0.39%</a:t>
            </a:r>
            <a:r>
              <a:rPr lang="zh-CN" altLang="en-US" sz="14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9" name="对象 -2147481857"/>
          <p:cNvGraphicFramePr>
            <a:graphicFrameLocks noChangeAspect="1"/>
          </p:cNvGraphicFramePr>
          <p:nvPr/>
        </p:nvGraphicFramePr>
        <p:xfrm>
          <a:off x="1938655" y="4407218"/>
          <a:ext cx="39116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393700" imgH="203200" progId="Equation.DSMT4">
                  <p:embed/>
                </p:oleObj>
              </mc:Choice>
              <mc:Fallback>
                <p:oleObj r:id="rId23" imgW="393700" imgH="203200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938655" y="4407218"/>
                        <a:ext cx="39116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-2147481856"/>
          <p:cNvGraphicFramePr>
            <a:graphicFrameLocks noChangeAspect="1"/>
          </p:cNvGraphicFramePr>
          <p:nvPr/>
        </p:nvGraphicFramePr>
        <p:xfrm>
          <a:off x="2700020" y="4407218"/>
          <a:ext cx="42545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419100" imgH="203200" progId="Equation.DSMT4">
                  <p:embed/>
                </p:oleObj>
              </mc:Choice>
              <mc:Fallback>
                <p:oleObj r:id="rId25" imgW="419100" imgH="203200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00020" y="4407218"/>
                        <a:ext cx="42545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-2147481855"/>
          <p:cNvGraphicFramePr>
            <a:graphicFrameLocks noChangeAspect="1"/>
          </p:cNvGraphicFramePr>
          <p:nvPr/>
        </p:nvGraphicFramePr>
        <p:xfrm>
          <a:off x="1938655" y="4586923"/>
          <a:ext cx="42545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419100" imgH="203200" progId="Equation.DSMT4">
                  <p:embed/>
                </p:oleObj>
              </mc:Choice>
              <mc:Fallback>
                <p:oleObj r:id="rId27" imgW="419100" imgH="2032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938655" y="4586923"/>
                        <a:ext cx="42545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-2147481854"/>
          <p:cNvGraphicFramePr>
            <a:graphicFrameLocks noChangeAspect="1"/>
          </p:cNvGraphicFramePr>
          <p:nvPr/>
        </p:nvGraphicFramePr>
        <p:xfrm>
          <a:off x="2700020" y="4586923"/>
          <a:ext cx="44831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444500" imgH="203200" progId="Equation.DSMT4">
                  <p:embed/>
                </p:oleObj>
              </mc:Choice>
              <mc:Fallback>
                <p:oleObj r:id="rId29" imgW="444500" imgH="2032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700020" y="4586923"/>
                        <a:ext cx="44831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" name="图片 26" descr="第四章帕累托解集"/>
          <p:cNvPicPr/>
          <p:nvPr/>
        </p:nvPicPr>
        <p:blipFill>
          <a:blip r:embed="rId31"/>
          <a:stretch>
            <a:fillRect/>
          </a:stretch>
        </p:blipFill>
        <p:spPr>
          <a:xfrm>
            <a:off x="3851910" y="1323340"/>
            <a:ext cx="4886960" cy="218376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0" y="-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0" y="459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98880" y="824123"/>
            <a:ext cx="8690773" cy="4195105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068445" y="900430"/>
            <a:ext cx="370840" cy="203009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4068445" y="2947670"/>
            <a:ext cx="370840" cy="203009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4521200" y="2992755"/>
            <a:ext cx="4236085" cy="193675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15000"/>
              </a:lnSpc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供电策略基于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分时电价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，由于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22:00-6:00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为谷电时段，故燃气轮机不运行，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SH-CCHP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系统从主电网获得电力；而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6:00-21:00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时价格电力较高，故从主电网购电减少，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燃气轮机满足大部分电力需求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。夏季供冷策略中燃气轮机在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22:00-6:00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关闭，晚间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空气源热泵作为冷源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；在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6:00-21:00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溴冷机制取冷负荷，空气源热泵辅助。夏季热水负荷供应采用集热器、燃气轮机、储热协同策略：在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0:00-6:00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时段，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蓄热水罐供热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6:00-21:00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时段燃气轮机运行，集热器自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随太阳辐射增强启动，其；夜间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21:00-24:00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热水负荷由储热提供。</a:t>
            </a:r>
          </a:p>
        </p:txBody>
      </p:sp>
      <p:sp>
        <p:nvSpPr>
          <p:cNvPr id="31" name="文本框 30"/>
          <p:cNvSpPr txBox="1"/>
          <p:nvPr>
            <p:custDataLst>
              <p:tags r:id="rId3"/>
            </p:custDataLst>
          </p:nvPr>
        </p:nvSpPr>
        <p:spPr>
          <a:xfrm>
            <a:off x="8388350" y="883285"/>
            <a:ext cx="370840" cy="203009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55650" y="234315"/>
            <a:ext cx="5245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考虑经济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环境的双层优化结果</a:t>
            </a:r>
            <a:endParaRPr kumimoji="0" lang="zh-CN" altLang="en-US" sz="2400" b="0" i="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7" b="1586"/>
          <a:stretch>
            <a:fillRect/>
          </a:stretch>
        </p:blipFill>
        <p:spPr>
          <a:xfrm>
            <a:off x="0" y="981075"/>
            <a:ext cx="4351655" cy="2026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8" b="2070"/>
          <a:stretch>
            <a:fillRect/>
          </a:stretch>
        </p:blipFill>
        <p:spPr>
          <a:xfrm>
            <a:off x="4211955" y="981075"/>
            <a:ext cx="4533265" cy="208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图片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t="6089" r="-1" b="2798"/>
          <a:stretch>
            <a:fillRect/>
          </a:stretch>
        </p:blipFill>
        <p:spPr>
          <a:xfrm>
            <a:off x="-36830" y="2980055"/>
            <a:ext cx="4412615" cy="1998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0" y="-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0" y="459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304800" y="3048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98880" y="824123"/>
            <a:ext cx="8690773" cy="4195105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图片 3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5"/>
          <a:stretch>
            <a:fillRect/>
          </a:stretch>
        </p:blipFill>
        <p:spPr>
          <a:xfrm>
            <a:off x="-36195" y="930275"/>
            <a:ext cx="4474210" cy="21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38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04105" y="770890"/>
            <a:ext cx="4239895" cy="2271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283710" y="964565"/>
            <a:ext cx="300990" cy="175323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冬季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791710" y="966470"/>
            <a:ext cx="300990" cy="175323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冬季典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pic>
        <p:nvPicPr>
          <p:cNvPr id="40" name="图片 4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5880" y="2825750"/>
            <a:ext cx="4512945" cy="224091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4283710" y="2831465"/>
            <a:ext cx="300990" cy="212280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过渡季节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pic>
        <p:nvPicPr>
          <p:cNvPr id="41" name="图片 4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1710" y="2859405"/>
            <a:ext cx="4384040" cy="217678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4787900" y="2830195"/>
            <a:ext cx="300990" cy="212280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过渡季节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55650" y="234315"/>
            <a:ext cx="5245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考虑经济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环境的双层优化结果</a:t>
            </a:r>
            <a:endParaRPr kumimoji="0" lang="zh-CN" altLang="en-US" sz="2400" b="0" i="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038" y="113386"/>
            <a:ext cx="3026962" cy="607205"/>
          </a:xfrm>
          <a:prstGeom prst="rect">
            <a:avLst/>
          </a:prstGeom>
        </p:spPr>
      </p:pic>
      <p:sp>
        <p:nvSpPr>
          <p:cNvPr id="14" name="流程图: 接点 13"/>
          <p:cNvSpPr/>
          <p:nvPr/>
        </p:nvSpPr>
        <p:spPr>
          <a:xfrm>
            <a:off x="198880" y="191996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9"/>
          <p:cNvSpPr>
            <a:spLocks noEditPoints="1"/>
          </p:cNvSpPr>
          <p:nvPr/>
        </p:nvSpPr>
        <p:spPr bwMode="auto">
          <a:xfrm>
            <a:off x="275744" y="32006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509612" y="85645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347" y="8510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0" y="-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0" y="459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98880" y="824123"/>
            <a:ext cx="8690773" cy="4195105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4" name="图片 3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5"/>
          <a:stretch>
            <a:fillRect/>
          </a:stretch>
        </p:blipFill>
        <p:spPr>
          <a:xfrm>
            <a:off x="35560" y="842645"/>
            <a:ext cx="4280535" cy="2245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图片 3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42"/>
          <a:stretch>
            <a:fillRect/>
          </a:stretch>
        </p:blipFill>
        <p:spPr>
          <a:xfrm>
            <a:off x="4140200" y="881380"/>
            <a:ext cx="4629785" cy="215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图片 3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0"/>
          <a:stretch>
            <a:fillRect/>
          </a:stretch>
        </p:blipFill>
        <p:spPr>
          <a:xfrm>
            <a:off x="700" y="3030408"/>
            <a:ext cx="4351655" cy="2016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068445" y="900430"/>
            <a:ext cx="370840" cy="203009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4068445" y="2947670"/>
            <a:ext cx="370840" cy="203009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4521200" y="3813810"/>
            <a:ext cx="4236085" cy="111569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15000"/>
              </a:lnSpc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22:00-6:00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为谷电时段仍采取从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电网购电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策略，在峰电时期燃气轮机满发；冷负荷由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溴冷机与空气源热泵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作为冷源提供；热水负荷供应仍采用太阳能集热优先，燃气轮机调峰，储热移峰填谷的多能协同策略。证明了容量优化后的系统在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1.6      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的天气情况下</a:t>
            </a:r>
            <a:r>
              <a:rPr lang="zh-CN" altLang="en-US" sz="12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仍可满足负荷需求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1" name="文本框 30"/>
          <p:cNvSpPr txBox="1"/>
          <p:nvPr>
            <p:custDataLst>
              <p:tags r:id="rId3"/>
            </p:custDataLst>
          </p:nvPr>
        </p:nvSpPr>
        <p:spPr>
          <a:xfrm>
            <a:off x="8388350" y="883285"/>
            <a:ext cx="370840" cy="203009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55650" y="234315"/>
            <a:ext cx="5245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考虑经济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环境的双层优化结果</a:t>
            </a:r>
            <a:endParaRPr kumimoji="0" lang="zh-CN" altLang="en-US" sz="2400" b="0" i="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4"/>
            </p:custDataLst>
          </p:nvPr>
        </p:nvGraphicFramePr>
        <p:xfrm>
          <a:off x="4521200" y="3028315"/>
          <a:ext cx="4321810" cy="70548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75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负荷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1.2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1.4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1.6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1.8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2.0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/>
                        <a:t>运行成本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1897.54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2132.04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2465.48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2989.13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/>
                        <a:t>3391.44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对象 -2147481790"/>
          <p:cNvGraphicFramePr>
            <a:graphicFrameLocks noChangeAspect="1"/>
          </p:cNvGraphicFramePr>
          <p:nvPr/>
        </p:nvGraphicFramePr>
        <p:xfrm>
          <a:off x="5723890" y="3092450"/>
          <a:ext cx="228600" cy="20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28600" imgH="203200" progId="Equation.DSMT4">
                  <p:embed/>
                </p:oleObj>
              </mc:Choice>
              <mc:Fallback>
                <p:oleObj r:id="rId11" imgW="2286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23890" y="3092450"/>
                        <a:ext cx="228600" cy="2025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-2147481790"/>
          <p:cNvGraphicFramePr>
            <a:graphicFrameLocks noChangeAspect="1"/>
          </p:cNvGraphicFramePr>
          <p:nvPr/>
        </p:nvGraphicFramePr>
        <p:xfrm>
          <a:off x="6443980" y="3092450"/>
          <a:ext cx="228600" cy="20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28600" imgH="203200" progId="Equation.DSMT4">
                  <p:embed/>
                </p:oleObj>
              </mc:Choice>
              <mc:Fallback>
                <p:oleObj r:id="rId13" imgW="2286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43980" y="3092450"/>
                        <a:ext cx="228600" cy="2025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-2147481790"/>
          <p:cNvGraphicFramePr>
            <a:graphicFrameLocks noChangeAspect="1"/>
          </p:cNvGraphicFramePr>
          <p:nvPr/>
        </p:nvGraphicFramePr>
        <p:xfrm>
          <a:off x="7164070" y="3092450"/>
          <a:ext cx="228600" cy="20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28600" imgH="203200" progId="Equation.DSMT4">
                  <p:embed/>
                </p:oleObj>
              </mc:Choice>
              <mc:Fallback>
                <p:oleObj r:id="rId14" imgW="2286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64070" y="3092450"/>
                        <a:ext cx="228600" cy="2025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-2147481790"/>
          <p:cNvGraphicFramePr>
            <a:graphicFrameLocks noChangeAspect="1"/>
          </p:cNvGraphicFramePr>
          <p:nvPr/>
        </p:nvGraphicFramePr>
        <p:xfrm>
          <a:off x="7884160" y="3092450"/>
          <a:ext cx="228600" cy="20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28600" imgH="203200" progId="Equation.DSMT4">
                  <p:embed/>
                </p:oleObj>
              </mc:Choice>
              <mc:Fallback>
                <p:oleObj r:id="rId15" imgW="2286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84160" y="3092450"/>
                        <a:ext cx="228600" cy="2025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-2147481790"/>
          <p:cNvGraphicFramePr>
            <a:graphicFrameLocks noChangeAspect="1"/>
          </p:cNvGraphicFramePr>
          <p:nvPr/>
        </p:nvGraphicFramePr>
        <p:xfrm>
          <a:off x="8604250" y="3096895"/>
          <a:ext cx="228600" cy="20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28600" imgH="203200" progId="Equation.DSMT4">
                  <p:embed/>
                </p:oleObj>
              </mc:Choice>
              <mc:Fallback>
                <p:oleObj r:id="rId16" imgW="2286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04250" y="3096895"/>
                        <a:ext cx="228600" cy="2025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-2147481790"/>
          <p:cNvGraphicFramePr>
            <a:graphicFrameLocks noChangeAspect="1"/>
          </p:cNvGraphicFramePr>
          <p:nvPr/>
        </p:nvGraphicFramePr>
        <p:xfrm>
          <a:off x="4860290" y="4730750"/>
          <a:ext cx="228600" cy="20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28600" imgH="203200" progId="Equation.DSMT4">
                  <p:embed/>
                </p:oleObj>
              </mc:Choice>
              <mc:Fallback>
                <p:oleObj r:id="rId17" imgW="2286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60290" y="4730750"/>
                        <a:ext cx="228600" cy="2025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34105" y="234387"/>
            <a:ext cx="1749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结论与展望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4980" y="219367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51520" y="288210"/>
            <a:ext cx="406580" cy="407842"/>
            <a:chOff x="3020219" y="1344612"/>
            <a:chExt cx="511175" cy="512763"/>
          </a:xfrm>
          <a:solidFill>
            <a:schemeClr val="bg1"/>
          </a:solidFill>
        </p:grpSpPr>
        <p:sp>
          <p:nvSpPr>
            <p:cNvPr id="16" name="Freeform 109"/>
            <p:cNvSpPr>
              <a:spLocks noEditPoints="1"/>
            </p:cNvSpPr>
            <p:nvPr/>
          </p:nvSpPr>
          <p:spPr bwMode="auto">
            <a:xfrm>
              <a:off x="3182144" y="1344612"/>
              <a:ext cx="187325" cy="512763"/>
            </a:xfrm>
            <a:custGeom>
              <a:avLst/>
              <a:gdLst>
                <a:gd name="T0" fmla="*/ 57 w 113"/>
                <a:gd name="T1" fmla="*/ 0 h 307"/>
                <a:gd name="T2" fmla="*/ 0 w 113"/>
                <a:gd name="T3" fmla="*/ 153 h 307"/>
                <a:gd name="T4" fmla="*/ 57 w 113"/>
                <a:gd name="T5" fmla="*/ 307 h 307"/>
                <a:gd name="T6" fmla="*/ 113 w 113"/>
                <a:gd name="T7" fmla="*/ 153 h 307"/>
                <a:gd name="T8" fmla="*/ 57 w 113"/>
                <a:gd name="T9" fmla="*/ 0 h 307"/>
                <a:gd name="T10" fmla="*/ 57 w 113"/>
                <a:gd name="T11" fmla="*/ 282 h 307"/>
                <a:gd name="T12" fmla="*/ 9 w 113"/>
                <a:gd name="T13" fmla="*/ 153 h 307"/>
                <a:gd name="T14" fmla="*/ 57 w 113"/>
                <a:gd name="T15" fmla="*/ 25 h 307"/>
                <a:gd name="T16" fmla="*/ 104 w 113"/>
                <a:gd name="T17" fmla="*/ 153 h 307"/>
                <a:gd name="T18" fmla="*/ 57 w 113"/>
                <a:gd name="T19" fmla="*/ 282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" h="307">
                  <a:moveTo>
                    <a:pt x="57" y="0"/>
                  </a:moveTo>
                  <a:cubicBezTo>
                    <a:pt x="25" y="0"/>
                    <a:pt x="0" y="69"/>
                    <a:pt x="0" y="153"/>
                  </a:cubicBezTo>
                  <a:cubicBezTo>
                    <a:pt x="0" y="238"/>
                    <a:pt x="25" y="307"/>
                    <a:pt x="57" y="307"/>
                  </a:cubicBezTo>
                  <a:cubicBezTo>
                    <a:pt x="88" y="307"/>
                    <a:pt x="113" y="238"/>
                    <a:pt x="113" y="153"/>
                  </a:cubicBezTo>
                  <a:cubicBezTo>
                    <a:pt x="113" y="69"/>
                    <a:pt x="88" y="0"/>
                    <a:pt x="57" y="0"/>
                  </a:cubicBezTo>
                  <a:close/>
                  <a:moveTo>
                    <a:pt x="57" y="282"/>
                  </a:moveTo>
                  <a:cubicBezTo>
                    <a:pt x="30" y="282"/>
                    <a:pt x="9" y="224"/>
                    <a:pt x="9" y="153"/>
                  </a:cubicBezTo>
                  <a:cubicBezTo>
                    <a:pt x="9" y="82"/>
                    <a:pt x="30" y="25"/>
                    <a:pt x="57" y="25"/>
                  </a:cubicBezTo>
                  <a:cubicBezTo>
                    <a:pt x="83" y="25"/>
                    <a:pt x="104" y="82"/>
                    <a:pt x="104" y="153"/>
                  </a:cubicBezTo>
                  <a:cubicBezTo>
                    <a:pt x="104" y="224"/>
                    <a:pt x="83" y="282"/>
                    <a:pt x="5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0"/>
            <p:cNvSpPr>
              <a:spLocks noEditPoints="1"/>
            </p:cNvSpPr>
            <p:nvPr/>
          </p:nvSpPr>
          <p:spPr bwMode="auto">
            <a:xfrm>
              <a:off x="3020219" y="1506538"/>
              <a:ext cx="511175" cy="188913"/>
            </a:xfrm>
            <a:custGeom>
              <a:avLst/>
              <a:gdLst>
                <a:gd name="T0" fmla="*/ 307 w 307"/>
                <a:gd name="T1" fmla="*/ 56 h 113"/>
                <a:gd name="T2" fmla="*/ 154 w 307"/>
                <a:gd name="T3" fmla="*/ 0 h 113"/>
                <a:gd name="T4" fmla="*/ 0 w 307"/>
                <a:gd name="T5" fmla="*/ 56 h 113"/>
                <a:gd name="T6" fmla="*/ 154 w 307"/>
                <a:gd name="T7" fmla="*/ 113 h 113"/>
                <a:gd name="T8" fmla="*/ 307 w 307"/>
                <a:gd name="T9" fmla="*/ 56 h 113"/>
                <a:gd name="T10" fmla="*/ 25 w 307"/>
                <a:gd name="T11" fmla="*/ 56 h 113"/>
                <a:gd name="T12" fmla="*/ 154 w 307"/>
                <a:gd name="T13" fmla="*/ 9 h 113"/>
                <a:gd name="T14" fmla="*/ 282 w 307"/>
                <a:gd name="T15" fmla="*/ 56 h 113"/>
                <a:gd name="T16" fmla="*/ 154 w 307"/>
                <a:gd name="T17" fmla="*/ 104 h 113"/>
                <a:gd name="T18" fmla="*/ 25 w 307"/>
                <a:gd name="T19" fmla="*/ 5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7" h="113">
                  <a:moveTo>
                    <a:pt x="307" y="56"/>
                  </a:moveTo>
                  <a:cubicBezTo>
                    <a:pt x="307" y="25"/>
                    <a:pt x="238" y="0"/>
                    <a:pt x="154" y="0"/>
                  </a:cubicBezTo>
                  <a:cubicBezTo>
                    <a:pt x="69" y="0"/>
                    <a:pt x="0" y="25"/>
                    <a:pt x="0" y="56"/>
                  </a:cubicBezTo>
                  <a:cubicBezTo>
                    <a:pt x="0" y="88"/>
                    <a:pt x="69" y="113"/>
                    <a:pt x="154" y="113"/>
                  </a:cubicBezTo>
                  <a:cubicBezTo>
                    <a:pt x="238" y="113"/>
                    <a:pt x="307" y="88"/>
                    <a:pt x="307" y="56"/>
                  </a:cubicBezTo>
                  <a:close/>
                  <a:moveTo>
                    <a:pt x="25" y="56"/>
                  </a:moveTo>
                  <a:cubicBezTo>
                    <a:pt x="25" y="30"/>
                    <a:pt x="83" y="9"/>
                    <a:pt x="154" y="9"/>
                  </a:cubicBezTo>
                  <a:cubicBezTo>
                    <a:pt x="225" y="9"/>
                    <a:pt x="282" y="30"/>
                    <a:pt x="282" y="56"/>
                  </a:cubicBezTo>
                  <a:cubicBezTo>
                    <a:pt x="282" y="82"/>
                    <a:pt x="225" y="104"/>
                    <a:pt x="154" y="104"/>
                  </a:cubicBezTo>
                  <a:cubicBezTo>
                    <a:pt x="83" y="104"/>
                    <a:pt x="25" y="82"/>
                    <a:pt x="25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11"/>
            <p:cNvSpPr>
              <a:spLocks noEditPoints="1"/>
            </p:cNvSpPr>
            <p:nvPr/>
          </p:nvSpPr>
          <p:spPr bwMode="auto">
            <a:xfrm>
              <a:off x="3058319" y="1382713"/>
              <a:ext cx="434975" cy="436563"/>
            </a:xfrm>
            <a:custGeom>
              <a:avLst/>
              <a:gdLst>
                <a:gd name="T0" fmla="*/ 239 w 261"/>
                <a:gd name="T1" fmla="*/ 22 h 261"/>
                <a:gd name="T2" fmla="*/ 91 w 261"/>
                <a:gd name="T3" fmla="*/ 90 h 261"/>
                <a:gd name="T4" fmla="*/ 22 w 261"/>
                <a:gd name="T5" fmla="*/ 239 h 261"/>
                <a:gd name="T6" fmla="*/ 171 w 261"/>
                <a:gd name="T7" fmla="*/ 170 h 261"/>
                <a:gd name="T8" fmla="*/ 239 w 261"/>
                <a:gd name="T9" fmla="*/ 22 h 261"/>
                <a:gd name="T10" fmla="*/ 40 w 261"/>
                <a:gd name="T11" fmla="*/ 221 h 261"/>
                <a:gd name="T12" fmla="*/ 97 w 261"/>
                <a:gd name="T13" fmla="*/ 97 h 261"/>
                <a:gd name="T14" fmla="*/ 221 w 261"/>
                <a:gd name="T15" fmla="*/ 39 h 261"/>
                <a:gd name="T16" fmla="*/ 164 w 261"/>
                <a:gd name="T17" fmla="*/ 164 h 261"/>
                <a:gd name="T18" fmla="*/ 40 w 261"/>
                <a:gd name="T19" fmla="*/ 22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" h="261">
                  <a:moveTo>
                    <a:pt x="239" y="22"/>
                  </a:moveTo>
                  <a:cubicBezTo>
                    <a:pt x="217" y="0"/>
                    <a:pt x="150" y="30"/>
                    <a:pt x="91" y="90"/>
                  </a:cubicBezTo>
                  <a:cubicBezTo>
                    <a:pt x="31" y="150"/>
                    <a:pt x="0" y="217"/>
                    <a:pt x="22" y="239"/>
                  </a:cubicBezTo>
                  <a:cubicBezTo>
                    <a:pt x="44" y="261"/>
                    <a:pt x="111" y="230"/>
                    <a:pt x="171" y="170"/>
                  </a:cubicBezTo>
                  <a:cubicBezTo>
                    <a:pt x="230" y="110"/>
                    <a:pt x="261" y="44"/>
                    <a:pt x="239" y="22"/>
                  </a:cubicBezTo>
                  <a:close/>
                  <a:moveTo>
                    <a:pt x="40" y="221"/>
                  </a:moveTo>
                  <a:cubicBezTo>
                    <a:pt x="21" y="203"/>
                    <a:pt x="47" y="147"/>
                    <a:pt x="97" y="97"/>
                  </a:cubicBezTo>
                  <a:cubicBezTo>
                    <a:pt x="147" y="47"/>
                    <a:pt x="203" y="21"/>
                    <a:pt x="221" y="39"/>
                  </a:cubicBezTo>
                  <a:cubicBezTo>
                    <a:pt x="240" y="58"/>
                    <a:pt x="214" y="114"/>
                    <a:pt x="164" y="164"/>
                  </a:cubicBezTo>
                  <a:cubicBezTo>
                    <a:pt x="114" y="214"/>
                    <a:pt x="58" y="240"/>
                    <a:pt x="40" y="2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12"/>
            <p:cNvSpPr>
              <a:spLocks noEditPoints="1"/>
            </p:cNvSpPr>
            <p:nvPr/>
          </p:nvSpPr>
          <p:spPr bwMode="auto">
            <a:xfrm>
              <a:off x="3058319" y="1382713"/>
              <a:ext cx="434975" cy="436563"/>
            </a:xfrm>
            <a:custGeom>
              <a:avLst/>
              <a:gdLst>
                <a:gd name="T0" fmla="*/ 239 w 261"/>
                <a:gd name="T1" fmla="*/ 239 h 261"/>
                <a:gd name="T2" fmla="*/ 171 w 261"/>
                <a:gd name="T3" fmla="*/ 90 h 261"/>
                <a:gd name="T4" fmla="*/ 22 w 261"/>
                <a:gd name="T5" fmla="*/ 22 h 261"/>
                <a:gd name="T6" fmla="*/ 91 w 261"/>
                <a:gd name="T7" fmla="*/ 170 h 261"/>
                <a:gd name="T8" fmla="*/ 239 w 261"/>
                <a:gd name="T9" fmla="*/ 239 h 261"/>
                <a:gd name="T10" fmla="*/ 40 w 261"/>
                <a:gd name="T11" fmla="*/ 39 h 261"/>
                <a:gd name="T12" fmla="*/ 164 w 261"/>
                <a:gd name="T13" fmla="*/ 97 h 261"/>
                <a:gd name="T14" fmla="*/ 221 w 261"/>
                <a:gd name="T15" fmla="*/ 221 h 261"/>
                <a:gd name="T16" fmla="*/ 97 w 261"/>
                <a:gd name="T17" fmla="*/ 164 h 261"/>
                <a:gd name="T18" fmla="*/ 40 w 261"/>
                <a:gd name="T19" fmla="*/ 39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" h="261">
                  <a:moveTo>
                    <a:pt x="239" y="239"/>
                  </a:moveTo>
                  <a:cubicBezTo>
                    <a:pt x="261" y="217"/>
                    <a:pt x="230" y="150"/>
                    <a:pt x="171" y="90"/>
                  </a:cubicBezTo>
                  <a:cubicBezTo>
                    <a:pt x="111" y="30"/>
                    <a:pt x="44" y="0"/>
                    <a:pt x="22" y="22"/>
                  </a:cubicBezTo>
                  <a:cubicBezTo>
                    <a:pt x="0" y="44"/>
                    <a:pt x="31" y="110"/>
                    <a:pt x="91" y="170"/>
                  </a:cubicBezTo>
                  <a:cubicBezTo>
                    <a:pt x="150" y="230"/>
                    <a:pt x="217" y="261"/>
                    <a:pt x="239" y="239"/>
                  </a:cubicBezTo>
                  <a:close/>
                  <a:moveTo>
                    <a:pt x="40" y="39"/>
                  </a:moveTo>
                  <a:cubicBezTo>
                    <a:pt x="58" y="21"/>
                    <a:pt x="114" y="47"/>
                    <a:pt x="164" y="97"/>
                  </a:cubicBezTo>
                  <a:cubicBezTo>
                    <a:pt x="214" y="147"/>
                    <a:pt x="240" y="203"/>
                    <a:pt x="221" y="221"/>
                  </a:cubicBezTo>
                  <a:cubicBezTo>
                    <a:pt x="203" y="240"/>
                    <a:pt x="147" y="214"/>
                    <a:pt x="97" y="164"/>
                  </a:cubicBezTo>
                  <a:cubicBezTo>
                    <a:pt x="47" y="114"/>
                    <a:pt x="21" y="5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Oval 113"/>
            <p:cNvSpPr>
              <a:spLocks noChangeArrowheads="1"/>
            </p:cNvSpPr>
            <p:nvPr/>
          </p:nvSpPr>
          <p:spPr bwMode="auto">
            <a:xfrm>
              <a:off x="3236119" y="1562100"/>
              <a:ext cx="79375" cy="7778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矩形: 圆角 2"/>
          <p:cNvSpPr/>
          <p:nvPr/>
        </p:nvSpPr>
        <p:spPr>
          <a:xfrm>
            <a:off x="403976" y="980731"/>
            <a:ext cx="1653902" cy="360040"/>
          </a:xfrm>
          <a:prstGeom prst="roundRect">
            <a:avLst/>
          </a:prstGeom>
          <a:solidFill>
            <a:srgbClr val="0070C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本文工作总结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3976" y="1418754"/>
            <a:ext cx="8344488" cy="3265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）基于辐射时间序列法明确了建筑的细节要求，给出了计算所需气象参数，利用拉普拉斯变换求解了建筑负荷传递函数，得到传递函数系数，并求出了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周期响应因子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辐射响应因子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。求解得到</a:t>
            </a:r>
            <a:r>
              <a:rPr lang="en-US" altLang="zh-CN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8760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小时冷、热、电负荷数据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，为系统容量配置与运行策略优化提供基础数据支撑。</a:t>
            </a:r>
          </a:p>
          <a:p>
            <a:pPr algn="just">
              <a:lnSpc>
                <a:spcPct val="125000"/>
              </a:lnSpc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）构建了一种太阳能耦合空气源热泵的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CCHP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系统，介绍了太阳能耦合空气源热泵子系统的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运行策略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，在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TRNSYS平台中搭建了</a:t>
            </a:r>
            <a:r>
              <a:rPr lang="en-US" altLang="zh-CN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系统仿真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，模拟了系统全年出力，得出了系统全年供热、供冷、供电量与系统各元件能耗，仿真结果可以验证所构建的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SH-CCHP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系统具有优越性。</a:t>
            </a:r>
          </a:p>
          <a:p>
            <a:pPr algn="just">
              <a:lnSpc>
                <a:spcPct val="125000"/>
              </a:lnSpc>
            </a:pP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）针对第三章的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SH-CCHP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系统，提出了一种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考虑经济、能源、环境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SH-CCHP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系统双层优化，在上层优化中，考虑了三个目标进行优化，通过改进算法与传统算法求解出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帕累托解集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，再通过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TOPSIS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与香农熵结合的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多准则决策理论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在帕累托解集中选出最优解；下层优化为混合整数线性规划，将运行成本最小作为目标函数，通过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CPLEX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求解器进行求解。最终得到各元件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最优容量与典型日调度结果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，验证了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SH-CCHP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系统相对传统系统在能源、经济、环境中更有优势。</a:t>
            </a: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038" y="19564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34105" y="234387"/>
            <a:ext cx="3549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结论与展望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4980" y="219367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51520" y="288210"/>
            <a:ext cx="406580" cy="407842"/>
            <a:chOff x="3020219" y="1344612"/>
            <a:chExt cx="511175" cy="512763"/>
          </a:xfrm>
          <a:solidFill>
            <a:schemeClr val="bg1"/>
          </a:solidFill>
        </p:grpSpPr>
        <p:sp>
          <p:nvSpPr>
            <p:cNvPr id="16" name="Freeform 109"/>
            <p:cNvSpPr>
              <a:spLocks noEditPoints="1"/>
            </p:cNvSpPr>
            <p:nvPr/>
          </p:nvSpPr>
          <p:spPr bwMode="auto">
            <a:xfrm>
              <a:off x="3182144" y="1344612"/>
              <a:ext cx="187325" cy="512763"/>
            </a:xfrm>
            <a:custGeom>
              <a:avLst/>
              <a:gdLst>
                <a:gd name="T0" fmla="*/ 57 w 113"/>
                <a:gd name="T1" fmla="*/ 0 h 307"/>
                <a:gd name="T2" fmla="*/ 0 w 113"/>
                <a:gd name="T3" fmla="*/ 153 h 307"/>
                <a:gd name="T4" fmla="*/ 57 w 113"/>
                <a:gd name="T5" fmla="*/ 307 h 307"/>
                <a:gd name="T6" fmla="*/ 113 w 113"/>
                <a:gd name="T7" fmla="*/ 153 h 307"/>
                <a:gd name="T8" fmla="*/ 57 w 113"/>
                <a:gd name="T9" fmla="*/ 0 h 307"/>
                <a:gd name="T10" fmla="*/ 57 w 113"/>
                <a:gd name="T11" fmla="*/ 282 h 307"/>
                <a:gd name="T12" fmla="*/ 9 w 113"/>
                <a:gd name="T13" fmla="*/ 153 h 307"/>
                <a:gd name="T14" fmla="*/ 57 w 113"/>
                <a:gd name="T15" fmla="*/ 25 h 307"/>
                <a:gd name="T16" fmla="*/ 104 w 113"/>
                <a:gd name="T17" fmla="*/ 153 h 307"/>
                <a:gd name="T18" fmla="*/ 57 w 113"/>
                <a:gd name="T19" fmla="*/ 282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" h="307">
                  <a:moveTo>
                    <a:pt x="57" y="0"/>
                  </a:moveTo>
                  <a:cubicBezTo>
                    <a:pt x="25" y="0"/>
                    <a:pt x="0" y="69"/>
                    <a:pt x="0" y="153"/>
                  </a:cubicBezTo>
                  <a:cubicBezTo>
                    <a:pt x="0" y="238"/>
                    <a:pt x="25" y="307"/>
                    <a:pt x="57" y="307"/>
                  </a:cubicBezTo>
                  <a:cubicBezTo>
                    <a:pt x="88" y="307"/>
                    <a:pt x="113" y="238"/>
                    <a:pt x="113" y="153"/>
                  </a:cubicBezTo>
                  <a:cubicBezTo>
                    <a:pt x="113" y="69"/>
                    <a:pt x="88" y="0"/>
                    <a:pt x="57" y="0"/>
                  </a:cubicBezTo>
                  <a:close/>
                  <a:moveTo>
                    <a:pt x="57" y="282"/>
                  </a:moveTo>
                  <a:cubicBezTo>
                    <a:pt x="30" y="282"/>
                    <a:pt x="9" y="224"/>
                    <a:pt x="9" y="153"/>
                  </a:cubicBezTo>
                  <a:cubicBezTo>
                    <a:pt x="9" y="82"/>
                    <a:pt x="30" y="25"/>
                    <a:pt x="57" y="25"/>
                  </a:cubicBezTo>
                  <a:cubicBezTo>
                    <a:pt x="83" y="25"/>
                    <a:pt x="104" y="82"/>
                    <a:pt x="104" y="153"/>
                  </a:cubicBezTo>
                  <a:cubicBezTo>
                    <a:pt x="104" y="224"/>
                    <a:pt x="83" y="282"/>
                    <a:pt x="5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0"/>
            <p:cNvSpPr>
              <a:spLocks noEditPoints="1"/>
            </p:cNvSpPr>
            <p:nvPr/>
          </p:nvSpPr>
          <p:spPr bwMode="auto">
            <a:xfrm>
              <a:off x="3020219" y="1506538"/>
              <a:ext cx="511175" cy="188913"/>
            </a:xfrm>
            <a:custGeom>
              <a:avLst/>
              <a:gdLst>
                <a:gd name="T0" fmla="*/ 307 w 307"/>
                <a:gd name="T1" fmla="*/ 56 h 113"/>
                <a:gd name="T2" fmla="*/ 154 w 307"/>
                <a:gd name="T3" fmla="*/ 0 h 113"/>
                <a:gd name="T4" fmla="*/ 0 w 307"/>
                <a:gd name="T5" fmla="*/ 56 h 113"/>
                <a:gd name="T6" fmla="*/ 154 w 307"/>
                <a:gd name="T7" fmla="*/ 113 h 113"/>
                <a:gd name="T8" fmla="*/ 307 w 307"/>
                <a:gd name="T9" fmla="*/ 56 h 113"/>
                <a:gd name="T10" fmla="*/ 25 w 307"/>
                <a:gd name="T11" fmla="*/ 56 h 113"/>
                <a:gd name="T12" fmla="*/ 154 w 307"/>
                <a:gd name="T13" fmla="*/ 9 h 113"/>
                <a:gd name="T14" fmla="*/ 282 w 307"/>
                <a:gd name="T15" fmla="*/ 56 h 113"/>
                <a:gd name="T16" fmla="*/ 154 w 307"/>
                <a:gd name="T17" fmla="*/ 104 h 113"/>
                <a:gd name="T18" fmla="*/ 25 w 307"/>
                <a:gd name="T19" fmla="*/ 5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7" h="113">
                  <a:moveTo>
                    <a:pt x="307" y="56"/>
                  </a:moveTo>
                  <a:cubicBezTo>
                    <a:pt x="307" y="25"/>
                    <a:pt x="238" y="0"/>
                    <a:pt x="154" y="0"/>
                  </a:cubicBezTo>
                  <a:cubicBezTo>
                    <a:pt x="69" y="0"/>
                    <a:pt x="0" y="25"/>
                    <a:pt x="0" y="56"/>
                  </a:cubicBezTo>
                  <a:cubicBezTo>
                    <a:pt x="0" y="88"/>
                    <a:pt x="69" y="113"/>
                    <a:pt x="154" y="113"/>
                  </a:cubicBezTo>
                  <a:cubicBezTo>
                    <a:pt x="238" y="113"/>
                    <a:pt x="307" y="88"/>
                    <a:pt x="307" y="56"/>
                  </a:cubicBezTo>
                  <a:close/>
                  <a:moveTo>
                    <a:pt x="25" y="56"/>
                  </a:moveTo>
                  <a:cubicBezTo>
                    <a:pt x="25" y="30"/>
                    <a:pt x="83" y="9"/>
                    <a:pt x="154" y="9"/>
                  </a:cubicBezTo>
                  <a:cubicBezTo>
                    <a:pt x="225" y="9"/>
                    <a:pt x="282" y="30"/>
                    <a:pt x="282" y="56"/>
                  </a:cubicBezTo>
                  <a:cubicBezTo>
                    <a:pt x="282" y="82"/>
                    <a:pt x="225" y="104"/>
                    <a:pt x="154" y="104"/>
                  </a:cubicBezTo>
                  <a:cubicBezTo>
                    <a:pt x="83" y="104"/>
                    <a:pt x="25" y="82"/>
                    <a:pt x="25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11"/>
            <p:cNvSpPr>
              <a:spLocks noEditPoints="1"/>
            </p:cNvSpPr>
            <p:nvPr/>
          </p:nvSpPr>
          <p:spPr bwMode="auto">
            <a:xfrm>
              <a:off x="3058319" y="1382713"/>
              <a:ext cx="434975" cy="436563"/>
            </a:xfrm>
            <a:custGeom>
              <a:avLst/>
              <a:gdLst>
                <a:gd name="T0" fmla="*/ 239 w 261"/>
                <a:gd name="T1" fmla="*/ 22 h 261"/>
                <a:gd name="T2" fmla="*/ 91 w 261"/>
                <a:gd name="T3" fmla="*/ 90 h 261"/>
                <a:gd name="T4" fmla="*/ 22 w 261"/>
                <a:gd name="T5" fmla="*/ 239 h 261"/>
                <a:gd name="T6" fmla="*/ 171 w 261"/>
                <a:gd name="T7" fmla="*/ 170 h 261"/>
                <a:gd name="T8" fmla="*/ 239 w 261"/>
                <a:gd name="T9" fmla="*/ 22 h 261"/>
                <a:gd name="T10" fmla="*/ 40 w 261"/>
                <a:gd name="T11" fmla="*/ 221 h 261"/>
                <a:gd name="T12" fmla="*/ 97 w 261"/>
                <a:gd name="T13" fmla="*/ 97 h 261"/>
                <a:gd name="T14" fmla="*/ 221 w 261"/>
                <a:gd name="T15" fmla="*/ 39 h 261"/>
                <a:gd name="T16" fmla="*/ 164 w 261"/>
                <a:gd name="T17" fmla="*/ 164 h 261"/>
                <a:gd name="T18" fmla="*/ 40 w 261"/>
                <a:gd name="T19" fmla="*/ 22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" h="261">
                  <a:moveTo>
                    <a:pt x="239" y="22"/>
                  </a:moveTo>
                  <a:cubicBezTo>
                    <a:pt x="217" y="0"/>
                    <a:pt x="150" y="30"/>
                    <a:pt x="91" y="90"/>
                  </a:cubicBezTo>
                  <a:cubicBezTo>
                    <a:pt x="31" y="150"/>
                    <a:pt x="0" y="217"/>
                    <a:pt x="22" y="239"/>
                  </a:cubicBezTo>
                  <a:cubicBezTo>
                    <a:pt x="44" y="261"/>
                    <a:pt x="111" y="230"/>
                    <a:pt x="171" y="170"/>
                  </a:cubicBezTo>
                  <a:cubicBezTo>
                    <a:pt x="230" y="110"/>
                    <a:pt x="261" y="44"/>
                    <a:pt x="239" y="22"/>
                  </a:cubicBezTo>
                  <a:close/>
                  <a:moveTo>
                    <a:pt x="40" y="221"/>
                  </a:moveTo>
                  <a:cubicBezTo>
                    <a:pt x="21" y="203"/>
                    <a:pt x="47" y="147"/>
                    <a:pt x="97" y="97"/>
                  </a:cubicBezTo>
                  <a:cubicBezTo>
                    <a:pt x="147" y="47"/>
                    <a:pt x="203" y="21"/>
                    <a:pt x="221" y="39"/>
                  </a:cubicBezTo>
                  <a:cubicBezTo>
                    <a:pt x="240" y="58"/>
                    <a:pt x="214" y="114"/>
                    <a:pt x="164" y="164"/>
                  </a:cubicBezTo>
                  <a:cubicBezTo>
                    <a:pt x="114" y="214"/>
                    <a:pt x="58" y="240"/>
                    <a:pt x="40" y="2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12"/>
            <p:cNvSpPr>
              <a:spLocks noEditPoints="1"/>
            </p:cNvSpPr>
            <p:nvPr/>
          </p:nvSpPr>
          <p:spPr bwMode="auto">
            <a:xfrm>
              <a:off x="3058319" y="1382713"/>
              <a:ext cx="434975" cy="436563"/>
            </a:xfrm>
            <a:custGeom>
              <a:avLst/>
              <a:gdLst>
                <a:gd name="T0" fmla="*/ 239 w 261"/>
                <a:gd name="T1" fmla="*/ 239 h 261"/>
                <a:gd name="T2" fmla="*/ 171 w 261"/>
                <a:gd name="T3" fmla="*/ 90 h 261"/>
                <a:gd name="T4" fmla="*/ 22 w 261"/>
                <a:gd name="T5" fmla="*/ 22 h 261"/>
                <a:gd name="T6" fmla="*/ 91 w 261"/>
                <a:gd name="T7" fmla="*/ 170 h 261"/>
                <a:gd name="T8" fmla="*/ 239 w 261"/>
                <a:gd name="T9" fmla="*/ 239 h 261"/>
                <a:gd name="T10" fmla="*/ 40 w 261"/>
                <a:gd name="T11" fmla="*/ 39 h 261"/>
                <a:gd name="T12" fmla="*/ 164 w 261"/>
                <a:gd name="T13" fmla="*/ 97 h 261"/>
                <a:gd name="T14" fmla="*/ 221 w 261"/>
                <a:gd name="T15" fmla="*/ 221 h 261"/>
                <a:gd name="T16" fmla="*/ 97 w 261"/>
                <a:gd name="T17" fmla="*/ 164 h 261"/>
                <a:gd name="T18" fmla="*/ 40 w 261"/>
                <a:gd name="T19" fmla="*/ 39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" h="261">
                  <a:moveTo>
                    <a:pt x="239" y="239"/>
                  </a:moveTo>
                  <a:cubicBezTo>
                    <a:pt x="261" y="217"/>
                    <a:pt x="230" y="150"/>
                    <a:pt x="171" y="90"/>
                  </a:cubicBezTo>
                  <a:cubicBezTo>
                    <a:pt x="111" y="30"/>
                    <a:pt x="44" y="0"/>
                    <a:pt x="22" y="22"/>
                  </a:cubicBezTo>
                  <a:cubicBezTo>
                    <a:pt x="0" y="44"/>
                    <a:pt x="31" y="110"/>
                    <a:pt x="91" y="170"/>
                  </a:cubicBezTo>
                  <a:cubicBezTo>
                    <a:pt x="150" y="230"/>
                    <a:pt x="217" y="261"/>
                    <a:pt x="239" y="239"/>
                  </a:cubicBezTo>
                  <a:close/>
                  <a:moveTo>
                    <a:pt x="40" y="39"/>
                  </a:moveTo>
                  <a:cubicBezTo>
                    <a:pt x="58" y="21"/>
                    <a:pt x="114" y="47"/>
                    <a:pt x="164" y="97"/>
                  </a:cubicBezTo>
                  <a:cubicBezTo>
                    <a:pt x="214" y="147"/>
                    <a:pt x="240" y="203"/>
                    <a:pt x="221" y="221"/>
                  </a:cubicBezTo>
                  <a:cubicBezTo>
                    <a:pt x="203" y="240"/>
                    <a:pt x="147" y="214"/>
                    <a:pt x="97" y="164"/>
                  </a:cubicBezTo>
                  <a:cubicBezTo>
                    <a:pt x="47" y="114"/>
                    <a:pt x="21" y="58"/>
                    <a:pt x="40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Oval 113"/>
            <p:cNvSpPr>
              <a:spLocks noChangeArrowheads="1"/>
            </p:cNvSpPr>
            <p:nvPr/>
          </p:nvSpPr>
          <p:spPr bwMode="auto">
            <a:xfrm>
              <a:off x="3236119" y="1562100"/>
              <a:ext cx="79375" cy="7778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矩形: 圆角 3"/>
          <p:cNvSpPr/>
          <p:nvPr/>
        </p:nvSpPr>
        <p:spPr>
          <a:xfrm>
            <a:off x="423243" y="986780"/>
            <a:ext cx="1641039" cy="360040"/>
          </a:xfrm>
          <a:prstGeom prst="roundRect">
            <a:avLst/>
          </a:prstGeom>
          <a:solidFill>
            <a:srgbClr val="0070C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后续工作展望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23243" y="1531170"/>
            <a:ext cx="8288457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辐射响应因子计算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的研究还要进行深入，本课题通过计算建筑负荷时并未考虑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地板与土壤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的影响；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分区与阴影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部分的研究可以继续深入；仅选取沈阳地区进行研究，后续可以拓展到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不同地区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不同建筑进行研究。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3545" y="2498725"/>
            <a:ext cx="8288655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(2) 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本课题在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TRNSYS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平台搭建的系统模型，其中部分主要元件是通过</a:t>
            </a: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C++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编译后进行导入，为使整个系统动态响应更加灵敏和准确，后续可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继续编译更多元件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进行导入；由于客观条件，模型并未以实物的形式呈现，故没有实例计算与模拟计算相比来验证计算结果的准确性，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后续可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增加实物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继续实验。</a:t>
            </a:r>
          </a:p>
          <a:p>
            <a:pPr algn="just">
              <a:lnSpc>
                <a:spcPct val="125000"/>
              </a:lnSpc>
            </a:pP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3545" y="3783965"/>
            <a:ext cx="8288655" cy="79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(3) 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大规模电动汽车的普及对节能减排有着重大影响，本课题在储能削峰填谷中只考虑了热储能，并未考虑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电储能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，接下来的研究可以将</a:t>
            </a:r>
            <a:r>
              <a:rPr lang="zh-CN" altLang="en-US" sz="15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电动汽车或者蓄电池</a:t>
            </a:r>
            <a:r>
              <a:rPr lang="zh-CN" altLang="en-US" sz="15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参与系统调度。</a:t>
            </a: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lang="zh-CN" altLang="en-US" sz="15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2"/>
            </p:custDataLst>
          </p:nvPr>
        </p:nvSpPr>
        <p:spPr>
          <a:xfrm>
            <a:off x="251520" y="848238"/>
            <a:ext cx="8640960" cy="4170990"/>
          </a:xfrm>
          <a:prstGeom prst="roundRect">
            <a:avLst>
              <a:gd name="adj" fmla="val 8028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7038" y="88846"/>
            <a:ext cx="3026962" cy="60720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80942" y="237083"/>
            <a:ext cx="3603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攻读硕士期间所做的工作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接点 13"/>
          <p:cNvSpPr/>
          <p:nvPr/>
        </p:nvSpPr>
        <p:spPr>
          <a:xfrm>
            <a:off x="198880" y="234387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12"/>
          <p:cNvSpPr>
            <a:spLocks noEditPoints="1"/>
          </p:cNvSpPr>
          <p:nvPr/>
        </p:nvSpPr>
        <p:spPr bwMode="auto">
          <a:xfrm>
            <a:off x="344064" y="327407"/>
            <a:ext cx="214210" cy="307834"/>
          </a:xfrm>
          <a:custGeom>
            <a:avLst/>
            <a:gdLst>
              <a:gd name="T0" fmla="*/ 3 w 121"/>
              <a:gd name="T1" fmla="*/ 119 h 174"/>
              <a:gd name="T2" fmla="*/ 23 w 121"/>
              <a:gd name="T3" fmla="*/ 115 h 174"/>
              <a:gd name="T4" fmla="*/ 38 w 121"/>
              <a:gd name="T5" fmla="*/ 74 h 174"/>
              <a:gd name="T6" fmla="*/ 38 w 121"/>
              <a:gd name="T7" fmla="*/ 74 h 174"/>
              <a:gd name="T8" fmla="*/ 38 w 121"/>
              <a:gd name="T9" fmla="*/ 29 h 174"/>
              <a:gd name="T10" fmla="*/ 54 w 121"/>
              <a:gd name="T11" fmla="*/ 21 h 174"/>
              <a:gd name="T12" fmla="*/ 60 w 121"/>
              <a:gd name="T13" fmla="*/ 0 h 174"/>
              <a:gd name="T14" fmla="*/ 67 w 121"/>
              <a:gd name="T15" fmla="*/ 21 h 174"/>
              <a:gd name="T16" fmla="*/ 92 w 121"/>
              <a:gd name="T17" fmla="*/ 51 h 174"/>
              <a:gd name="T18" fmla="*/ 82 w 121"/>
              <a:gd name="T19" fmla="*/ 74 h 174"/>
              <a:gd name="T20" fmla="*/ 98 w 121"/>
              <a:gd name="T21" fmla="*/ 115 h 174"/>
              <a:gd name="T22" fmla="*/ 117 w 121"/>
              <a:gd name="T23" fmla="*/ 119 h 174"/>
              <a:gd name="T24" fmla="*/ 102 w 121"/>
              <a:gd name="T25" fmla="*/ 124 h 174"/>
              <a:gd name="T26" fmla="*/ 116 w 121"/>
              <a:gd name="T27" fmla="*/ 159 h 174"/>
              <a:gd name="T28" fmla="*/ 120 w 121"/>
              <a:gd name="T29" fmla="*/ 168 h 174"/>
              <a:gd name="T30" fmla="*/ 113 w 121"/>
              <a:gd name="T31" fmla="*/ 171 h 174"/>
              <a:gd name="T32" fmla="*/ 108 w 121"/>
              <a:gd name="T33" fmla="*/ 162 h 174"/>
              <a:gd name="T34" fmla="*/ 87 w 121"/>
              <a:gd name="T35" fmla="*/ 124 h 174"/>
              <a:gd name="T36" fmla="*/ 67 w 121"/>
              <a:gd name="T37" fmla="*/ 129 h 174"/>
              <a:gd name="T38" fmla="*/ 54 w 121"/>
              <a:gd name="T39" fmla="*/ 129 h 174"/>
              <a:gd name="T40" fmla="*/ 34 w 121"/>
              <a:gd name="T41" fmla="*/ 124 h 174"/>
              <a:gd name="T42" fmla="*/ 13 w 121"/>
              <a:gd name="T43" fmla="*/ 162 h 174"/>
              <a:gd name="T44" fmla="*/ 8 w 121"/>
              <a:gd name="T45" fmla="*/ 171 h 174"/>
              <a:gd name="T46" fmla="*/ 1 w 121"/>
              <a:gd name="T47" fmla="*/ 168 h 174"/>
              <a:gd name="T48" fmla="*/ 5 w 121"/>
              <a:gd name="T49" fmla="*/ 159 h 174"/>
              <a:gd name="T50" fmla="*/ 19 w 121"/>
              <a:gd name="T51" fmla="*/ 124 h 174"/>
              <a:gd name="T52" fmla="*/ 54 w 121"/>
              <a:gd name="T53" fmla="*/ 115 h 174"/>
              <a:gd name="T54" fmla="*/ 54 w 121"/>
              <a:gd name="T55" fmla="*/ 110 h 174"/>
              <a:gd name="T56" fmla="*/ 67 w 121"/>
              <a:gd name="T57" fmla="*/ 110 h 174"/>
              <a:gd name="T58" fmla="*/ 83 w 121"/>
              <a:gd name="T59" fmla="*/ 115 h 174"/>
              <a:gd name="T60" fmla="*/ 54 w 121"/>
              <a:gd name="T61" fmla="*/ 82 h 174"/>
              <a:gd name="T62" fmla="*/ 54 w 121"/>
              <a:gd name="T63" fmla="*/ 115 h 174"/>
              <a:gd name="T64" fmla="*/ 73 w 121"/>
              <a:gd name="T65" fmla="*/ 39 h 174"/>
              <a:gd name="T66" fmla="*/ 48 w 121"/>
              <a:gd name="T67" fmla="*/ 39 h 174"/>
              <a:gd name="T68" fmla="*/ 48 w 121"/>
              <a:gd name="T69" fmla="*/ 64 h 174"/>
              <a:gd name="T70" fmla="*/ 68 w 121"/>
              <a:gd name="T71" fmla="*/ 68 h 174"/>
              <a:gd name="T72" fmla="*/ 73 w 121"/>
              <a:gd name="T73" fmla="*/ 64 h 174"/>
              <a:gd name="T74" fmla="*/ 73 w 121"/>
              <a:gd name="T75" fmla="*/ 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1" h="174">
                <a:moveTo>
                  <a:pt x="8" y="124"/>
                </a:moveTo>
                <a:cubicBezTo>
                  <a:pt x="5" y="124"/>
                  <a:pt x="3" y="122"/>
                  <a:pt x="3" y="119"/>
                </a:cubicBezTo>
                <a:cubicBezTo>
                  <a:pt x="3" y="117"/>
                  <a:pt x="5" y="115"/>
                  <a:pt x="8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42" y="77"/>
                  <a:pt x="42" y="77"/>
                  <a:pt x="42" y="77"/>
                </a:cubicBezTo>
                <a:cubicBezTo>
                  <a:pt x="41" y="76"/>
                  <a:pt x="40" y="75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3" y="68"/>
                  <a:pt x="29" y="60"/>
                  <a:pt x="29" y="51"/>
                </a:cubicBezTo>
                <a:cubicBezTo>
                  <a:pt x="29" y="43"/>
                  <a:pt x="33" y="35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3" y="25"/>
                  <a:pt x="48" y="22"/>
                  <a:pt x="54" y="2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3"/>
                  <a:pt x="57" y="0"/>
                  <a:pt x="60" y="0"/>
                </a:cubicBezTo>
                <a:cubicBezTo>
                  <a:pt x="64" y="0"/>
                  <a:pt x="67" y="3"/>
                  <a:pt x="67" y="7"/>
                </a:cubicBezTo>
                <a:cubicBezTo>
                  <a:pt x="67" y="21"/>
                  <a:pt x="67" y="21"/>
                  <a:pt x="67" y="21"/>
                </a:cubicBezTo>
                <a:cubicBezTo>
                  <a:pt x="73" y="22"/>
                  <a:pt x="78" y="25"/>
                  <a:pt x="82" y="29"/>
                </a:cubicBezTo>
                <a:cubicBezTo>
                  <a:pt x="88" y="35"/>
                  <a:pt x="92" y="43"/>
                  <a:pt x="92" y="51"/>
                </a:cubicBezTo>
                <a:cubicBezTo>
                  <a:pt x="92" y="60"/>
                  <a:pt x="88" y="68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5"/>
                  <a:pt x="80" y="76"/>
                  <a:pt x="79" y="77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13" y="115"/>
                  <a:pt x="113" y="115"/>
                  <a:pt x="113" y="115"/>
                </a:cubicBezTo>
                <a:cubicBezTo>
                  <a:pt x="116" y="115"/>
                  <a:pt x="117" y="117"/>
                  <a:pt x="117" y="119"/>
                </a:cubicBezTo>
                <a:cubicBezTo>
                  <a:pt x="117" y="122"/>
                  <a:pt x="116" y="124"/>
                  <a:pt x="113" y="124"/>
                </a:cubicBezTo>
                <a:cubicBezTo>
                  <a:pt x="102" y="124"/>
                  <a:pt x="102" y="124"/>
                  <a:pt x="102" y="124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17" y="155"/>
                  <a:pt x="117" y="157"/>
                  <a:pt x="116" y="159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21" y="170"/>
                  <a:pt x="120" y="172"/>
                  <a:pt x="118" y="173"/>
                </a:cubicBezTo>
                <a:cubicBezTo>
                  <a:pt x="116" y="174"/>
                  <a:pt x="114" y="173"/>
                  <a:pt x="113" y="171"/>
                </a:cubicBezTo>
                <a:cubicBezTo>
                  <a:pt x="110" y="165"/>
                  <a:pt x="110" y="165"/>
                  <a:pt x="110" y="165"/>
                </a:cubicBezTo>
                <a:cubicBezTo>
                  <a:pt x="108" y="162"/>
                  <a:pt x="108" y="162"/>
                  <a:pt x="108" y="162"/>
                </a:cubicBezTo>
                <a:cubicBezTo>
                  <a:pt x="106" y="162"/>
                  <a:pt x="104" y="160"/>
                  <a:pt x="103" y="158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67" y="124"/>
                  <a:pt x="67" y="124"/>
                  <a:pt x="67" y="124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67" y="132"/>
                  <a:pt x="64" y="136"/>
                  <a:pt x="60" y="136"/>
                </a:cubicBezTo>
                <a:cubicBezTo>
                  <a:pt x="57" y="136"/>
                  <a:pt x="54" y="132"/>
                  <a:pt x="54" y="12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17" y="158"/>
                  <a:pt x="17" y="158"/>
                  <a:pt x="17" y="158"/>
                </a:cubicBezTo>
                <a:cubicBezTo>
                  <a:pt x="16" y="160"/>
                  <a:pt x="15" y="162"/>
                  <a:pt x="13" y="162"/>
                </a:cubicBezTo>
                <a:cubicBezTo>
                  <a:pt x="11" y="165"/>
                  <a:pt x="11" y="165"/>
                  <a:pt x="11" y="165"/>
                </a:cubicBezTo>
                <a:cubicBezTo>
                  <a:pt x="8" y="171"/>
                  <a:pt x="8" y="171"/>
                  <a:pt x="8" y="171"/>
                </a:cubicBezTo>
                <a:cubicBezTo>
                  <a:pt x="7" y="173"/>
                  <a:pt x="5" y="174"/>
                  <a:pt x="3" y="173"/>
                </a:cubicBezTo>
                <a:cubicBezTo>
                  <a:pt x="1" y="172"/>
                  <a:pt x="0" y="170"/>
                  <a:pt x="1" y="168"/>
                </a:cubicBezTo>
                <a:cubicBezTo>
                  <a:pt x="4" y="162"/>
                  <a:pt x="4" y="162"/>
                  <a:pt x="4" y="162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7"/>
                  <a:pt x="4" y="155"/>
                  <a:pt x="5" y="153"/>
                </a:cubicBezTo>
                <a:cubicBezTo>
                  <a:pt x="19" y="124"/>
                  <a:pt x="19" y="124"/>
                  <a:pt x="19" y="124"/>
                </a:cubicBezTo>
                <a:cubicBezTo>
                  <a:pt x="8" y="124"/>
                  <a:pt x="8" y="124"/>
                  <a:pt x="8" y="124"/>
                </a:cubicBezTo>
                <a:close/>
                <a:moveTo>
                  <a:pt x="54" y="115"/>
                </a:moveTo>
                <a:cubicBezTo>
                  <a:pt x="54" y="115"/>
                  <a:pt x="54" y="115"/>
                  <a:pt x="54" y="115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07"/>
                  <a:pt x="57" y="103"/>
                  <a:pt x="60" y="103"/>
                </a:cubicBezTo>
                <a:cubicBezTo>
                  <a:pt x="64" y="103"/>
                  <a:pt x="67" y="107"/>
                  <a:pt x="67" y="110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67" y="82"/>
                  <a:pt x="67" y="82"/>
                  <a:pt x="67" y="82"/>
                </a:cubicBezTo>
                <a:cubicBezTo>
                  <a:pt x="63" y="83"/>
                  <a:pt x="58" y="83"/>
                  <a:pt x="54" y="82"/>
                </a:cubicBezTo>
                <a:cubicBezTo>
                  <a:pt x="38" y="115"/>
                  <a:pt x="38" y="115"/>
                  <a:pt x="38" y="115"/>
                </a:cubicBezTo>
                <a:cubicBezTo>
                  <a:pt x="54" y="115"/>
                  <a:pt x="54" y="115"/>
                  <a:pt x="54" y="115"/>
                </a:cubicBezTo>
                <a:close/>
                <a:moveTo>
                  <a:pt x="73" y="39"/>
                </a:moveTo>
                <a:cubicBezTo>
                  <a:pt x="73" y="39"/>
                  <a:pt x="73" y="39"/>
                  <a:pt x="73" y="39"/>
                </a:cubicBezTo>
                <a:cubicBezTo>
                  <a:pt x="66" y="32"/>
                  <a:pt x="55" y="32"/>
                  <a:pt x="48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5" y="42"/>
                  <a:pt x="43" y="47"/>
                  <a:pt x="43" y="51"/>
                </a:cubicBezTo>
                <a:cubicBezTo>
                  <a:pt x="43" y="56"/>
                  <a:pt x="45" y="61"/>
                  <a:pt x="48" y="64"/>
                </a:cubicBezTo>
                <a:cubicBezTo>
                  <a:pt x="53" y="69"/>
                  <a:pt x="61" y="71"/>
                  <a:pt x="67" y="68"/>
                </a:cubicBezTo>
                <a:cubicBezTo>
                  <a:pt x="68" y="68"/>
                  <a:pt x="68" y="68"/>
                  <a:pt x="68" y="68"/>
                </a:cubicBezTo>
                <a:cubicBezTo>
                  <a:pt x="69" y="67"/>
                  <a:pt x="71" y="66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1"/>
                  <a:pt x="78" y="56"/>
                  <a:pt x="78" y="51"/>
                </a:cubicBezTo>
                <a:cubicBezTo>
                  <a:pt x="78" y="47"/>
                  <a:pt x="76" y="42"/>
                  <a:pt x="73" y="39"/>
                </a:cubicBezTo>
                <a:cubicBezTo>
                  <a:pt x="73" y="39"/>
                  <a:pt x="73" y="39"/>
                  <a:pt x="73" y="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矩形: 圆角 15"/>
          <p:cNvSpPr/>
          <p:nvPr>
            <p:custDataLst>
              <p:tags r:id="rId3"/>
            </p:custDataLst>
          </p:nvPr>
        </p:nvSpPr>
        <p:spPr>
          <a:xfrm>
            <a:off x="467544" y="1202923"/>
            <a:ext cx="1152128" cy="360040"/>
          </a:xfrm>
          <a:prstGeom prst="roundRect">
            <a:avLst/>
          </a:prstGeom>
          <a:solidFill>
            <a:srgbClr val="0070C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项目工作</a:t>
            </a: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1821180" y="1274445"/>
            <a:ext cx="6713220" cy="1427480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1867535" y="1271270"/>
            <a:ext cx="6628130" cy="1242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14000"/>
              </a:lnSpc>
              <a:buClrTx/>
              <a:buSz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参与国家重点研发计划，编号：2024YFF0506400，“高比例可再生能源分布式能源系统设计理论和调控方法”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参与国网公司项目“面向极端天气城市配电网弹性提升的可移动应急资源协同优化配置”。</a:t>
            </a:r>
          </a:p>
        </p:txBody>
      </p:sp>
      <p:sp>
        <p:nvSpPr>
          <p:cNvPr id="3" name="矩形: 圆角 2"/>
          <p:cNvSpPr/>
          <p:nvPr>
            <p:custDataLst>
              <p:tags r:id="rId6"/>
            </p:custDataLst>
          </p:nvPr>
        </p:nvSpPr>
        <p:spPr>
          <a:xfrm>
            <a:off x="468179" y="3219028"/>
            <a:ext cx="1152128" cy="360040"/>
          </a:xfrm>
          <a:prstGeom prst="roundRect">
            <a:avLst/>
          </a:prstGeom>
          <a:solidFill>
            <a:srgbClr val="0070C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荣誉奖励</a:t>
            </a: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1763395" y="3074670"/>
            <a:ext cx="6713220" cy="1475105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1867535" y="3074670"/>
            <a:ext cx="6628130" cy="1216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14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1.2022-2023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学年：获东北大学研究生校二等奖学金；</a:t>
            </a:r>
          </a:p>
          <a:p>
            <a:pPr algn="just">
              <a:lnSpc>
                <a:spcPct val="114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2.2023-2024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学年：获东北大学研究生校二等奖学金；</a:t>
            </a:r>
          </a:p>
          <a:p>
            <a:pPr algn="just">
              <a:lnSpc>
                <a:spcPct val="114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3.2024-2025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学年：获东北大学研究生校二等奖学金；</a:t>
            </a:r>
          </a:p>
          <a:p>
            <a:pPr algn="just">
              <a:lnSpc>
                <a:spcPct val="114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4.2023-2024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学年：获得东北大学优秀研究生干部。</a:t>
            </a:r>
          </a:p>
        </p:txBody>
      </p:sp>
    </p:spTree>
    <p:custDataLst>
      <p:tags r:id="rId1"/>
    </p:custData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78470" y="1598847"/>
            <a:ext cx="7187060" cy="237589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33"/>
          <p:cNvSpPr txBox="1"/>
          <p:nvPr/>
        </p:nvSpPr>
        <p:spPr>
          <a:xfrm>
            <a:off x="989541" y="1910317"/>
            <a:ext cx="7331075" cy="14826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</a:t>
            </a:r>
            <a:endParaRPr lang="en-US" altLang="zh-CN" sz="3200" b="1" dirty="0">
              <a:ln w="6350">
                <a:noFill/>
              </a:ln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b="1" dirty="0">
                <a:ln w="6350"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敬请批评指正</a:t>
            </a:r>
          </a:p>
        </p:txBody>
      </p:sp>
      <p:pic>
        <p:nvPicPr>
          <p:cNvPr id="9" name="Picture 2" descr="C:\Users\YY\Desktop\1e104821e5dde711554d5b53a7efce1b9c16617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167172"/>
            <a:ext cx="2448272" cy="90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9"/>
          <p:cNvCxnSpPr/>
          <p:nvPr/>
        </p:nvCxnSpPr>
        <p:spPr>
          <a:xfrm>
            <a:off x="1954779" y="3435052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131840" y="3519224"/>
            <a:ext cx="3293329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答辩人：闫捷     指导老师：刘鑫蕊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313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25,&quot;left&quot;:33.5,&quot;top&quot;:54.975,&quot;width&quot;:437.0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1*45"/>
  <p:tag name="TABLE_ENDDRAG_RECT" val="421*202*271*4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1*82"/>
  <p:tag name="TABLE_ENDDRAG_RECT" val="36*287*431*8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97*70"/>
  <p:tag name="TABLE_ENDDRAG_RECT" val="290*291*397*7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5792125984252,&quot;left&quot;:6.644566929133862,&quot;top&quot;:77.72078740157478,&quot;width&quot;:750.50543307086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5792125984252,&quot;left&quot;:6.644566929133862,&quot;top&quot;:77.72078740157478,&quot;width&quot;:750.50543307086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5792125984252,&quot;left&quot;:6.644566929133862,&quot;top&quot;:77.72078740157478,&quot;width&quot;:750.50543307086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62*97"/>
  <p:tag name="TABLE_ENDDRAG_RECT" val="328*277*362*9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08708661417324,&quot;left&quot;:6.644566929133862,&quot;top&quot;:70.21291338582677,&quot;width&quot;:750.505433070866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1*293"/>
  <p:tag name="TABLE_ENDDRAG_RECT" val="25*91*461*29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244094488189,&quot;left&quot;:12,&quot;top&quot;:66.7903937007874,&quot;width&quot;:693.8651968503937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244094488189,&quot;left&quot;:12,&quot;top&quot;:66.7903937007874,&quot;width&quot;:693.8651968503937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787401574803,&quot;left&quot;:24.96992125984252,&quot;top&quot;:73.08047244094487,&quot;width&quot;:437.4644094488188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787401574803,&quot;left&quot;:24.96992125984252,&quot;top&quot;:73.08047244094487,&quot;width&quot;:437.4644094488188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29*59"/>
  <p:tag name="TABLE_ENDDRAG_RECT" val="53*314*229*59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7*46"/>
  <p:tag name="TABLE_ENDDRAG_RECT" val="31*104*257*4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787401574803,&quot;left&quot;:24.96992125984252,&quot;top&quot;:73.08047244094487,&quot;width&quot;:437.4644094488188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5*90"/>
  <p:tag name="TABLE_ENDDRAG_RECT" val="33*173*245*9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4.3963779527559,&quot;left&quot;:19.804803149606297,&quot;top&quot;:76.27015748031496,&quot;width&quot;:395.6951968503937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19866141732285,&quot;left&quot;:24,&quot;top&quot;:70.93055118110236,&quot;width&quot;:579.917874015748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0*54"/>
  <p:tag name="TABLE_ENDDRAG_RECT" val="356*238*340*5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244094488189,&quot;left&quot;:19.804724409448816,&quot;top&quot;:66.7903937007874,&quot;width&quot;:680.3905511811023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244094488189,&quot;left&quot;:19.804724409448816,&quot;top&quot;:66.7903937007874,&quot;width&quot;:680.3905511811023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244094488189,&quot;left&quot;:19.804724409448816,&quot;top&quot;:66.7903937007874,&quot;width&quot;:680.3905511811023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244094488189,&quot;left&quot;:19.804724409448816,&quot;top&quot;:66.7903937007874,&quot;width&quot;:680.3905511811023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244094488189,&quot;left&quot;:19.804724409448816,&quot;top&quot;:66.7903937007874,&quot;width&quot;:680.3905511811023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244094488189,&quot;left&quot;:19.804724409448816,&quot;top&quot;:66.7903937007874,&quot;width&quot;:680.3905511811023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244094488189,&quot;left&quot;:19.804724409448816,&quot;top&quot;:66.7903937007874,&quot;width&quot;:680.3905511811023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</TotalTime>
  <Words>3923</Words>
  <Application>Microsoft Office PowerPoint</Application>
  <PresentationFormat>自定义</PresentationFormat>
  <Paragraphs>510</Paragraphs>
  <Slides>34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8" baseType="lpstr">
      <vt:lpstr>等线</vt:lpstr>
      <vt:lpstr>等线 Light</vt:lpstr>
      <vt:lpstr>宋体</vt:lpstr>
      <vt:lpstr>微软雅黑</vt:lpstr>
      <vt:lpstr>微软雅黑 Light</vt:lpstr>
      <vt:lpstr>Arial</vt:lpstr>
      <vt:lpstr>Calibri</vt:lpstr>
      <vt:lpstr>Impact</vt:lpstr>
      <vt:lpstr>Times New Roman</vt:lpstr>
      <vt:lpstr>Wingdings</vt:lpstr>
      <vt:lpstr>第一PPT，www.1ppt.com</vt:lpstr>
      <vt:lpstr>1_Office 主题​​</vt:lpstr>
      <vt:lpstr>Microsoft Visio Drawing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蓝色渐变</dc:title>
  <dc:creator>第一PPT</dc:creator>
  <cp:keywords>www.1ppt.com</cp:keywords>
  <dc:description>www.1ppt.com</dc:description>
  <cp:lastModifiedBy>Jay Yan</cp:lastModifiedBy>
  <cp:revision>614</cp:revision>
  <dcterms:created xsi:type="dcterms:W3CDTF">2016-02-27T06:12:00Z</dcterms:created>
  <dcterms:modified xsi:type="dcterms:W3CDTF">2025-05-13T23:10:34Z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9F4D510D048044309A7472914BFA664F_12</vt:lpwstr>
  </property>
</Properties>
</file>